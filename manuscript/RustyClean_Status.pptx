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 snapToObjects="1">
      <p:cViewPr varScale="1">
        <p:scale>
          <a:sx n="110" d="100"/>
          <a:sy n="110" d="100"/>
        </p:scale>
        <p:origin x="560" y="176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74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Status update: what the code does now, and every benchmark run to date with its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stages. The survey and routing (2-3) are what makes it adaptive; the gate (5) is what no other tool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Shaded modules carry the design: pipeline (backends + routing), worker (concurrency), checkpoint (crash safety). pipeline.rs tripled in size since the first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rule reproduces every observed backend choice exactly. Note it is two-dimensional — host fraction alone is not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candid about the gaps — the memory-aware worker cap is the one that actually bites, because the Kraken2 index is 15.5 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Seven experiments. Note what is missing: PE, the 10-30% routing band, and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plainly that Hostile leads on accuracy here. The recheck experiment is what changes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gloss over the Hostile inconsistency — 60M taking 71 min while 100M takes 22 min is not physically sensible. Flag it, do not quote the 4.9x until it is 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Strongest single result in the deck. But it is on a branch —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memory column is the real finding: sylph at 3.5 GB against Kraken2 at 15.5 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that complicates the story. Hostile wins on speed AND F1 at 100M, contradicting Experiment 3. Do not hide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answers the gap: default method vs Hostile on the same data. Mixed result — we win on host carry-over and high-host F1, they win on microbial loss and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 summary. The KneadData story is solid; the Hostile story is unresolved and that is the blocker for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ask: item 1 is the one that decides whether the paper's speed claim survives.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199" y="960119"/>
            <a:ext cx="4937760" cy="4937760"/>
          </a:xfrm>
          <a:prstGeom prst="ellipse">
            <a:avLst/>
          </a:prstGeom>
          <a:solidFill>
            <a:srgbClr val="3A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01000" y="1645920"/>
            <a:ext cx="3566160" cy="3566160"/>
          </a:xfrm>
          <a:prstGeom prst="ellipse">
            <a:avLst/>
          </a:prstGeom>
          <a:solidFill>
            <a:srgbClr val="4A3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2331720"/>
            <a:ext cx="2194560" cy="2194560"/>
          </a:xfrm>
          <a:prstGeom prst="ellipse">
            <a:avLst/>
          </a:prstGeom>
          <a:solidFill>
            <a:srgbClr val="8F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281159" y="2926080"/>
            <a:ext cx="1005840" cy="10058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67665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mbria"/>
              </a:rPr>
              <a:t>RustyClean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07792"/>
            <a:ext cx="65836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A7BEAE"/>
                </a:solidFill>
                <a:latin typeface="Calibri"/>
              </a:rPr>
              <a:t>Architecture and benchmark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438144"/>
            <a:ext cx="6583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E0A99E"/>
                </a:solidFill>
                <a:latin typeface="Calibri"/>
              </a:rPr>
              <a:t>Adaptive host depletion for short-read metagenomics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133087"/>
            <a:ext cx="1280160" cy="41148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4407408"/>
            <a:ext cx="6583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Code at commit 13eeb99  ·  7 benchmark experiments  ·  5 depletion backends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828032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A736C"/>
                </a:solidFill>
                <a:latin typeface="Calibri"/>
              </a:rPr>
              <a:t>ZHANG Yufeng  ·  Huang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CODE · WHAT RUNS PER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2A27"/>
                </a:solidFill>
                <a:latin typeface="Cambria"/>
              </a:rPr>
              <a:t>Pipeline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27889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  Quality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21608" y="1472184"/>
            <a:ext cx="512064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fastp — adapters, trimming, length/quality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2248" y="1472184"/>
            <a:ext cx="2553919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1">
                <a:solidFill>
                  <a:srgbClr val="E0A99E"/>
                </a:solidFill>
                <a:latin typeface="Calibri"/>
              </a:rPr>
              <a:t>(skippable with --skip-qc)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76272"/>
            <a:ext cx="11057839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3A2F"/>
                </a:solidFill>
                <a:latin typeface="Calibri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59152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27889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  Host-fraction survey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2441448"/>
            <a:ext cx="512064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seqtk subsample 100k → bowtie2 --very-fast-local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2441448"/>
            <a:ext cx="2553919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1">
                <a:solidFill>
                  <a:srgbClr val="E0A99E"/>
                </a:solidFill>
                <a:latin typeface="Calibri"/>
              </a:rPr>
              <a:t>estimates host % in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45536"/>
            <a:ext cx="11057839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3A2F"/>
                </a:solidFill>
                <a:latin typeface="Calibr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28416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419856"/>
            <a:ext cx="27889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2A27"/>
                </a:solidFill>
                <a:latin typeface="Calibri"/>
              </a:rPr>
              <a:t>3  Backend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3410712"/>
            <a:ext cx="512064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2A27"/>
                </a:solidFill>
                <a:latin typeface="Courier New"/>
              </a:rPr>
              <a:t>choose_auto_backend(host%, read count)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3410712"/>
            <a:ext cx="2553919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1">
                <a:solidFill>
                  <a:srgbClr val="2E2A27"/>
                </a:solidFill>
                <a:latin typeface="Calibri"/>
              </a:rPr>
              <a:t>picks bowtie2 or kraken2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14800"/>
            <a:ext cx="11057839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3A2F"/>
                </a:solidFill>
                <a:latin typeface="Calibr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97680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27889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  Host depletion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4379976"/>
            <a:ext cx="512064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kraken2 | bowtie2 | minimap2 | sylph | centrifuge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4379976"/>
            <a:ext cx="2553919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1">
                <a:solidFill>
                  <a:srgbClr val="E0A99E"/>
                </a:solidFill>
                <a:latin typeface="Calibri"/>
              </a:rPr>
              <a:t>5 interchangeable backends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084064"/>
            <a:ext cx="11057839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3A2F"/>
                </a:solidFill>
                <a:latin typeface="Calibri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66944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40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27889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  Validation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8" y="5349240"/>
            <a:ext cx="512064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output size + residual contamination assertions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2248" y="5349240"/>
            <a:ext cx="2553919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1">
                <a:solidFill>
                  <a:srgbClr val="C9C1BA"/>
                </a:solidFill>
                <a:latin typeface="Calibri"/>
              </a:rPr>
              <a:t>output promoted only if it passes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272784"/>
            <a:ext cx="11057839" cy="0"/>
          </a:xfrm>
          <a:prstGeom prst="rect">
            <a:avLst/>
          </a:prstGeom>
          <a:solidFill>
            <a:srgbClr val="DED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6144768"/>
            <a:ext cx="11057839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7A736C"/>
                </a:solidFill>
                <a:latin typeface="Calibri"/>
              </a:rPr>
              <a:t>Stages 1 and 2 are optional; stages 3–5 always run. Every stage transition is recorded in a per-sample checkpoint.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CODE · 2,521 LINES OF RUST, 9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2A27"/>
                </a:solidFill>
                <a:latin typeface="Cambria"/>
              </a:rPr>
              <a:t>Code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26464"/>
            <a:ext cx="2599867" cy="1737360"/>
          </a:xfrm>
          <a:prstGeom prst="roundRect">
            <a:avLst>
              <a:gd name="adj" fmla="val 7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609344"/>
            <a:ext cx="223410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F3A2F"/>
                </a:solidFill>
                <a:latin typeface="Courier New"/>
              </a:rPr>
              <a:t>pipeline.rs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20240"/>
            <a:ext cx="2234107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36C"/>
                </a:solidFill>
                <a:latin typeface="Calibri"/>
              </a:rPr>
              <a:t>1402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12848"/>
            <a:ext cx="2234107" cy="8412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Stage machine, all 5 backends,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survey, routing,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6251" y="1426464"/>
            <a:ext cx="2599867" cy="173736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E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9131" y="1609344"/>
            <a:ext cx="223410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2A27"/>
                </a:solidFill>
                <a:latin typeface="Courier New"/>
              </a:rPr>
              <a:t>main.rs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9131" y="1920240"/>
            <a:ext cx="2234107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36C"/>
                </a:solidFill>
                <a:latin typeface="Calibri"/>
              </a:rPr>
              <a:t>314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131" y="2212848"/>
            <a:ext cx="2234107" cy="8412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Config wiring, pre-flight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checks, run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5575" y="1426464"/>
            <a:ext cx="2599867" cy="1737360"/>
          </a:xfrm>
          <a:prstGeom prst="roundRect">
            <a:avLst>
              <a:gd name="adj" fmla="val 7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8455" y="1609344"/>
            <a:ext cx="223410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F3A2F"/>
                </a:solidFill>
                <a:latin typeface="Courier New"/>
              </a:rPr>
              <a:t>worker.rs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8455" y="1920240"/>
            <a:ext cx="2234107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36C"/>
                </a:solidFill>
                <a:latin typeface="Calibri"/>
              </a:rPr>
              <a:t>215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8455" y="2212848"/>
            <a:ext cx="2234107" cy="8412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Async worker pool, retry,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cancellation, progress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4899" y="1426464"/>
            <a:ext cx="2599867" cy="173736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E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07779" y="1609344"/>
            <a:ext cx="223410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2A27"/>
                </a:solidFill>
                <a:latin typeface="Courier New"/>
              </a:rPr>
              <a:t>config.rs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7779" y="1920240"/>
            <a:ext cx="2234107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36C"/>
                </a:solidFill>
                <a:latin typeface="Calibri"/>
              </a:rPr>
              <a:t>180 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7779" y="2212848"/>
            <a:ext cx="2234107" cy="8412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TOML config, defaults,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CLI overrides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83279"/>
            <a:ext cx="2599867" cy="173736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E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3566160"/>
            <a:ext cx="223410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2A27"/>
                </a:solidFill>
                <a:latin typeface="Courier New"/>
              </a:rPr>
              <a:t>sample.rs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877056"/>
            <a:ext cx="2234107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36C"/>
                </a:solidFill>
                <a:latin typeface="Calibri"/>
              </a:rPr>
              <a:t>133 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69663"/>
            <a:ext cx="2234107" cy="8412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Manifest parsing, SE/PE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detection, input fingerprint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6251" y="3383279"/>
            <a:ext cx="2599867" cy="173736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E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69131" y="3566160"/>
            <a:ext cx="223410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2A27"/>
                </a:solidFill>
                <a:latin typeface="Courier New"/>
              </a:rPr>
              <a:t>cli.rs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9131" y="3877056"/>
            <a:ext cx="2234107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36C"/>
                </a:solidFill>
                <a:latin typeface="Calibri"/>
              </a:rPr>
              <a:t>131 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9131" y="4169663"/>
            <a:ext cx="2234107" cy="8412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24 flags incl. auto-mode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thresholds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5575" y="3383279"/>
            <a:ext cx="2599867" cy="1737360"/>
          </a:xfrm>
          <a:prstGeom prst="roundRect">
            <a:avLst>
              <a:gd name="adj" fmla="val 7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8455" y="3566160"/>
            <a:ext cx="223410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F3A2F"/>
                </a:solidFill>
                <a:latin typeface="Courier New"/>
              </a:rPr>
              <a:t>checkpoint.rs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8455" y="3877056"/>
            <a:ext cx="2234107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36C"/>
                </a:solidFill>
                <a:latin typeface="Calibri"/>
              </a:rPr>
              <a:t>113 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8455" y="4169663"/>
            <a:ext cx="2234107" cy="8412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Atomic versioned JSON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checkpoint store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24899" y="3383279"/>
            <a:ext cx="2599867" cy="173736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E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07779" y="3566160"/>
            <a:ext cx="2234107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2A27"/>
                </a:solidFill>
                <a:latin typeface="Courier New"/>
              </a:rPr>
              <a:t>error.rs / lib.rs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7779" y="3877056"/>
            <a:ext cx="2234107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36C"/>
                </a:solidFill>
                <a:latin typeface="Calibri"/>
              </a:rPr>
              <a:t>33 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7779" y="4169663"/>
            <a:ext cx="2234107" cy="8412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Typed error taxonomy,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crate root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358384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5431536"/>
            <a:ext cx="2764459" cy="4206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E0A99E"/>
                </a:solidFill>
                <a:latin typeface="Cambria"/>
              </a:rPr>
              <a:t>2,521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870448"/>
            <a:ext cx="2764459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A7BEAE"/>
                </a:solidFill>
                <a:latin typeface="Calibri"/>
              </a:rPr>
              <a:t>lines of Rust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1387" y="5431536"/>
            <a:ext cx="2764459" cy="4206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E0A99E"/>
                </a:solidFill>
                <a:latin typeface="Cambria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1387" y="5870448"/>
            <a:ext cx="2764459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A7BEAE"/>
                </a:solidFill>
                <a:latin typeface="Calibri"/>
              </a:rPr>
              <a:t>modules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847" y="5431536"/>
            <a:ext cx="2764459" cy="4206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E0A99E"/>
                </a:solidFill>
                <a:latin typeface="Cambria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5847" y="5870448"/>
            <a:ext cx="2764459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A7BEAE"/>
                </a:solidFill>
                <a:latin typeface="Calibri"/>
              </a:rPr>
              <a:t>depletion backends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0307" y="5431536"/>
            <a:ext cx="2764459" cy="4206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E0A99E"/>
                </a:solidFill>
                <a:latin typeface="Cambria"/>
              </a:rPr>
              <a:t>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0307" y="5870448"/>
            <a:ext cx="2764459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A7BEAE"/>
                </a:solidFill>
                <a:latin typeface="Calibri"/>
              </a:rPr>
              <a:t>CLI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CODE · PIPELINE.RS :: CHOOSE_AUTO_BACKEND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2A27"/>
                </a:solidFill>
                <a:latin typeface="Cambria"/>
              </a:rPr>
              <a:t>Adaptive backend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6400800" cy="2103120"/>
          </a:xfrm>
          <a:prstGeom prst="roundRect">
            <a:avLst>
              <a:gd name="adj" fmla="val 5000"/>
            </a:avLst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517904"/>
            <a:ext cx="5943600" cy="18470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A7BEAE"/>
                </a:solidFill>
                <a:latin typeface="Courier New"/>
              </a:rPr>
              <a:t>if host_pct &lt; low_threshold {          // default 10 %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A7BEAE"/>
                </a:solidFill>
                <a:latin typeface="Courier New"/>
              </a:rPr>
              <a:t>    "bowtie2"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A7BEAE"/>
                </a:solidFill>
                <a:latin typeface="Courier New"/>
              </a:rPr>
              <a:t>} else if host_pct &gt; high_threshold    // default 30 %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A7BEAE"/>
                </a:solidFill>
                <a:latin typeface="Courier New"/>
              </a:rPr>
              <a:t>       &amp;&amp; input_reads &gt; reads_threshold  // default 20 M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A7BEAE"/>
                </a:solidFill>
                <a:latin typeface="Courier New"/>
              </a:rPr>
              <a:t>{   "kraken2"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A7BEAE"/>
                </a:solidFill>
                <a:latin typeface="Courier New"/>
              </a:rPr>
              <a:t>} else {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A7BEAE"/>
                </a:solidFill>
                <a:latin typeface="Courier New"/>
              </a:rPr>
              <a:t>    "bowtie2"      // conservative default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A7BEAE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389888"/>
            <a:ext cx="4401007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8F3A2F"/>
                </a:solidFill>
                <a:latin typeface="Cambria"/>
              </a:rPr>
              <a:t>A two-dimensional rule</a:t>
            </a:r>
          </a:p>
        </p:txBody>
      </p:sp>
      <p:sp>
        <p:nvSpPr>
          <p:cNvPr id="7" name="Oval 6"/>
          <p:cNvSpPr/>
          <p:nvPr/>
        </p:nvSpPr>
        <p:spPr>
          <a:xfrm>
            <a:off x="7242048" y="1792224"/>
            <a:ext cx="182880" cy="18288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34656" y="1737360"/>
            <a:ext cx="4035247" cy="6949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10" b="0" i="0">
                <a:solidFill>
                  <a:srgbClr val="2E2A27"/>
                </a:solidFill>
                <a:latin typeface="Calibri"/>
              </a:rPr>
              <a:t>Classification only pays off when the host fraction is high AND the library is large enough to amortise loading the database.</a:t>
            </a:r>
          </a:p>
        </p:txBody>
      </p:sp>
      <p:sp>
        <p:nvSpPr>
          <p:cNvPr id="9" name="Oval 8"/>
          <p:cNvSpPr/>
          <p:nvPr/>
        </p:nvSpPr>
        <p:spPr>
          <a:xfrm>
            <a:off x="7242048" y="2487168"/>
            <a:ext cx="182880" cy="18288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34656" y="2432304"/>
            <a:ext cx="4035247" cy="6949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10" b="0" i="0">
                <a:solidFill>
                  <a:srgbClr val="2E2A27"/>
                </a:solidFill>
                <a:latin typeface="Calibri"/>
              </a:rPr>
              <a:t>Anything that does not clearly meet both criteria falls back to alignment, whose error direction is the safer default.</a:t>
            </a:r>
          </a:p>
        </p:txBody>
      </p:sp>
      <p:sp>
        <p:nvSpPr>
          <p:cNvPr id="11" name="Oval 10"/>
          <p:cNvSpPr/>
          <p:nvPr/>
        </p:nvSpPr>
        <p:spPr>
          <a:xfrm>
            <a:off x="7242048" y="3182112"/>
            <a:ext cx="182880" cy="18288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34656" y="3127248"/>
            <a:ext cx="4035247" cy="6949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10" b="0" i="0">
                <a:solidFill>
                  <a:srgbClr val="2E2A27"/>
                </a:solidFill>
                <a:latin typeface="Calibri"/>
              </a:rPr>
              <a:t>The estimate only has to land on the correct side of a threshold — not be accurate.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94176"/>
            <a:ext cx="11057839" cy="969264"/>
          </a:xfrm>
          <a:prstGeom prst="roundRect">
            <a:avLst>
              <a:gd name="adj" fmla="val 6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803904"/>
            <a:ext cx="14630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3A2F"/>
                </a:solidFill>
                <a:latin typeface="Calibri"/>
              </a:rPr>
              <a:t>Survey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3785615"/>
            <a:ext cx="90918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0">
                <a:solidFill>
                  <a:srgbClr val="7A736C"/>
                </a:solidFill>
                <a:latin typeface="Calibri"/>
              </a:rPr>
              <a:t>seqtk sample (fixed seed 42) draws 100,000 reads; bowtie2 --very-fast-local aligns them with 2 threads. Seconds, against runs of tens of minutes. --host-pct bypasses the survey.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809744"/>
            <a:ext cx="11057839" cy="1188720"/>
          </a:xfrm>
          <a:prstGeom prst="roundRect">
            <a:avLst>
              <a:gd name="adj" fmla="val 6000"/>
            </a:avLst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4919472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0A99E"/>
                </a:solidFill>
                <a:latin typeface="Calibri"/>
              </a:rPr>
              <a:t>Observed routing — correct on all four datasets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266944"/>
            <a:ext cx="244441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7BEAE"/>
                </a:solidFill>
                <a:latin typeface="Calibri"/>
              </a:rPr>
              <a:t>5M / 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5522976"/>
            <a:ext cx="244441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est 0.93%  →  bowtie2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8547" y="5266944"/>
            <a:ext cx="244441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7BEAE"/>
                </a:solidFill>
                <a:latin typeface="Calibri"/>
              </a:rPr>
              <a:t>10M / 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8547" y="5522976"/>
            <a:ext cx="244441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est 10.13%  →  bowtie2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5847" y="5266944"/>
            <a:ext cx="244441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7BEAE"/>
                </a:solidFill>
                <a:latin typeface="Calibri"/>
              </a:rPr>
              <a:t>30M / 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7" y="5522976"/>
            <a:ext cx="244441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est 48.95%  →  kraken2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23147" y="5266944"/>
            <a:ext cx="244441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7BEAE"/>
                </a:solidFill>
                <a:latin typeface="Calibri"/>
              </a:rPr>
              <a:t>60M / 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3147" y="5522976"/>
            <a:ext cx="244441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est 89.43%  →  kraken2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CODE · WORKER.RS, CHECKPOINT.RS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2A27"/>
                </a:solidFill>
                <a:latin typeface="Cambria"/>
              </a:rPr>
              <a:t>Reliability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08176"/>
            <a:ext cx="3490874" cy="2340864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E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664208"/>
            <a:ext cx="438912" cy="438912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67712"/>
            <a:ext cx="297881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2A27"/>
                </a:solidFill>
                <a:latin typeface="Calibri"/>
              </a:rPr>
              <a:t>Checkpoint / resume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96896"/>
            <a:ext cx="297881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90" b="0" i="0">
                <a:solidFill>
                  <a:srgbClr val="7A736C"/>
                </a:solidFill>
                <a:latin typeface="Calibri"/>
              </a:rPr>
              <a:t>Versioned JSON per sample, written atomically (temp file + rename). An xxHash3 fingerprint over input metadata invalidates stale state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0410" y="1408176"/>
            <a:ext cx="3490874" cy="2340864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E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4606442" y="1664208"/>
            <a:ext cx="438912" cy="438912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6442" y="2267712"/>
            <a:ext cx="297881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2A27"/>
                </a:solidFill>
                <a:latin typeface="Calibri"/>
              </a:rPr>
              <a:t>Bounded concurrency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442" y="2596896"/>
            <a:ext cx="297881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90" b="0" i="0">
                <a:solidFill>
                  <a:srgbClr val="7A736C"/>
                </a:solidFill>
                <a:latin typeface="Calibri"/>
              </a:rPr>
              <a:t>A semaphore admits W samples at once; each passes T threads to its tools. Total load ≈ W × T. Ctrl-C sets a cancellation token so queued samples never start.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3892" y="1408176"/>
            <a:ext cx="3490874" cy="2340864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E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8389924" y="1664208"/>
            <a:ext cx="438912" cy="438912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9924" y="2267712"/>
            <a:ext cx="297881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2A27"/>
                </a:solidFill>
                <a:latin typeface="Calibri"/>
              </a:rPr>
              <a:t>Validation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9924" y="2596896"/>
            <a:ext cx="297881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90" b="0" i="0">
                <a:solidFill>
                  <a:srgbClr val="7A736C"/>
                </a:solidFill>
                <a:latin typeface="Calibri"/>
              </a:rPr>
              <a:t>Output size and residual-contamination assertions run before promotion. A sample that fails is marked Failed and its output is never moved into the results directory.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40480"/>
            <a:ext cx="11057839" cy="1261872"/>
          </a:xfrm>
          <a:prstGeom prst="roundRect">
            <a:avLst>
              <a:gd name="adj" fmla="val 7000"/>
            </a:avLst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3968496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0A99E"/>
                </a:solidFill>
                <a:latin typeface="Calibri"/>
              </a:rPr>
              <a:t>Known gaps in this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279392"/>
            <a:ext cx="10472623" cy="7498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Checkpoints are written at attempt boundaries, not at every stage transition, so a hard process kill resumes further back than necessary. The per-sample timeout is configured but not enforced. Worker count is derived from CPU count, not available memory — with the 15.5 GB Kraken2 index, concurrent demand scales as W × 15.5 GB.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230368"/>
            <a:ext cx="11057839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0" i="1">
                <a:solidFill>
                  <a:srgbClr val="7A736C"/>
                </a:solidFill>
                <a:latin typeface="Calibri"/>
              </a:rPr>
              <a:t>The stage enum still names only the Kraken2 path (Kraken2Running / Kraken2Complete) even though five backends share it — cosmetic, but confusing when reading checkpoints.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EVALUATION · EVERYTHING RUN TO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2A27"/>
                </a:solidFill>
                <a:latin typeface="Cambria"/>
              </a:rPr>
              <a:t>Benchmark inventory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11057839" cy="384048"/>
          </a:xfrm>
          <a:prstGeom prst="roundRect">
            <a:avLst>
              <a:gd name="adj" fmla="val 4000"/>
            </a:avLst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426464"/>
            <a:ext cx="29260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26464"/>
            <a:ext cx="3611879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59" y="1426464"/>
            <a:ext cx="3154679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Compared against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1426464"/>
            <a:ext cx="2011679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426464"/>
            <a:ext cx="152704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73936"/>
            <a:ext cx="11057839" cy="365760"/>
          </a:xfrm>
          <a:prstGeom prst="rect">
            <a:avLst/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1792224"/>
            <a:ext cx="292607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92224"/>
            <a:ext cx="36118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Error profile &amp;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1792224"/>
            <a:ext cx="31546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Hostile, KneadData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1792224"/>
            <a:ext cx="20116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4 SE (1–90 % host)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1792224"/>
            <a:ext cx="15270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157984"/>
            <a:ext cx="292607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157984"/>
            <a:ext cx="36118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Auto routing + full-pipeline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2157984"/>
            <a:ext cx="31546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KneadData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157984"/>
            <a:ext cx="20116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4 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157984"/>
            <a:ext cx="15270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05456"/>
            <a:ext cx="11057839" cy="365760"/>
          </a:xfrm>
          <a:prstGeom prst="rect">
            <a:avLst/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2523744"/>
            <a:ext cx="292607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523744"/>
            <a:ext cx="36118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Fair depletion-only 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2523744"/>
            <a:ext cx="31546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Hostile (--skip-qc both sides)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523744"/>
            <a:ext cx="20116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4 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523744"/>
            <a:ext cx="15270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2889503"/>
            <a:ext cx="292607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2889503"/>
            <a:ext cx="36118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Bowtie2 recheck ablation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59" y="2889503"/>
            <a:ext cx="31546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itself (Kraken2 only)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2889503"/>
            <a:ext cx="20116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4 SE (50–90 %)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889503"/>
            <a:ext cx="15270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236975"/>
            <a:ext cx="11057839" cy="365760"/>
          </a:xfrm>
          <a:prstGeom prst="rect">
            <a:avLst/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" y="3255263"/>
            <a:ext cx="292607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3255263"/>
            <a:ext cx="36118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Backend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59" y="3255263"/>
            <a:ext cx="31546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bowtie2 / minimap2 / centrifuge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3255263"/>
            <a:ext cx="20116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4 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255263"/>
            <a:ext cx="15270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621023"/>
            <a:ext cx="292607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3621023"/>
            <a:ext cx="36118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100M matched panel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59" y="3621023"/>
            <a:ext cx="31546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Hostile, KneadData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3621023"/>
            <a:ext cx="20116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2 SE (100M)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621023"/>
            <a:ext cx="15270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3 / 1 /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968496"/>
            <a:ext cx="11057839" cy="365760"/>
          </a:xfrm>
          <a:prstGeom prst="rect">
            <a:avLst/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" y="3986783"/>
            <a:ext cx="292607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3986783"/>
            <a:ext cx="36118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100M depletion-only matched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59" y="3986783"/>
            <a:ext cx="31546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Hostile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3986783"/>
            <a:ext cx="20116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2 SE (100M)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3986783"/>
            <a:ext cx="15270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3 / 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4224528"/>
            <a:ext cx="11057839" cy="877824"/>
          </a:xfrm>
          <a:prstGeom prst="roundRect">
            <a:avLst>
              <a:gd name="adj" fmla="val 6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1247" y="4334256"/>
            <a:ext cx="40233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3A2F"/>
                </a:solidFill>
                <a:latin typeface="Calibri"/>
              </a:rPr>
              <a:t>All simulated, with per-read ground truth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7" y="4608576"/>
            <a:ext cx="10509199" cy="4937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0">
                <a:solidFill>
                  <a:srgbClr val="7A736C"/>
                </a:solidFill>
                <a:latin typeface="Calibri"/>
              </a:rPr>
              <a:t>Host removal is scored exactly as a binary classification of reads. Depletion is deterministic, so accuracy is identical across replicates — replication applies to timing only.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5266944"/>
            <a:ext cx="11057839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8F3A2F"/>
                </a:solidFill>
                <a:latin typeface="Calibri"/>
              </a:rPr>
              <a:t>Not yet run: paired-end libraries, host fractions between 10 % and 30 % (where routing actually decides), and any real cohort.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RESULTS · ACCURACY, 4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2A27"/>
                </a:solidFill>
                <a:latin typeface="Cambria"/>
              </a:rPr>
              <a:t>Experiment 1 — the two error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10972800" cy="402336"/>
          </a:xfrm>
          <a:prstGeom prst="roundRect">
            <a:avLst>
              <a:gd name="adj" fmla="val 4000"/>
            </a:avLst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426464"/>
            <a:ext cx="347472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7951" y="1426464"/>
            <a:ext cx="192024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1" y="1426464"/>
            <a:ext cx="26517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Microbial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2832" y="1426464"/>
            <a:ext cx="256032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Host carry-over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92224"/>
            <a:ext cx="10972800" cy="420624"/>
          </a:xfrm>
          <a:prstGeom prst="rect">
            <a:avLst/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1810512"/>
            <a:ext cx="347472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2A27"/>
                </a:solidFill>
                <a:latin typeface="Calibri"/>
              </a:rPr>
              <a:t>RustyClean (auto, no recheck)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7951" y="1810512"/>
            <a:ext cx="192024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2A27"/>
                </a:solidFill>
                <a:latin typeface="Calibri"/>
              </a:rPr>
              <a:t>0.9790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1810512"/>
            <a:ext cx="26517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2A27"/>
                </a:solidFill>
                <a:latin typeface="Calibri"/>
              </a:rPr>
              <a:t>0.202 %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2832" y="1810512"/>
            <a:ext cx="256032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2A27"/>
                </a:solidFill>
                <a:latin typeface="Calibri"/>
              </a:rPr>
              <a:t>0.902 %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231136"/>
            <a:ext cx="347472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2A27"/>
                </a:solidFill>
                <a:latin typeface="Calibri"/>
              </a:rPr>
              <a:t>Hostile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1" y="2231136"/>
            <a:ext cx="192024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2A27"/>
                </a:solidFill>
                <a:latin typeface="Calibri"/>
              </a:rPr>
              <a:t>0.9899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2231136"/>
            <a:ext cx="26517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2A27"/>
                </a:solidFill>
                <a:latin typeface="Calibri"/>
              </a:rPr>
              <a:t>0.029 %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2231136"/>
            <a:ext cx="256032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2A27"/>
                </a:solidFill>
                <a:latin typeface="Calibri"/>
              </a:rPr>
              <a:t>0.678 %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633472"/>
            <a:ext cx="10972800" cy="420624"/>
          </a:xfrm>
          <a:prstGeom prst="rect">
            <a:avLst/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2651760"/>
            <a:ext cx="347472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2A27"/>
                </a:solidFill>
                <a:latin typeface="Calibri"/>
              </a:rPr>
              <a:t>KneadData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7951" y="2651760"/>
            <a:ext cx="192024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2A27"/>
                </a:solidFill>
                <a:latin typeface="Calibri"/>
              </a:rPr>
              <a:t>0.9831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1" y="2651760"/>
            <a:ext cx="26517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2A27"/>
                </a:solidFill>
                <a:latin typeface="Calibri"/>
              </a:rPr>
              <a:t>2.582 %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651760"/>
            <a:ext cx="256032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2A27"/>
                </a:solidFill>
                <a:latin typeface="Calibri"/>
              </a:rPr>
              <a:t>0.256 %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054096"/>
            <a:ext cx="5364327" cy="1463040"/>
          </a:xfrm>
          <a:prstGeom prst="roundRect">
            <a:avLst>
              <a:gd name="adj" fmla="val 7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182112"/>
            <a:ext cx="4852263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F3A2F"/>
                </a:solidFill>
                <a:latin typeface="Calibri"/>
              </a:rPr>
              <a:t>KneadData discards microbes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511296"/>
            <a:ext cx="4852263" cy="85953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7A736C"/>
                </a:solidFill>
                <a:latin typeface="Calibri"/>
              </a:rPr>
              <a:t>2.58 % of genuine microbial reads, 13× more than RustyClean. Alignment's false positives are an irreversible loss of signal.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0439" y="3054096"/>
            <a:ext cx="5364327" cy="1463040"/>
          </a:xfrm>
          <a:prstGeom prst="roundRect">
            <a:avLst>
              <a:gd name="adj" fmla="val 7000"/>
            </a:avLst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6471" y="3182112"/>
            <a:ext cx="4852263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A99E"/>
                </a:solidFill>
                <a:latin typeface="Calibri"/>
              </a:rPr>
              <a:t>RustyClean retains host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6471" y="3511296"/>
            <a:ext cx="4852263" cy="85953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0.90 % of host reads survive without the verification pass — the characteristic false-negative bias of k-mer classification. Experiment 4 addresses this.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700016"/>
            <a:ext cx="11057839" cy="5303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8F3A2F"/>
                </a:solidFill>
                <a:latin typeface="Calibri"/>
              </a:rPr>
              <a:t>Hostile is the strongest accuracy baseline: lowest microbial loss and highest mean F1 of the three. On accuracy alone, without verification, RustyClean does not lead.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266944"/>
            <a:ext cx="11057839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7A736C"/>
                </a:solidFill>
                <a:latin typeface="Calibri"/>
              </a:rPr>
              <a:t>Confirms the pattern reported by Gao et al. (2025): alignment → false positives, k-mer → false negatives.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RESULTS · SPEED AGAINST BOTH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2A27"/>
                </a:solidFill>
                <a:latin typeface="Cambria"/>
              </a:rPr>
              <a:t>Experiments 2 &amp; 3 — runtime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11057839" cy="384048"/>
          </a:xfrm>
          <a:prstGeom prst="roundRect">
            <a:avLst>
              <a:gd name="adj" fmla="val 4000"/>
            </a:avLst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426464"/>
            <a:ext cx="150876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1992" y="1426464"/>
            <a:ext cx="109728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0712" y="1426464"/>
            <a:ext cx="1417319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RustyClean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9472" y="1426464"/>
            <a:ext cx="132588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KneadData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426464"/>
            <a:ext cx="86868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vs KD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6912" y="1426464"/>
            <a:ext cx="160020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RC --skip-qc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8552" y="1426464"/>
            <a:ext cx="1234439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Hostile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4432" y="1426464"/>
            <a:ext cx="128016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vs Hostile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773936"/>
            <a:ext cx="11057839" cy="365760"/>
          </a:xfrm>
          <a:prstGeom prst="rect">
            <a:avLst/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1792224"/>
            <a:ext cx="15087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5M / 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2" y="1792224"/>
            <a:ext cx="10972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bowtie2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1792224"/>
            <a:ext cx="141731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2.8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1792224"/>
            <a:ext cx="13258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7.0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1792224"/>
            <a:ext cx="8686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2.5×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1792224"/>
            <a:ext cx="16002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1.8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1792224"/>
            <a:ext cx="123443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1.8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4432" y="1792224"/>
            <a:ext cx="12801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1.0×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2157984"/>
            <a:ext cx="15087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10M / 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1992" y="2157984"/>
            <a:ext cx="10972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bowtie2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2157984"/>
            <a:ext cx="141731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3.1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2157984"/>
            <a:ext cx="13258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11.6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2157984"/>
            <a:ext cx="8686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3.7×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2157984"/>
            <a:ext cx="16002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1.9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552" y="2157984"/>
            <a:ext cx="123443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3.5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2157984"/>
            <a:ext cx="12801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1.8×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2505456"/>
            <a:ext cx="11057839" cy="365760"/>
          </a:xfrm>
          <a:prstGeom prst="rect">
            <a:avLst/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2523744"/>
            <a:ext cx="15087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30M / 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21992" y="2523744"/>
            <a:ext cx="10972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kraken2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0712" y="2523744"/>
            <a:ext cx="141731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13.6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9472" y="2523744"/>
            <a:ext cx="13258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38.6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2523744"/>
            <a:ext cx="8686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2.8×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2523744"/>
            <a:ext cx="16002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9.2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2523744"/>
            <a:ext cx="123443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39.8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14432" y="2523744"/>
            <a:ext cx="12801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4.3×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2889503"/>
            <a:ext cx="15087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60M / 90%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21992" y="2889503"/>
            <a:ext cx="10972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kraken2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10712" y="2889503"/>
            <a:ext cx="141731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24.5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9472" y="2889503"/>
            <a:ext cx="13258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113.7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2889503"/>
            <a:ext cx="8686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4.6×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96912" y="2889503"/>
            <a:ext cx="16002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14.3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88552" y="2889503"/>
            <a:ext cx="123443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70.7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14432" y="2889503"/>
            <a:ext cx="12801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4.9×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3662690"/>
            <a:ext cx="5364327" cy="1316736"/>
          </a:xfrm>
          <a:prstGeom prst="roundRect">
            <a:avLst>
              <a:gd name="adj" fmla="val 7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3772418"/>
            <a:ext cx="4852263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8F3A2F"/>
                </a:solidFill>
                <a:latin typeface="Calibri"/>
              </a:rPr>
              <a:t>vs KneadData — full pipeline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083314"/>
            <a:ext cx="4852263" cy="7863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0">
                <a:solidFill>
                  <a:srgbClr val="7A736C"/>
                </a:solidFill>
                <a:latin typeface="Calibri"/>
              </a:rPr>
              <a:t>2.5–4.6× faster on every dataset, widest at the highest host fraction. RustyClean does no repeat masking, so part of this is work not done.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0439" y="3662690"/>
            <a:ext cx="5364327" cy="1316736"/>
          </a:xfrm>
          <a:prstGeom prst="roundRect">
            <a:avLst>
              <a:gd name="adj" fmla="val 7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16471" y="3772418"/>
            <a:ext cx="4852263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8F3A2F"/>
                </a:solidFill>
                <a:latin typeface="Calibri"/>
              </a:rPr>
              <a:t>vs Hostile — depletion only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6471" y="4083314"/>
            <a:ext cx="4852263" cy="7863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0">
                <a:solidFill>
                  <a:srgbClr val="7A736C"/>
                </a:solidFill>
                <a:latin typeface="Calibri"/>
              </a:rPr>
              <a:t>Comparable at low host (1.04× and 1.8×), 4.3× and 4.9× faster at 50 % and 90 % host. QC skipped on both sides so only depletion is timed.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5162306"/>
            <a:ext cx="11057839" cy="1005840"/>
          </a:xfrm>
          <a:prstGeom prst="roundRect">
            <a:avLst>
              <a:gd name="adj" fmla="val 6000"/>
            </a:avLst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7" y="5272034"/>
            <a:ext cx="6949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A99E"/>
                </a:solidFill>
                <a:latin typeface="Calibri"/>
              </a:rPr>
              <a:t>Caveat — these two Hostile numbers do not reconcile with Experiment 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7" y="5564642"/>
            <a:ext cx="10509199" cy="5303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0">
                <a:solidFill>
                  <a:srgbClr val="FFFFFF"/>
                </a:solidFill>
                <a:latin typeface="Calibri"/>
              </a:rPr>
              <a:t>Hostile takes 71 min on the 60M dataset here but only 22 min on the larger 100M dataset in Experiment 6. A bigger library cannot be faster — one of the two runs used different settings or a different node, and must be repeated before either speed-up is quoted.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RESULTS · THE ABLATION THAT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2A27"/>
                </a:solidFill>
                <a:latin typeface="Cambria"/>
              </a:rPr>
              <a:t>Experiment 4 — Bowtie2 verification pass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11064240" cy="384048"/>
          </a:xfrm>
          <a:prstGeom prst="roundRect">
            <a:avLst>
              <a:gd name="adj" fmla="val 4000"/>
            </a:avLst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426464"/>
            <a:ext cx="228600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9232" y="1426464"/>
            <a:ext cx="274320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Host carry-over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33872" y="1426464"/>
            <a:ext cx="237744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Microbial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2752" y="1426464"/>
            <a:ext cx="173736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31552" y="1426464"/>
            <a:ext cx="1463039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Runtime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73936"/>
            <a:ext cx="11064240" cy="365760"/>
          </a:xfrm>
          <a:prstGeom prst="rect">
            <a:avLst/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1792224"/>
            <a:ext cx="22860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30M / 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1792224"/>
            <a:ext cx="27432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1.411 → 0.0717 %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1792224"/>
            <a:ext cx="237744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0.130 → 0.408 %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792224"/>
            <a:ext cx="17373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0.9890 → 0.9974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1552" y="1792224"/>
            <a:ext cx="146303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+5.7 %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157984"/>
            <a:ext cx="22860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60M / 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157984"/>
            <a:ext cx="27432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1.407 → 0.0715 %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2157984"/>
            <a:ext cx="237744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0.110 → 0.396 %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157984"/>
            <a:ext cx="17373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0.9299 → 0.9942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1552" y="2157984"/>
            <a:ext cx="146303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+20.3 %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05456"/>
            <a:ext cx="11064240" cy="365760"/>
          </a:xfrm>
          <a:prstGeom prst="rect">
            <a:avLst/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2523744"/>
            <a:ext cx="22860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100M / 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2523744"/>
            <a:ext cx="27432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1.408 → 0.0716 %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2" y="2523744"/>
            <a:ext cx="237744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0.109 → 0.398 %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523744"/>
            <a:ext cx="17373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0.9912 → 0.9976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31552" y="2523744"/>
            <a:ext cx="146303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-0.4 %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2889503"/>
            <a:ext cx="22860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100M / 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9232" y="2889503"/>
            <a:ext cx="27432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1.408 → 0.0712 %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3872" y="2889503"/>
            <a:ext cx="237744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0.110 → 0.395 %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2889503"/>
            <a:ext cx="17373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0.9299 → 0.9943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1552" y="2889503"/>
            <a:ext cx="146303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+1.3 %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054096"/>
            <a:ext cx="3478682" cy="1298448"/>
          </a:xfrm>
          <a:prstGeom prst="roundRect">
            <a:avLst>
              <a:gd name="adj" fmla="val 7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3182112"/>
            <a:ext cx="3478682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B85042"/>
                </a:solidFill>
                <a:latin typeface="Cambria"/>
              </a:rPr>
              <a:t>19.7×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785615"/>
            <a:ext cx="3478682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7A736C"/>
                </a:solidFill>
                <a:latin typeface="Calibri"/>
              </a:rPr>
              <a:t>less residual host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56506" y="3054096"/>
            <a:ext cx="3478682" cy="1298448"/>
          </a:xfrm>
          <a:prstGeom prst="roundRect">
            <a:avLst>
              <a:gd name="adj" fmla="val 7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56506" y="3182112"/>
            <a:ext cx="3478682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6E7B85"/>
                </a:solidFill>
                <a:latin typeface="Cambria"/>
              </a:rPr>
              <a:t>+6.7%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6506" y="3785615"/>
            <a:ext cx="3478682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7A736C"/>
                </a:solidFill>
                <a:latin typeface="Calibri"/>
              </a:rPr>
              <a:t>mean runtime cost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46084" y="3054096"/>
            <a:ext cx="3478682" cy="1298448"/>
          </a:xfrm>
          <a:prstGeom prst="roundRect">
            <a:avLst>
              <a:gd name="adj" fmla="val 7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46084" y="3182112"/>
            <a:ext cx="3478682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8F3A2F"/>
                </a:solidFill>
                <a:latin typeface="Cambria"/>
              </a:rPr>
              <a:t>6.5×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6084" y="3785615"/>
            <a:ext cx="3478682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7A736C"/>
                </a:solidFill>
                <a:latin typeface="Calibri"/>
              </a:rPr>
              <a:t>less microbial loss</a:t>
            </a: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7A736C"/>
                </a:solidFill>
                <a:latin typeface="Calibri"/>
              </a:rPr>
              <a:t>than KneadData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517136"/>
            <a:ext cx="11057839" cy="4937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2E2A27"/>
                </a:solidFill>
                <a:latin typeface="Calibri"/>
              </a:rPr>
              <a:t>Remarkably consistent: host carry-over falls from 1.41 % to 0.07 % on all four datasets, and F1 at 90 % host rises from 0.930 to 0.994.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010912"/>
            <a:ext cx="11057839" cy="932688"/>
          </a:xfrm>
          <a:prstGeom prst="roundRect">
            <a:avLst>
              <a:gd name="adj" fmla="val 6000"/>
            </a:avLst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7" y="5120640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A99E"/>
                </a:solidFill>
                <a:latin typeface="Calibri"/>
              </a:rPr>
              <a:t>Not merged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12848" y="5102352"/>
            <a:ext cx="9137599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The --bowtie2-recheck flag lives on the bowtie2-recheck branch, not on main. Anyone installing RustyClean today does not get the configuration these results describe.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RESULTS · INTERCHANGEABLE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2A27"/>
                </a:solidFill>
                <a:latin typeface="Cambria"/>
              </a:rPr>
              <a:t>Experiment 5 — depletion backends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11155680" cy="384048"/>
          </a:xfrm>
          <a:prstGeom prst="roundRect">
            <a:avLst>
              <a:gd name="adj" fmla="val 4000"/>
            </a:avLst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426464"/>
            <a:ext cx="219456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7792" y="1426464"/>
            <a:ext cx="182880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Mean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8032" y="1426464"/>
            <a:ext cx="256032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Host carry-over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792" y="1426464"/>
            <a:ext cx="237744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Microbial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1426464"/>
            <a:ext cx="173736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Peak memory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73936"/>
            <a:ext cx="11155680" cy="365760"/>
          </a:xfrm>
          <a:prstGeom prst="rect">
            <a:avLst/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1792224"/>
            <a:ext cx="21945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2A27"/>
                </a:solidFill>
                <a:latin typeface="Calibri"/>
              </a:rPr>
              <a:t>Bowtie2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1792224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0.9931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1792224"/>
            <a:ext cx="256032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0.051 %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1792224"/>
            <a:ext cx="237744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0.339 %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1792224"/>
            <a:ext cx="17373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4.3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157984"/>
            <a:ext cx="21945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2A27"/>
                </a:solidFill>
                <a:latin typeface="Calibri"/>
              </a:rPr>
              <a:t>minimap2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2157984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0.9927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2157984"/>
            <a:ext cx="256032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0.026 %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2157984"/>
            <a:ext cx="237744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0.359 %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48672" y="2157984"/>
            <a:ext cx="17373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11.7 GB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05456"/>
            <a:ext cx="11155680" cy="365760"/>
          </a:xfrm>
          <a:prstGeom prst="rect">
            <a:avLst/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2523744"/>
            <a:ext cx="21945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2A27"/>
                </a:solidFill>
                <a:latin typeface="Calibri"/>
              </a:rPr>
              <a:t>Centrifuge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2" y="2523744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0.9824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523744"/>
            <a:ext cx="256032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1.153 %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2523744"/>
            <a:ext cx="237744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0.605 %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2523744"/>
            <a:ext cx="17373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7.6 GB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2889503"/>
            <a:ext cx="21945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2A27"/>
                </a:solidFill>
                <a:latin typeface="Calibri"/>
              </a:rPr>
              <a:t>Kraken2 (default)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7792" y="2889503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2889503"/>
            <a:ext cx="256032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2889503"/>
            <a:ext cx="237744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2889503"/>
            <a:ext cx="17373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15.5 GB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236975"/>
            <a:ext cx="11155680" cy="365760"/>
          </a:xfrm>
          <a:prstGeom prst="rect">
            <a:avLst/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" y="3255263"/>
            <a:ext cx="21945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2A27"/>
                </a:solidFill>
                <a:latin typeface="Calibri"/>
              </a:rPr>
              <a:t>sylph (Exp. 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7792" y="3255263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3255263"/>
            <a:ext cx="256032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3255263"/>
            <a:ext cx="237744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48672" y="3255263"/>
            <a:ext cx="17373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2A27"/>
                </a:solidFill>
                <a:latin typeface="Calibri"/>
              </a:rPr>
              <a:t>3.5 GB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858768"/>
            <a:ext cx="11057839" cy="1152144"/>
          </a:xfrm>
          <a:prstGeom prst="roundRect">
            <a:avLst>
              <a:gd name="adj" fmla="val 7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7" y="3968496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8F3A2F"/>
                </a:solidFill>
                <a:latin typeface="Calibri"/>
              </a:rPr>
              <a:t>What this buys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" y="4279392"/>
            <a:ext cx="10509199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7A736C"/>
                </a:solidFill>
                <a:latin typeface="Calibri"/>
              </a:rPr>
              <a:t>Because routing treats depletion as a replaceable component, backends can be swapped without touching the surrounding pipeline. Bowtie2 and minimap2 are closely matched on accuracy; Centrifuge is worse on both error directions. Memory differs by 4× between backends, which is the practical basis for choosing one.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138928"/>
            <a:ext cx="11057839" cy="4937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1">
                <a:solidFill>
                  <a:srgbClr val="8F3A2F"/>
                </a:solidFill>
                <a:latin typeface="Calibri"/>
              </a:rPr>
              <a:t>One runtime measurement (minimap2, 5M dataset: 1,802 s against 235 s for the larger 10M dataset) is a cold-start outlier and is excluded from any runtime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RESULTS · ALL THREE TOOLS, SAME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2A27"/>
                </a:solidFill>
                <a:latin typeface="Cambria"/>
              </a:rPr>
              <a:t>Experiment 6 — 100M matched panel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11057839" cy="365760"/>
          </a:xfrm>
          <a:prstGeom prst="roundRect">
            <a:avLst>
              <a:gd name="adj" fmla="val 4000"/>
            </a:avLst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426464"/>
            <a:ext cx="16002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13432" y="1426464"/>
            <a:ext cx="2240279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151" y="1426464"/>
            <a:ext cx="1143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79591" y="1426464"/>
            <a:ext cx="1691639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Microbial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62671" y="1426464"/>
            <a:ext cx="1417319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Host carry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1432" y="1426464"/>
            <a:ext cx="132588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88752" y="1426464"/>
            <a:ext cx="1005839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Peak mem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773936"/>
            <a:ext cx="160020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100M / 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1773936"/>
            <a:ext cx="224027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RustyClean (sylph)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1773936"/>
            <a:ext cx="114300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0.9964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9591" y="1773936"/>
            <a:ext cx="169163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0.328 %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1" y="1773936"/>
            <a:ext cx="141731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0.399 %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1773936"/>
            <a:ext cx="132588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40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88752" y="1773936"/>
            <a:ext cx="100583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3.4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098548"/>
            <a:ext cx="160020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13432" y="2098548"/>
            <a:ext cx="224027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Hostile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1" y="2098548"/>
            <a:ext cx="114300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0.9989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9591" y="2098548"/>
            <a:ext cx="169163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0.043 %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2098548"/>
            <a:ext cx="141731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0.173 %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098548"/>
            <a:ext cx="132588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28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88752" y="2098548"/>
            <a:ext cx="100583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3.6 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423160"/>
            <a:ext cx="160020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13432" y="2423160"/>
            <a:ext cx="224027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KneadData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1" y="2423160"/>
            <a:ext cx="114300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0.9872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9591" y="2423160"/>
            <a:ext cx="169163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2.286 %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1" y="2423160"/>
            <a:ext cx="141731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0.249 %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2423160"/>
            <a:ext cx="132588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225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88752" y="2423160"/>
            <a:ext cx="100583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1.1 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2747772"/>
            <a:ext cx="160020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100M / 90%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13432" y="2747772"/>
            <a:ext cx="224027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RustyClean (sylph)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1" y="2747772"/>
            <a:ext cx="114300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0.9813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9591" y="2747772"/>
            <a:ext cx="169163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0.325 %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1" y="2747772"/>
            <a:ext cx="141731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0.400 %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2747772"/>
            <a:ext cx="132588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41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88752" y="2747772"/>
            <a:ext cx="100583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3.6 GB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3072384"/>
            <a:ext cx="160020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13432" y="3072384"/>
            <a:ext cx="224027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Hostile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5151" y="3072384"/>
            <a:ext cx="114300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0.9923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9591" y="3072384"/>
            <a:ext cx="169163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0.042 %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62671" y="3072384"/>
            <a:ext cx="141731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0.174 %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1432" y="3072384"/>
            <a:ext cx="132588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22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88752" y="3072384"/>
            <a:ext cx="100583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3.6 GB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3396996"/>
            <a:ext cx="160020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13432" y="3396996"/>
            <a:ext cx="224027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KneadData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5151" y="3396996"/>
            <a:ext cx="114300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0.9778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79591" y="3396996"/>
            <a:ext cx="169163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2.283 %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62671" y="3396996"/>
            <a:ext cx="141731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0.250 %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71432" y="3396996"/>
            <a:ext cx="1325880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242 min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88752" y="3396996"/>
            <a:ext cx="1005839" cy="2880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1.1 GB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4041648"/>
            <a:ext cx="5364327" cy="1188720"/>
          </a:xfrm>
          <a:prstGeom prst="roundRect">
            <a:avLst>
              <a:gd name="adj" fmla="val 7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2960" y="4151376"/>
            <a:ext cx="4852263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8F3A2F"/>
                </a:solidFill>
                <a:latin typeface="Calibri"/>
              </a:rPr>
              <a:t>sylph solves the memory problem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4462272"/>
            <a:ext cx="4852263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0">
                <a:solidFill>
                  <a:srgbClr val="7A736C"/>
                </a:solidFill>
                <a:latin typeface="Calibri"/>
              </a:rPr>
              <a:t>3.4 GB against 15.5 GB for the Kraken2 index — a 4× reduction that makes dense concurrency practical.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60439" y="4041648"/>
            <a:ext cx="5364327" cy="1188720"/>
          </a:xfrm>
          <a:prstGeom prst="roundRect">
            <a:avLst>
              <a:gd name="adj" fmla="val 7000"/>
            </a:avLst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16471" y="4151376"/>
            <a:ext cx="4852263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0A99E"/>
                </a:solidFill>
                <a:latin typeface="Calibri"/>
              </a:rPr>
              <a:t>But Hostile is faster here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6471" y="4462272"/>
            <a:ext cx="4852263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0">
                <a:solidFill>
                  <a:srgbClr val="FFFFFF"/>
                </a:solidFill>
                <a:latin typeface="Calibri"/>
              </a:rPr>
              <a:t>On this panel Hostile beats RustyClean on runtime and on F1. This is the opposite of Experiment 3 and has to be reconciled before any speed claim is made.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5376672"/>
            <a:ext cx="11057839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3A2F"/>
                </a:solidFill>
                <a:latin typeface="Calibri"/>
              </a:rPr>
              <a:t>Against KneadData the margin holds: 5.7× and 5.8× faster, with 7× less microbial loss.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RESULTS · WITH VERIFICATION, AGAINST HOSTILE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2A27"/>
                </a:solidFill>
                <a:latin typeface="Cambria"/>
              </a:rPr>
              <a:t>Experiment 7 — 100M depletion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11057839" cy="384048"/>
          </a:xfrm>
          <a:prstGeom prst="roundRect">
            <a:avLst>
              <a:gd name="adj" fmla="val 4000"/>
            </a:avLst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426464"/>
            <a:ext cx="160020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13432" y="1426464"/>
            <a:ext cx="2697479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2351" y="1426464"/>
            <a:ext cx="105156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1" y="1426464"/>
            <a:ext cx="150876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Microbial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5552" y="1426464"/>
            <a:ext cx="132588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Host carry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1426464"/>
            <a:ext cx="114300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97312" y="1426464"/>
            <a:ext cx="1078992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Peak mem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73936"/>
            <a:ext cx="11057839" cy="365760"/>
          </a:xfrm>
          <a:prstGeom prst="rect">
            <a:avLst/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1792224"/>
            <a:ext cx="16002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100M / 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1792224"/>
            <a:ext cx="26974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RustyClean (kraken2 + recheck)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1" y="1792224"/>
            <a:ext cx="10515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0.9976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1" y="1792224"/>
            <a:ext cx="15087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0.398 %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1792224"/>
            <a:ext cx="13258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0.072 %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792224"/>
            <a:ext cx="11430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22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97312" y="1792224"/>
            <a:ext cx="107899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15.6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2157984"/>
            <a:ext cx="16002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13432" y="2157984"/>
            <a:ext cx="26974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Hostile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1" y="2157984"/>
            <a:ext cx="10515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0.9988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1" y="2157984"/>
            <a:ext cx="15087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0.039 %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2157984"/>
            <a:ext cx="13258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0.173 %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157984"/>
            <a:ext cx="11430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28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97312" y="2157984"/>
            <a:ext cx="107899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3.6 GB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505456"/>
            <a:ext cx="11057839" cy="365760"/>
          </a:xfrm>
          <a:prstGeom prst="rect">
            <a:avLst/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2523744"/>
            <a:ext cx="16002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2A27"/>
                </a:solidFill>
                <a:latin typeface="Calibri"/>
              </a:rPr>
              <a:t>100M / 90%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13432" y="2523744"/>
            <a:ext cx="26974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RustyClean (kraken2 + recheck)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1" y="2523744"/>
            <a:ext cx="10515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0.9943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1" y="2523744"/>
            <a:ext cx="15087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0.395 %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2523744"/>
            <a:ext cx="13258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0.071 %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2523744"/>
            <a:ext cx="11430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19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97312" y="2523744"/>
            <a:ext cx="107899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15.5 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2889503"/>
            <a:ext cx="16002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13432" y="2889503"/>
            <a:ext cx="2697479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Hostile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02351" y="2889503"/>
            <a:ext cx="10515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0.9906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1" y="2889503"/>
            <a:ext cx="15087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0.039 %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89503"/>
            <a:ext cx="13258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0.174 %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2872" y="2889503"/>
            <a:ext cx="11430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22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97312" y="2889503"/>
            <a:ext cx="107899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2A27"/>
                </a:solidFill>
                <a:latin typeface="Calibri"/>
              </a:rPr>
              <a:t>3.6 GB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291840"/>
            <a:ext cx="11057839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E2A27"/>
                </a:solidFill>
                <a:latin typeface="Calibri"/>
              </a:rPr>
              <a:t>This is the default method — auto routing with the verification pass — against Hostile on a matched panel. It fills the gap Experiments 3 and 4 left open.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3895344"/>
            <a:ext cx="3503066" cy="1481328"/>
          </a:xfrm>
          <a:prstGeom prst="roundRect">
            <a:avLst>
              <a:gd name="adj" fmla="val 7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2" y="4023360"/>
            <a:ext cx="3027578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B85042"/>
                </a:solidFill>
                <a:latin typeface="Calibri"/>
              </a:rPr>
              <a:t>RustyClean wins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" y="4352544"/>
            <a:ext cx="3027578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0">
                <a:solidFill>
                  <a:srgbClr val="7A736C"/>
                </a:solidFill>
                <a:latin typeface="Calibri"/>
              </a:rPr>
              <a:t>Host carry-over 0.07 % against 0.17 %, and F1 at 90 % host (0.9943 vs 0.9906). Runtime 1.2–1.3× faster.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4314" y="3895344"/>
            <a:ext cx="3503066" cy="1481328"/>
          </a:xfrm>
          <a:prstGeom prst="roundRect">
            <a:avLst>
              <a:gd name="adj" fmla="val 7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82058" y="4023360"/>
            <a:ext cx="3027578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6E7B85"/>
                </a:solidFill>
                <a:latin typeface="Calibri"/>
              </a:rPr>
              <a:t>Hostile wins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82058" y="4352544"/>
            <a:ext cx="3027578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0">
                <a:solidFill>
                  <a:srgbClr val="7A736C"/>
                </a:solidFill>
                <a:latin typeface="Calibri"/>
              </a:rPr>
              <a:t>Microbial loss 0.04 % against 0.40 %, F1 at 50 % host, and peak memory by more than 4× (3.6 GB vs 15.5 GB).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21700" y="3895344"/>
            <a:ext cx="3503066" cy="1481328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8F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9444" y="4023360"/>
            <a:ext cx="3027578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8F3A2F"/>
                </a:solidFill>
                <a:latin typeface="Calibri"/>
              </a:rPr>
              <a:t>Data caveat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59444" y="4352544"/>
            <a:ext cx="3027578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0">
                <a:solidFill>
                  <a:srgbClr val="7A736C"/>
                </a:solidFill>
                <a:latin typeface="Calibri"/>
              </a:rPr>
              <a:t>The Hostile rows in this file are stored with the opposite positive class; they were transposed before computing these metrics. Fix the file.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5504688"/>
            <a:ext cx="11057839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7A736C"/>
                </a:solidFill>
                <a:latin typeface="Calibri"/>
              </a:rPr>
              <a:t>Two datasets only — the panel needs the remaining host fractions before this is quotable.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Where the evidence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525459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7BEAE"/>
                </a:solidFill>
                <a:latin typeface="Cambria"/>
              </a:rPr>
              <a:t>Established</a:t>
            </a:r>
          </a:p>
        </p:txBody>
      </p:sp>
      <p:sp>
        <p:nvSpPr>
          <p:cNvPr id="5" name="Oval 4"/>
          <p:cNvSpPr/>
          <p:nvPr/>
        </p:nvSpPr>
        <p:spPr>
          <a:xfrm>
            <a:off x="585216" y="1828800"/>
            <a:ext cx="164592" cy="164592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773936"/>
            <a:ext cx="4943703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Adaptive routing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048255"/>
            <a:ext cx="4943703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Correct backend on 4/4 datasets; the rule reproduces every choice.</a:t>
            </a:r>
          </a:p>
        </p:txBody>
      </p:sp>
      <p:sp>
        <p:nvSpPr>
          <p:cNvPr id="8" name="Oval 7"/>
          <p:cNvSpPr/>
          <p:nvPr/>
        </p:nvSpPr>
        <p:spPr>
          <a:xfrm>
            <a:off x="585216" y="2798064"/>
            <a:ext cx="164592" cy="164592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743200"/>
            <a:ext cx="4943703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Verification pass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017520"/>
            <a:ext cx="4943703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19.7× less residual host for +6.7 % runtime, consistent across 4 datasets.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3767328"/>
            <a:ext cx="164592" cy="164592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3712464"/>
            <a:ext cx="4943703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Clearly beats KneadData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986784"/>
            <a:ext cx="4943703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5–6× faster with 7–13× less microbial loss, on every panel.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4736592"/>
            <a:ext cx="164592" cy="164592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4681728"/>
            <a:ext cx="4943703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Backends are swappable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956048"/>
            <a:ext cx="4943703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5 backends; sylph cuts peak memory from 15.5 GB to 3.5 GB.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1389888"/>
            <a:ext cx="525459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0A99E"/>
                </a:solidFill>
                <a:latin typeface="Cambria"/>
              </a:rPr>
              <a:t>Open</a:t>
            </a:r>
          </a:p>
        </p:txBody>
      </p:sp>
      <p:sp>
        <p:nvSpPr>
          <p:cNvPr id="18" name="Oval 17"/>
          <p:cNvSpPr/>
          <p:nvPr/>
        </p:nvSpPr>
        <p:spPr>
          <a:xfrm>
            <a:off x="6205575" y="1828800"/>
            <a:ext cx="164592" cy="164592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9895" y="1773936"/>
            <a:ext cx="4943703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Hostile results conflict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2048255"/>
            <a:ext cx="4943703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Exp. 3 says we are 4.9× faster at 60M; Exp. 6 says Hostile is faster at 100M.</a:t>
            </a:r>
          </a:p>
        </p:txBody>
      </p:sp>
      <p:sp>
        <p:nvSpPr>
          <p:cNvPr id="21" name="Oval 20"/>
          <p:cNvSpPr/>
          <p:nvPr/>
        </p:nvSpPr>
        <p:spPr>
          <a:xfrm>
            <a:off x="6205575" y="2798064"/>
            <a:ext cx="164592" cy="164592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9895" y="2743200"/>
            <a:ext cx="4943703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Recheck is not on 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895" y="3017520"/>
            <a:ext cx="4943703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The default method described here ships only on a branch.</a:t>
            </a:r>
          </a:p>
        </p:txBody>
      </p:sp>
      <p:sp>
        <p:nvSpPr>
          <p:cNvPr id="24" name="Oval 23"/>
          <p:cNvSpPr/>
          <p:nvPr/>
        </p:nvSpPr>
        <p:spPr>
          <a:xfrm>
            <a:off x="6205575" y="3767328"/>
            <a:ext cx="164592" cy="164592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9895" y="3712464"/>
            <a:ext cx="4943703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Memory is our weak 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895" y="3986784"/>
            <a:ext cx="4943703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15.5 GB on the Kraken2 path against 1.1 GB for KneadData, 3.6 GB for Hostile.</a:t>
            </a:r>
          </a:p>
        </p:txBody>
      </p:sp>
      <p:sp>
        <p:nvSpPr>
          <p:cNvPr id="27" name="Oval 26"/>
          <p:cNvSpPr/>
          <p:nvPr/>
        </p:nvSpPr>
        <p:spPr>
          <a:xfrm>
            <a:off x="6205575" y="4736592"/>
            <a:ext cx="164592" cy="164592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9895" y="4681728"/>
            <a:ext cx="4943703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Panel is narrow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9895" y="4956048"/>
            <a:ext cx="4943703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736C"/>
                </a:solidFill>
                <a:latin typeface="Calibri"/>
              </a:rPr>
              <a:t>4–6 datasets, all single-end, nothing in the 10–30 % routing band, no real data.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742432"/>
            <a:ext cx="41148" cy="566928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7" y="5833872"/>
            <a:ext cx="10692079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E0A99E"/>
                </a:solidFill>
                <a:latin typeface="Calibri"/>
              </a:rPr>
              <a:t>The engineering is done. The comparison against Hostile is not.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PRIORITY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2A27"/>
                </a:solidFill>
                <a:latin typeface="Cambria"/>
              </a:rPr>
              <a:t>What to run next</a:t>
            </a:r>
          </a:p>
        </p:txBody>
      </p:sp>
      <p:sp>
        <p:nvSpPr>
          <p:cNvPr id="4" name="Oval 3"/>
          <p:cNvSpPr/>
          <p:nvPr/>
        </p:nvSpPr>
        <p:spPr>
          <a:xfrm>
            <a:off x="603504" y="1517904"/>
            <a:ext cx="384048" cy="38404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408176"/>
            <a:ext cx="4206240" cy="5303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2A27"/>
                </a:solidFill>
                <a:latin typeface="Calibri"/>
              </a:rPr>
              <a:t>Reconcile the Hostile runtime contradiction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8" y="1408176"/>
            <a:ext cx="6074359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0">
                <a:solidFill>
                  <a:srgbClr val="7A736C"/>
                </a:solidFill>
                <a:latin typeface="Calibri"/>
              </a:rPr>
              <a:t>Re-run Hostile on 60M and 100M on the same node with the same settings. Until this resolves, no speed claim against Hostile can be quoted.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2377440"/>
            <a:ext cx="384048" cy="38404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267712"/>
            <a:ext cx="4206240" cy="5303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2A27"/>
                </a:solidFill>
                <a:latin typeface="Calibri"/>
              </a:rPr>
              <a:t>Merge --bowtie2-recheck into 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8968" y="2267712"/>
            <a:ext cx="6074359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0">
                <a:solidFill>
                  <a:srgbClr val="7A736C"/>
                </a:solidFill>
                <a:latin typeface="Calibri"/>
              </a:rPr>
              <a:t>The default method in every result above ships only on a branch. Merge it, or state the branch explicitly wherever results are reported.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236976"/>
            <a:ext cx="384048" cy="384048"/>
          </a:xfrm>
          <a:prstGeom prst="ellipse">
            <a:avLst/>
          </a:prstGeom>
          <a:solidFill>
            <a:srgbClr val="8F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127248"/>
            <a:ext cx="4206240" cy="5303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2A27"/>
                </a:solidFill>
                <a:latin typeface="Calibri"/>
              </a:rPr>
              <a:t>Fix the transposed class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3127248"/>
            <a:ext cx="6074359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0">
                <a:solidFill>
                  <a:srgbClr val="7A736C"/>
                </a:solidFill>
                <a:latin typeface="Calibri"/>
              </a:rPr>
              <a:t>results_100M_skipqc_matched/accuracy.csv stores Hostile with the opposite positive class. Anyone reading that file without checking will draw the wrong conclusion.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4096511"/>
            <a:ext cx="384048" cy="384048"/>
          </a:xfrm>
          <a:prstGeom prst="ellipse">
            <a:avLst/>
          </a:prstGeom>
          <a:solidFill>
            <a:srgbClr val="6E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986783"/>
            <a:ext cx="4206240" cy="5303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2A27"/>
                </a:solidFill>
                <a:latin typeface="Calibri"/>
              </a:rPr>
              <a:t>Extend the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8968" y="3986783"/>
            <a:ext cx="6074359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0">
                <a:solidFill>
                  <a:srgbClr val="7A736C"/>
                </a:solidFill>
                <a:latin typeface="Calibri"/>
              </a:rPr>
              <a:t>Paired-end libraries, and host fractions between 10 % and 30 % where the routing rule actually decides. Currently nothing is measured in that band.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" y="4956047"/>
            <a:ext cx="384048" cy="384048"/>
          </a:xfrm>
          <a:prstGeom prst="ellipse">
            <a:avLst/>
          </a:prstGeom>
          <a:solidFill>
            <a:srgbClr val="6E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846319"/>
            <a:ext cx="4206240" cy="5303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2A27"/>
                </a:solidFill>
                <a:latin typeface="Calibri"/>
              </a:rPr>
              <a:t>Memory-aware worker 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4846319"/>
            <a:ext cx="6074359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30" b="0" i="0">
                <a:solidFill>
                  <a:srgbClr val="7A736C"/>
                </a:solidFill>
                <a:latin typeface="Calibri"/>
              </a:rPr>
              <a:t>Worker count comes from CPU count; with a 15.5 GB index, concurrent demand is W × 15.5 GB. Derive it from available memory instead.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797296"/>
            <a:ext cx="11057839" cy="658368"/>
          </a:xfrm>
          <a:prstGeom prst="roundRect">
            <a:avLst>
              <a:gd name="adj" fmla="val 6000"/>
            </a:avLst>
          </a:prstGeom>
          <a:solidFill>
            <a:srgbClr val="F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5943600"/>
            <a:ext cx="10509199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3A2F"/>
                </a:solidFill>
                <a:latin typeface="Calibri"/>
              </a:rPr>
              <a:t>Items 1–3 are blockers for the manuscript. Items 4–5 strengthen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2640</Words>
  <Application>Microsoft Macintosh PowerPoint</Application>
  <PresentationFormat>Widescreen</PresentationFormat>
  <Paragraphs>444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ZHANG Yufeng</cp:lastModifiedBy>
  <cp:revision>2</cp:revision>
  <dcterms:created xsi:type="dcterms:W3CDTF">2013-01-27T09:14:16Z</dcterms:created>
  <dcterms:modified xsi:type="dcterms:W3CDTF">2026-08-29T07:07:06Z</dcterms:modified>
  <cp:category/>
</cp:coreProperties>
</file>