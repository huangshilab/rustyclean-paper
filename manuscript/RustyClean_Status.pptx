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update: what the code does now, and every benchmark run to date with its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stages. The survey and routing (2-3) are what makes it adaptive; the gate (5) is what no other tool has.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Shaded modules carry the design: pipeline (backends + routing), worker (concurrency), checkpoint (crash safety). pipeline.rs tripled in size since the first version.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rule reproduces every observed backend choice exactly. Note it is two-dimensional — host fraction alone is not enough.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candid about the gaps — the memory-aware worker cap is the one that actually bites, because the Kraken2 index is 15.5 GB.</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experiments. Note what is missing: PE, the 10-30% routing band, and real data.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Hostile leads on accuracy here. The recheck experiment is what changes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gloss over the Hostile inconsistency — 60M taking 71 min while 100M takes 22 min is not physically sensible. Flag it, do not quote the 4.9x until it is resolved.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Strongest single result in the deck. The flag is on main now; the numbers came from the branch, with identical verification logic.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memory column is the real finding: sylph at 3.5 GB against Kraken2 at 15.5 GB.</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complicates the story. Hostile wins on speed AND F1 at 100M, contradicting Experiment 3. Do not hide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gap: default method vs Hostile on the same data. Mixed result — we win on host carry-over and high-host F1, they win on microbial loss and 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summary. The KneadData story is solid; the Hostile story is unresolved and that is the blocker for the paper.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item 1 is the one that decides whether the paper's speed claim survives.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7315199" y="960119"/>
            <a:ext cx="4937760" cy="4937760"/>
          </a:xfrm>
          <a:prstGeom prst="ellipse">
            <a:avLst/>
          </a:prstGeom>
          <a:solidFill>
            <a:srgbClr val="3A33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Oval 3"/>
          <p:cNvSpPr/>
          <p:nvPr/>
        </p:nvSpPr>
        <p:spPr>
          <a:xfrm>
            <a:off x="8001000" y="1645920"/>
            <a:ext cx="3566160" cy="3566160"/>
          </a:xfrm>
          <a:prstGeom prst="ellipse">
            <a:avLst/>
          </a:prstGeom>
          <a:solidFill>
            <a:srgbClr val="4A373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Oval 4"/>
          <p:cNvSpPr/>
          <p:nvPr/>
        </p:nvSpPr>
        <p:spPr>
          <a:xfrm>
            <a:off x="8686800" y="2331720"/>
            <a:ext cx="2194560" cy="2194560"/>
          </a:xfrm>
          <a:prstGeom prst="ellipse">
            <a:avLst/>
          </a:prstGeom>
          <a:solidFill>
            <a:srgbClr val="8F3A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Oval 5"/>
          <p:cNvSpPr/>
          <p:nvPr/>
        </p:nvSpPr>
        <p:spPr>
          <a:xfrm>
            <a:off x="9281159" y="2926080"/>
            <a:ext cx="1005840" cy="100584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 name="TextBox 6"/>
          <p:cNvSpPr txBox="1"/>
          <p:nvPr/>
        </p:nvSpPr>
        <p:spPr>
          <a:xfrm>
            <a:off x="566928" y="1700784"/>
            <a:ext cx="6766560" cy="1097280"/>
          </a:xfrm>
          <a:prstGeom prst="rect">
            <a:avLst/>
          </a:prstGeom>
          <a:noFill/>
        </p:spPr>
        <p:txBody>
          <a:bodyPr wrap="square" lIns="45720" rIns="45720" tIns="18288" bIns="18288" anchor="t">
            <a:spAutoFit/>
          </a:bodyPr>
          <a:lstStyle/>
          <a:p>
            <a:pPr algn="l">
              <a:lnSpc>
                <a:spcPct val="100000"/>
              </a:lnSpc>
            </a:pPr>
            <a:r>
              <a:rPr sz="6000" b="1" i="0">
                <a:solidFill>
                  <a:srgbClr val="FFFFFF"/>
                </a:solidFill>
                <a:latin typeface="Cambria"/>
              </a:rPr>
              <a:t>RustyClean</a:t>
            </a:r>
          </a:p>
        </p:txBody>
      </p:sp>
      <p:sp>
        <p:nvSpPr>
          <p:cNvPr id="8" name="TextBox 7"/>
          <p:cNvSpPr txBox="1"/>
          <p:nvPr/>
        </p:nvSpPr>
        <p:spPr>
          <a:xfrm>
            <a:off x="566928" y="2907792"/>
            <a:ext cx="6583680" cy="457200"/>
          </a:xfrm>
          <a:prstGeom prst="rect">
            <a:avLst/>
          </a:prstGeom>
          <a:noFill/>
        </p:spPr>
        <p:txBody>
          <a:bodyPr wrap="square" lIns="45720" rIns="45720" tIns="18288" bIns="18288" anchor="t">
            <a:spAutoFit/>
          </a:bodyPr>
          <a:lstStyle/>
          <a:p>
            <a:pPr algn="l">
              <a:lnSpc>
                <a:spcPct val="100000"/>
              </a:lnSpc>
            </a:pPr>
            <a:r>
              <a:rPr sz="2100" b="0" i="0">
                <a:solidFill>
                  <a:srgbClr val="A7BEAE"/>
                </a:solidFill>
                <a:latin typeface="Calibri"/>
              </a:rPr>
              <a:t>Architecture and benchmark status</a:t>
            </a:r>
          </a:p>
        </p:txBody>
      </p:sp>
      <p:sp>
        <p:nvSpPr>
          <p:cNvPr id="9" name="TextBox 8"/>
          <p:cNvSpPr txBox="1"/>
          <p:nvPr/>
        </p:nvSpPr>
        <p:spPr>
          <a:xfrm>
            <a:off x="566928" y="3438144"/>
            <a:ext cx="6583680" cy="365760"/>
          </a:xfrm>
          <a:prstGeom prst="rect">
            <a:avLst/>
          </a:prstGeom>
          <a:noFill/>
        </p:spPr>
        <p:txBody>
          <a:bodyPr wrap="square" lIns="45720" rIns="45720" tIns="18288" bIns="18288" anchor="t">
            <a:spAutoFit/>
          </a:bodyPr>
          <a:lstStyle/>
          <a:p>
            <a:pPr algn="l">
              <a:lnSpc>
                <a:spcPct val="100000"/>
              </a:lnSpc>
            </a:pPr>
            <a:r>
              <a:rPr sz="1400" b="0" i="1">
                <a:solidFill>
                  <a:srgbClr val="E0A99E"/>
                </a:solidFill>
                <a:latin typeface="Calibri"/>
              </a:rPr>
              <a:t>Adaptive host depletion for short-read metagenomics</a:t>
            </a:r>
          </a:p>
        </p:txBody>
      </p:sp>
      <p:sp>
        <p:nvSpPr>
          <p:cNvPr id="10" name="Rectangle 9"/>
          <p:cNvSpPr/>
          <p:nvPr/>
        </p:nvSpPr>
        <p:spPr>
          <a:xfrm>
            <a:off x="566928" y="4133087"/>
            <a:ext cx="1280160" cy="41148"/>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66928" y="4407408"/>
            <a:ext cx="6583680" cy="292608"/>
          </a:xfrm>
          <a:prstGeom prst="rect">
            <a:avLst/>
          </a:prstGeom>
          <a:noFill/>
        </p:spPr>
        <p:txBody>
          <a:bodyPr wrap="square" lIns="45720" rIns="45720" tIns="18288" bIns="18288" anchor="t">
            <a:spAutoFit/>
          </a:bodyPr>
          <a:lstStyle/>
          <a:p>
            <a:pPr algn="l">
              <a:lnSpc>
                <a:spcPct val="100000"/>
              </a:lnSpc>
            </a:pPr>
            <a:r>
              <a:rPr sz="1300" b="0" i="0">
                <a:solidFill>
                  <a:srgbClr val="FFFFFF"/>
                </a:solidFill>
                <a:latin typeface="Calibri"/>
              </a:rPr>
              <a:t>Code at commit 13eeb99  ·  7 benchmark experiments  ·  5 depletion backends</a:t>
            </a:r>
          </a:p>
        </p:txBody>
      </p:sp>
      <p:sp>
        <p:nvSpPr>
          <p:cNvPr id="12" name="TextBox 11"/>
          <p:cNvSpPr txBox="1"/>
          <p:nvPr/>
        </p:nvSpPr>
        <p:spPr>
          <a:xfrm>
            <a:off x="566928" y="4828032"/>
            <a:ext cx="6400800" cy="274320"/>
          </a:xfrm>
          <a:prstGeom prst="rect">
            <a:avLst/>
          </a:prstGeom>
          <a:noFill/>
        </p:spPr>
        <p:txBody>
          <a:bodyPr wrap="square" lIns="45720" rIns="45720" tIns="18288" bIns="18288" anchor="t">
            <a:spAutoFit/>
          </a:bodyPr>
          <a:lstStyle/>
          <a:p>
            <a:pPr algn="l">
              <a:lnSpc>
                <a:spcPct val="100000"/>
              </a:lnSpc>
            </a:pPr>
            <a:r>
              <a:rPr sz="1300" b="0" i="0">
                <a:solidFill>
                  <a:srgbClr val="7A736C"/>
                </a:solidFill>
                <a:latin typeface="Calibri"/>
              </a:rPr>
              <a:t>ZHANG Yufeng  ·  Huang Lab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CODE · WHAT RUNS PER SAMPLE</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Pipeline architecture</a:t>
            </a:r>
          </a:p>
        </p:txBody>
      </p:sp>
      <p:sp>
        <p:nvSpPr>
          <p:cNvPr id="4" name="Rounded Rectangle 3"/>
          <p:cNvSpPr/>
          <p:nvPr/>
        </p:nvSpPr>
        <p:spPr>
          <a:xfrm>
            <a:off x="566928" y="1389888"/>
            <a:ext cx="11057839" cy="786384"/>
          </a:xfrm>
          <a:prstGeom prst="roundRect">
            <a:avLst>
              <a:gd name="adj" fmla="val 8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481328"/>
            <a:ext cx="2788920" cy="292608"/>
          </a:xfrm>
          <a:prstGeom prst="rect">
            <a:avLst/>
          </a:prstGeom>
          <a:noFill/>
        </p:spPr>
        <p:txBody>
          <a:bodyPr wrap="square" lIns="45720" rIns="45720" tIns="18288" bIns="18288" anchor="t">
            <a:spAutoFit/>
          </a:bodyPr>
          <a:lstStyle/>
          <a:p>
            <a:pPr algn="l">
              <a:lnSpc>
                <a:spcPct val="100000"/>
              </a:lnSpc>
            </a:pPr>
            <a:r>
              <a:rPr sz="1500" b="1" i="0">
                <a:solidFill>
                  <a:srgbClr val="FFFFFF"/>
                </a:solidFill>
                <a:latin typeface="Calibri"/>
              </a:rPr>
              <a:t>1  Quality control</a:t>
            </a:r>
          </a:p>
        </p:txBody>
      </p:sp>
      <p:sp>
        <p:nvSpPr>
          <p:cNvPr id="6" name="TextBox 5"/>
          <p:cNvSpPr txBox="1"/>
          <p:nvPr/>
        </p:nvSpPr>
        <p:spPr>
          <a:xfrm>
            <a:off x="3721608" y="1472184"/>
            <a:ext cx="5120640" cy="310896"/>
          </a:xfrm>
          <a:prstGeom prst="rect">
            <a:avLst/>
          </a:prstGeom>
          <a:noFill/>
        </p:spPr>
        <p:txBody>
          <a:bodyPr wrap="square" lIns="45720" rIns="45720" tIns="18288" bIns="18288" anchor="t">
            <a:spAutoFit/>
          </a:bodyPr>
          <a:lstStyle/>
          <a:p>
            <a:pPr algn="l">
              <a:lnSpc>
                <a:spcPct val="100000"/>
              </a:lnSpc>
            </a:pPr>
            <a:r>
              <a:rPr sz="1300" b="0" i="0">
                <a:solidFill>
                  <a:srgbClr val="FFFFFF"/>
                </a:solidFill>
                <a:latin typeface="Courier New"/>
              </a:rPr>
              <a:t>fastp — adapters, trimming, length/quality filter</a:t>
            </a:r>
          </a:p>
        </p:txBody>
      </p:sp>
      <p:sp>
        <p:nvSpPr>
          <p:cNvPr id="7" name="TextBox 6"/>
          <p:cNvSpPr txBox="1"/>
          <p:nvPr/>
        </p:nvSpPr>
        <p:spPr>
          <a:xfrm>
            <a:off x="8842248" y="1472184"/>
            <a:ext cx="2553919" cy="566928"/>
          </a:xfrm>
          <a:prstGeom prst="rect">
            <a:avLst/>
          </a:prstGeom>
          <a:noFill/>
        </p:spPr>
        <p:txBody>
          <a:bodyPr wrap="square" lIns="45720" rIns="45720" tIns="18288" bIns="18288" anchor="ctr">
            <a:spAutoFit/>
          </a:bodyPr>
          <a:lstStyle/>
          <a:p>
            <a:pPr algn="l">
              <a:lnSpc>
                <a:spcPct val="106000"/>
              </a:lnSpc>
            </a:pPr>
            <a:r>
              <a:rPr sz="1100" b="0" i="1">
                <a:solidFill>
                  <a:srgbClr val="E0A99E"/>
                </a:solidFill>
                <a:latin typeface="Calibri"/>
              </a:rPr>
              <a:t>(skippable with --skip-qc)</a:t>
            </a:r>
          </a:p>
        </p:txBody>
      </p:sp>
      <p:sp>
        <p:nvSpPr>
          <p:cNvPr id="8" name="TextBox 7"/>
          <p:cNvSpPr txBox="1"/>
          <p:nvPr/>
        </p:nvSpPr>
        <p:spPr>
          <a:xfrm>
            <a:off x="566928" y="2176272"/>
            <a:ext cx="11057839" cy="182880"/>
          </a:xfrm>
          <a:prstGeom prst="rect">
            <a:avLst/>
          </a:prstGeom>
          <a:noFill/>
        </p:spPr>
        <p:txBody>
          <a:bodyPr wrap="square" lIns="45720" rIns="45720" tIns="18288" bIns="18288" anchor="ctr">
            <a:spAutoFit/>
          </a:bodyPr>
          <a:lstStyle/>
          <a:p>
            <a:pPr algn="ctr">
              <a:lnSpc>
                <a:spcPct val="100000"/>
              </a:lnSpc>
            </a:pPr>
            <a:r>
              <a:rPr sz="1100" b="1" i="0">
                <a:solidFill>
                  <a:srgbClr val="8F3A2F"/>
                </a:solidFill>
                <a:latin typeface="Calibri"/>
              </a:rPr>
              <a:t>↓</a:t>
            </a:r>
          </a:p>
        </p:txBody>
      </p:sp>
      <p:sp>
        <p:nvSpPr>
          <p:cNvPr id="9" name="Rounded Rectangle 8"/>
          <p:cNvSpPr/>
          <p:nvPr/>
        </p:nvSpPr>
        <p:spPr>
          <a:xfrm>
            <a:off x="566928" y="2359152"/>
            <a:ext cx="11057839" cy="786384"/>
          </a:xfrm>
          <a:prstGeom prst="roundRect">
            <a:avLst>
              <a:gd name="adj" fmla="val 8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2450592"/>
            <a:ext cx="2788920" cy="292608"/>
          </a:xfrm>
          <a:prstGeom prst="rect">
            <a:avLst/>
          </a:prstGeom>
          <a:noFill/>
        </p:spPr>
        <p:txBody>
          <a:bodyPr wrap="square" lIns="45720" rIns="45720" tIns="18288" bIns="18288" anchor="t">
            <a:spAutoFit/>
          </a:bodyPr>
          <a:lstStyle/>
          <a:p>
            <a:pPr algn="l">
              <a:lnSpc>
                <a:spcPct val="100000"/>
              </a:lnSpc>
            </a:pPr>
            <a:r>
              <a:rPr sz="1500" b="1" i="0">
                <a:solidFill>
                  <a:srgbClr val="FFFFFF"/>
                </a:solidFill>
                <a:latin typeface="Calibri"/>
              </a:rPr>
              <a:t>2  Host-fraction survey</a:t>
            </a:r>
          </a:p>
        </p:txBody>
      </p:sp>
      <p:sp>
        <p:nvSpPr>
          <p:cNvPr id="11" name="TextBox 10"/>
          <p:cNvSpPr txBox="1"/>
          <p:nvPr/>
        </p:nvSpPr>
        <p:spPr>
          <a:xfrm>
            <a:off x="3721608" y="2441448"/>
            <a:ext cx="5120640" cy="310896"/>
          </a:xfrm>
          <a:prstGeom prst="rect">
            <a:avLst/>
          </a:prstGeom>
          <a:noFill/>
        </p:spPr>
        <p:txBody>
          <a:bodyPr wrap="square" lIns="45720" rIns="45720" tIns="18288" bIns="18288" anchor="t">
            <a:spAutoFit/>
          </a:bodyPr>
          <a:lstStyle/>
          <a:p>
            <a:pPr algn="l">
              <a:lnSpc>
                <a:spcPct val="100000"/>
              </a:lnSpc>
            </a:pPr>
            <a:r>
              <a:rPr sz="1300" b="0" i="0">
                <a:solidFill>
                  <a:srgbClr val="FFFFFF"/>
                </a:solidFill>
                <a:latin typeface="Courier New"/>
              </a:rPr>
              <a:t>seqtk subsample 100k → bowtie2 --very-fast-local</a:t>
            </a:r>
          </a:p>
        </p:txBody>
      </p:sp>
      <p:sp>
        <p:nvSpPr>
          <p:cNvPr id="12" name="TextBox 11"/>
          <p:cNvSpPr txBox="1"/>
          <p:nvPr/>
        </p:nvSpPr>
        <p:spPr>
          <a:xfrm>
            <a:off x="8842248" y="2441448"/>
            <a:ext cx="2553919" cy="566928"/>
          </a:xfrm>
          <a:prstGeom prst="rect">
            <a:avLst/>
          </a:prstGeom>
          <a:noFill/>
        </p:spPr>
        <p:txBody>
          <a:bodyPr wrap="square" lIns="45720" rIns="45720" tIns="18288" bIns="18288" anchor="ctr">
            <a:spAutoFit/>
          </a:bodyPr>
          <a:lstStyle/>
          <a:p>
            <a:pPr algn="l">
              <a:lnSpc>
                <a:spcPct val="106000"/>
              </a:lnSpc>
            </a:pPr>
            <a:r>
              <a:rPr sz="1100" b="0" i="1">
                <a:solidFill>
                  <a:srgbClr val="E0A99E"/>
                </a:solidFill>
                <a:latin typeface="Calibri"/>
              </a:rPr>
              <a:t>estimates host % in seconds</a:t>
            </a:r>
          </a:p>
        </p:txBody>
      </p:sp>
      <p:sp>
        <p:nvSpPr>
          <p:cNvPr id="13" name="TextBox 12"/>
          <p:cNvSpPr txBox="1"/>
          <p:nvPr/>
        </p:nvSpPr>
        <p:spPr>
          <a:xfrm>
            <a:off x="566928" y="3145536"/>
            <a:ext cx="11057839" cy="182880"/>
          </a:xfrm>
          <a:prstGeom prst="rect">
            <a:avLst/>
          </a:prstGeom>
          <a:noFill/>
        </p:spPr>
        <p:txBody>
          <a:bodyPr wrap="square" lIns="45720" rIns="45720" tIns="18288" bIns="18288" anchor="ctr">
            <a:spAutoFit/>
          </a:bodyPr>
          <a:lstStyle/>
          <a:p>
            <a:pPr algn="ctr">
              <a:lnSpc>
                <a:spcPct val="100000"/>
              </a:lnSpc>
            </a:pPr>
            <a:r>
              <a:rPr sz="1100" b="1" i="0">
                <a:solidFill>
                  <a:srgbClr val="8F3A2F"/>
                </a:solidFill>
                <a:latin typeface="Calibri"/>
              </a:rPr>
              <a:t>↓</a:t>
            </a:r>
          </a:p>
        </p:txBody>
      </p:sp>
      <p:sp>
        <p:nvSpPr>
          <p:cNvPr id="14" name="Rounded Rectangle 13"/>
          <p:cNvSpPr/>
          <p:nvPr/>
        </p:nvSpPr>
        <p:spPr>
          <a:xfrm>
            <a:off x="566928" y="3328416"/>
            <a:ext cx="11057839" cy="786384"/>
          </a:xfrm>
          <a:prstGeom prst="roundRect">
            <a:avLst>
              <a:gd name="adj" fmla="val 8000"/>
            </a:avLst>
          </a:prstGeom>
          <a:solidFill>
            <a:srgbClr val="A7BE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3419856"/>
            <a:ext cx="2788920" cy="292608"/>
          </a:xfrm>
          <a:prstGeom prst="rect">
            <a:avLst/>
          </a:prstGeom>
          <a:noFill/>
        </p:spPr>
        <p:txBody>
          <a:bodyPr wrap="square" lIns="45720" rIns="45720" tIns="18288" bIns="18288" anchor="t">
            <a:spAutoFit/>
          </a:bodyPr>
          <a:lstStyle/>
          <a:p>
            <a:pPr algn="l">
              <a:lnSpc>
                <a:spcPct val="100000"/>
              </a:lnSpc>
            </a:pPr>
            <a:r>
              <a:rPr sz="1500" b="1" i="0">
                <a:solidFill>
                  <a:srgbClr val="2E2A27"/>
                </a:solidFill>
                <a:latin typeface="Calibri"/>
              </a:rPr>
              <a:t>3  Backend routing</a:t>
            </a:r>
          </a:p>
        </p:txBody>
      </p:sp>
      <p:sp>
        <p:nvSpPr>
          <p:cNvPr id="16" name="TextBox 15"/>
          <p:cNvSpPr txBox="1"/>
          <p:nvPr/>
        </p:nvSpPr>
        <p:spPr>
          <a:xfrm>
            <a:off x="3721608" y="3410712"/>
            <a:ext cx="5120640" cy="310896"/>
          </a:xfrm>
          <a:prstGeom prst="rect">
            <a:avLst/>
          </a:prstGeom>
          <a:noFill/>
        </p:spPr>
        <p:txBody>
          <a:bodyPr wrap="square" lIns="45720" rIns="45720" tIns="18288" bIns="18288" anchor="t">
            <a:spAutoFit/>
          </a:bodyPr>
          <a:lstStyle/>
          <a:p>
            <a:pPr algn="l">
              <a:lnSpc>
                <a:spcPct val="100000"/>
              </a:lnSpc>
            </a:pPr>
            <a:r>
              <a:rPr sz="1300" b="0" i="0">
                <a:solidFill>
                  <a:srgbClr val="2E2A27"/>
                </a:solidFill>
                <a:latin typeface="Courier New"/>
              </a:rPr>
              <a:t>choose_auto_backend(host%, read count)</a:t>
            </a:r>
          </a:p>
        </p:txBody>
      </p:sp>
      <p:sp>
        <p:nvSpPr>
          <p:cNvPr id="17" name="TextBox 16"/>
          <p:cNvSpPr txBox="1"/>
          <p:nvPr/>
        </p:nvSpPr>
        <p:spPr>
          <a:xfrm>
            <a:off x="8842248" y="3410712"/>
            <a:ext cx="2553919" cy="566928"/>
          </a:xfrm>
          <a:prstGeom prst="rect">
            <a:avLst/>
          </a:prstGeom>
          <a:noFill/>
        </p:spPr>
        <p:txBody>
          <a:bodyPr wrap="square" lIns="45720" rIns="45720" tIns="18288" bIns="18288" anchor="ctr">
            <a:spAutoFit/>
          </a:bodyPr>
          <a:lstStyle/>
          <a:p>
            <a:pPr algn="l">
              <a:lnSpc>
                <a:spcPct val="106000"/>
              </a:lnSpc>
            </a:pPr>
            <a:r>
              <a:rPr sz="1100" b="0" i="1">
                <a:solidFill>
                  <a:srgbClr val="2E2A27"/>
                </a:solidFill>
                <a:latin typeface="Calibri"/>
              </a:rPr>
              <a:t>picks bowtie2 or kraken2</a:t>
            </a:r>
          </a:p>
        </p:txBody>
      </p:sp>
      <p:sp>
        <p:nvSpPr>
          <p:cNvPr id="18" name="TextBox 17"/>
          <p:cNvSpPr txBox="1"/>
          <p:nvPr/>
        </p:nvSpPr>
        <p:spPr>
          <a:xfrm>
            <a:off x="566928" y="4114800"/>
            <a:ext cx="11057839" cy="182880"/>
          </a:xfrm>
          <a:prstGeom prst="rect">
            <a:avLst/>
          </a:prstGeom>
          <a:noFill/>
        </p:spPr>
        <p:txBody>
          <a:bodyPr wrap="square" lIns="45720" rIns="45720" tIns="18288" bIns="18288" anchor="ctr">
            <a:spAutoFit/>
          </a:bodyPr>
          <a:lstStyle/>
          <a:p>
            <a:pPr algn="ctr">
              <a:lnSpc>
                <a:spcPct val="100000"/>
              </a:lnSpc>
            </a:pPr>
            <a:r>
              <a:rPr sz="1100" b="1" i="0">
                <a:solidFill>
                  <a:srgbClr val="8F3A2F"/>
                </a:solidFill>
                <a:latin typeface="Calibri"/>
              </a:rPr>
              <a:t>↓</a:t>
            </a:r>
          </a:p>
        </p:txBody>
      </p:sp>
      <p:sp>
        <p:nvSpPr>
          <p:cNvPr id="19" name="Rounded Rectangle 18"/>
          <p:cNvSpPr/>
          <p:nvPr/>
        </p:nvSpPr>
        <p:spPr>
          <a:xfrm>
            <a:off x="566928" y="4297680"/>
            <a:ext cx="11057839" cy="786384"/>
          </a:xfrm>
          <a:prstGeom prst="roundRect">
            <a:avLst>
              <a:gd name="adj" fmla="val 8000"/>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60" y="4389120"/>
            <a:ext cx="2788920" cy="292608"/>
          </a:xfrm>
          <a:prstGeom prst="rect">
            <a:avLst/>
          </a:prstGeom>
          <a:noFill/>
        </p:spPr>
        <p:txBody>
          <a:bodyPr wrap="square" lIns="45720" rIns="45720" tIns="18288" bIns="18288" anchor="t">
            <a:spAutoFit/>
          </a:bodyPr>
          <a:lstStyle/>
          <a:p>
            <a:pPr algn="l">
              <a:lnSpc>
                <a:spcPct val="100000"/>
              </a:lnSpc>
            </a:pPr>
            <a:r>
              <a:rPr sz="1500" b="1" i="0">
                <a:solidFill>
                  <a:srgbClr val="FFFFFF"/>
                </a:solidFill>
                <a:latin typeface="Calibri"/>
              </a:rPr>
              <a:t>4  Host depletion</a:t>
            </a:r>
          </a:p>
        </p:txBody>
      </p:sp>
      <p:sp>
        <p:nvSpPr>
          <p:cNvPr id="21" name="TextBox 20"/>
          <p:cNvSpPr txBox="1"/>
          <p:nvPr/>
        </p:nvSpPr>
        <p:spPr>
          <a:xfrm>
            <a:off x="3721608" y="4379976"/>
            <a:ext cx="5120640" cy="310896"/>
          </a:xfrm>
          <a:prstGeom prst="rect">
            <a:avLst/>
          </a:prstGeom>
          <a:noFill/>
        </p:spPr>
        <p:txBody>
          <a:bodyPr wrap="square" lIns="45720" rIns="45720" tIns="18288" bIns="18288" anchor="t">
            <a:spAutoFit/>
          </a:bodyPr>
          <a:lstStyle/>
          <a:p>
            <a:pPr algn="l">
              <a:lnSpc>
                <a:spcPct val="100000"/>
              </a:lnSpc>
            </a:pPr>
            <a:r>
              <a:rPr sz="1300" b="0" i="0">
                <a:solidFill>
                  <a:srgbClr val="FFFFFF"/>
                </a:solidFill>
                <a:latin typeface="Courier New"/>
              </a:rPr>
              <a:t>kraken2 | bowtie2 | minimap2 | sylph | centrifuge</a:t>
            </a:r>
          </a:p>
        </p:txBody>
      </p:sp>
      <p:sp>
        <p:nvSpPr>
          <p:cNvPr id="22" name="TextBox 21"/>
          <p:cNvSpPr txBox="1"/>
          <p:nvPr/>
        </p:nvSpPr>
        <p:spPr>
          <a:xfrm>
            <a:off x="8842248" y="4379976"/>
            <a:ext cx="2553919" cy="566928"/>
          </a:xfrm>
          <a:prstGeom prst="rect">
            <a:avLst/>
          </a:prstGeom>
          <a:noFill/>
        </p:spPr>
        <p:txBody>
          <a:bodyPr wrap="square" lIns="45720" rIns="45720" tIns="18288" bIns="18288" anchor="ctr">
            <a:spAutoFit/>
          </a:bodyPr>
          <a:lstStyle/>
          <a:p>
            <a:pPr algn="l">
              <a:lnSpc>
                <a:spcPct val="106000"/>
              </a:lnSpc>
            </a:pPr>
            <a:r>
              <a:rPr sz="1100" b="0" i="1">
                <a:solidFill>
                  <a:srgbClr val="E0A99E"/>
                </a:solidFill>
                <a:latin typeface="Calibri"/>
              </a:rPr>
              <a:t>5 interchangeable backends</a:t>
            </a:r>
          </a:p>
        </p:txBody>
      </p:sp>
      <p:sp>
        <p:nvSpPr>
          <p:cNvPr id="23" name="TextBox 22"/>
          <p:cNvSpPr txBox="1"/>
          <p:nvPr/>
        </p:nvSpPr>
        <p:spPr>
          <a:xfrm>
            <a:off x="566928" y="5084064"/>
            <a:ext cx="11057839" cy="182880"/>
          </a:xfrm>
          <a:prstGeom prst="rect">
            <a:avLst/>
          </a:prstGeom>
          <a:noFill/>
        </p:spPr>
        <p:txBody>
          <a:bodyPr wrap="square" lIns="45720" rIns="45720" tIns="18288" bIns="18288" anchor="ctr">
            <a:spAutoFit/>
          </a:bodyPr>
          <a:lstStyle/>
          <a:p>
            <a:pPr algn="ctr">
              <a:lnSpc>
                <a:spcPct val="100000"/>
              </a:lnSpc>
            </a:pPr>
            <a:r>
              <a:rPr sz="1100" b="1" i="0">
                <a:solidFill>
                  <a:srgbClr val="8F3A2F"/>
                </a:solidFill>
                <a:latin typeface="Calibri"/>
              </a:rPr>
              <a:t>↓</a:t>
            </a:r>
          </a:p>
        </p:txBody>
      </p:sp>
      <p:sp>
        <p:nvSpPr>
          <p:cNvPr id="24" name="Rounded Rectangle 23"/>
          <p:cNvSpPr/>
          <p:nvPr/>
        </p:nvSpPr>
        <p:spPr>
          <a:xfrm>
            <a:off x="566928" y="5266944"/>
            <a:ext cx="11057839" cy="786384"/>
          </a:xfrm>
          <a:prstGeom prst="roundRect">
            <a:avLst>
              <a:gd name="adj" fmla="val 8000"/>
            </a:avLst>
          </a:prstGeom>
          <a:solidFill>
            <a:srgbClr val="403A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22960" y="5358383"/>
            <a:ext cx="2788920" cy="292608"/>
          </a:xfrm>
          <a:prstGeom prst="rect">
            <a:avLst/>
          </a:prstGeom>
          <a:noFill/>
        </p:spPr>
        <p:txBody>
          <a:bodyPr wrap="square" lIns="45720" rIns="45720" tIns="18288" bIns="18288" anchor="t">
            <a:spAutoFit/>
          </a:bodyPr>
          <a:lstStyle/>
          <a:p>
            <a:pPr algn="l">
              <a:lnSpc>
                <a:spcPct val="100000"/>
              </a:lnSpc>
            </a:pPr>
            <a:r>
              <a:rPr sz="1500" b="1" i="0">
                <a:solidFill>
                  <a:srgbClr val="FFFFFF"/>
                </a:solidFill>
                <a:latin typeface="Calibri"/>
              </a:rPr>
              <a:t>5  Validation gate</a:t>
            </a:r>
          </a:p>
        </p:txBody>
      </p:sp>
      <p:sp>
        <p:nvSpPr>
          <p:cNvPr id="26" name="TextBox 25"/>
          <p:cNvSpPr txBox="1"/>
          <p:nvPr/>
        </p:nvSpPr>
        <p:spPr>
          <a:xfrm>
            <a:off x="3721608" y="5349240"/>
            <a:ext cx="5120640" cy="310896"/>
          </a:xfrm>
          <a:prstGeom prst="rect">
            <a:avLst/>
          </a:prstGeom>
          <a:noFill/>
        </p:spPr>
        <p:txBody>
          <a:bodyPr wrap="square" lIns="45720" rIns="45720" tIns="18288" bIns="18288" anchor="t">
            <a:spAutoFit/>
          </a:bodyPr>
          <a:lstStyle/>
          <a:p>
            <a:pPr algn="l">
              <a:lnSpc>
                <a:spcPct val="100000"/>
              </a:lnSpc>
            </a:pPr>
            <a:r>
              <a:rPr sz="1300" b="0" i="0">
                <a:solidFill>
                  <a:srgbClr val="FFFFFF"/>
                </a:solidFill>
                <a:latin typeface="Courier New"/>
              </a:rPr>
              <a:t>output size + residual contamination assertions</a:t>
            </a:r>
          </a:p>
        </p:txBody>
      </p:sp>
      <p:sp>
        <p:nvSpPr>
          <p:cNvPr id="27" name="TextBox 26"/>
          <p:cNvSpPr txBox="1"/>
          <p:nvPr/>
        </p:nvSpPr>
        <p:spPr>
          <a:xfrm>
            <a:off x="8842248" y="5349240"/>
            <a:ext cx="2553919" cy="566928"/>
          </a:xfrm>
          <a:prstGeom prst="rect">
            <a:avLst/>
          </a:prstGeom>
          <a:noFill/>
        </p:spPr>
        <p:txBody>
          <a:bodyPr wrap="square" lIns="45720" rIns="45720" tIns="18288" bIns="18288" anchor="ctr">
            <a:spAutoFit/>
          </a:bodyPr>
          <a:lstStyle/>
          <a:p>
            <a:pPr algn="l">
              <a:lnSpc>
                <a:spcPct val="106000"/>
              </a:lnSpc>
            </a:pPr>
            <a:r>
              <a:rPr sz="1100" b="0" i="1">
                <a:solidFill>
                  <a:srgbClr val="C9C1BA"/>
                </a:solidFill>
                <a:latin typeface="Calibri"/>
              </a:rPr>
              <a:t>output promoted only if it passes</a:t>
            </a:r>
          </a:p>
        </p:txBody>
      </p:sp>
      <p:sp>
        <p:nvSpPr>
          <p:cNvPr id="28" name="Rectangle 27"/>
          <p:cNvSpPr/>
          <p:nvPr/>
        </p:nvSpPr>
        <p:spPr>
          <a:xfrm>
            <a:off x="566928" y="6272784"/>
            <a:ext cx="11057839" cy="0"/>
          </a:xfrm>
          <a:prstGeom prst="rect">
            <a:avLst/>
          </a:prstGeom>
          <a:solidFill>
            <a:srgbClr val="DE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66928" y="6144768"/>
            <a:ext cx="11057839" cy="310896"/>
          </a:xfrm>
          <a:prstGeom prst="rect">
            <a:avLst/>
          </a:prstGeom>
          <a:noFill/>
        </p:spPr>
        <p:txBody>
          <a:bodyPr wrap="square" lIns="45720" rIns="45720" tIns="18288" bIns="18288" anchor="t">
            <a:spAutoFit/>
          </a:bodyPr>
          <a:lstStyle/>
          <a:p>
            <a:pPr algn="l">
              <a:lnSpc>
                <a:spcPct val="100000"/>
              </a:lnSpc>
            </a:pPr>
            <a:r>
              <a:rPr sz="1250" b="0" i="1">
                <a:solidFill>
                  <a:srgbClr val="7A736C"/>
                </a:solidFill>
                <a:latin typeface="Calibri"/>
              </a:rPr>
              <a:t>Stages 1 and 2 are optional; stages 3–5 always run. Every stage transition is recorded in a per-sample checkpoint.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CODE · 2,521 LINES OF RUST, 9 MODULES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Code structure</a:t>
            </a:r>
          </a:p>
        </p:txBody>
      </p:sp>
      <p:sp>
        <p:nvSpPr>
          <p:cNvPr id="4" name="Rounded Rectangle 3"/>
          <p:cNvSpPr/>
          <p:nvPr/>
        </p:nvSpPr>
        <p:spPr>
          <a:xfrm>
            <a:off x="566928" y="1426464"/>
            <a:ext cx="2599867" cy="1737360"/>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49808" y="1609344"/>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8F3A2F"/>
                </a:solidFill>
                <a:latin typeface="Courier New"/>
              </a:rPr>
              <a:t>pipeline.rs</a:t>
            </a:r>
          </a:p>
        </p:txBody>
      </p:sp>
      <p:sp>
        <p:nvSpPr>
          <p:cNvPr id="6" name="TextBox 5"/>
          <p:cNvSpPr txBox="1"/>
          <p:nvPr/>
        </p:nvSpPr>
        <p:spPr>
          <a:xfrm>
            <a:off x="749808" y="1920240"/>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1402 lines</a:t>
            </a:r>
          </a:p>
        </p:txBody>
      </p:sp>
      <p:sp>
        <p:nvSpPr>
          <p:cNvPr id="7" name="TextBox 6"/>
          <p:cNvSpPr txBox="1"/>
          <p:nvPr/>
        </p:nvSpPr>
        <p:spPr>
          <a:xfrm>
            <a:off x="749808" y="2212848"/>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Stage machine, all 5 backends,</a:t>
            </a:r>
          </a:p>
          <a:p>
            <a:pPr algn="l">
              <a:lnSpc>
                <a:spcPct val="112000"/>
              </a:lnSpc>
            </a:pPr>
            <a:r>
              <a:rPr sz="1200" b="0" i="0">
                <a:solidFill>
                  <a:srgbClr val="7A736C"/>
                </a:solidFill>
                <a:latin typeface="Calibri"/>
              </a:rPr>
              <a:t>survey, routing, metrics</a:t>
            </a:r>
          </a:p>
        </p:txBody>
      </p:sp>
      <p:sp>
        <p:nvSpPr>
          <p:cNvPr id="8" name="Rounded Rectangle 7"/>
          <p:cNvSpPr/>
          <p:nvPr/>
        </p:nvSpPr>
        <p:spPr>
          <a:xfrm>
            <a:off x="3386251" y="1426464"/>
            <a:ext cx="2599867" cy="1737360"/>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69131" y="1609344"/>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ourier New"/>
              </a:rPr>
              <a:t>main.rs</a:t>
            </a:r>
          </a:p>
        </p:txBody>
      </p:sp>
      <p:sp>
        <p:nvSpPr>
          <p:cNvPr id="10" name="TextBox 9"/>
          <p:cNvSpPr txBox="1"/>
          <p:nvPr/>
        </p:nvSpPr>
        <p:spPr>
          <a:xfrm>
            <a:off x="3569131" y="1920240"/>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314 lines</a:t>
            </a:r>
          </a:p>
        </p:txBody>
      </p:sp>
      <p:sp>
        <p:nvSpPr>
          <p:cNvPr id="11" name="TextBox 10"/>
          <p:cNvSpPr txBox="1"/>
          <p:nvPr/>
        </p:nvSpPr>
        <p:spPr>
          <a:xfrm>
            <a:off x="3569131" y="2212848"/>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Config wiring, pre-flight</a:t>
            </a:r>
          </a:p>
          <a:p>
            <a:pPr algn="l">
              <a:lnSpc>
                <a:spcPct val="112000"/>
              </a:lnSpc>
            </a:pPr>
            <a:r>
              <a:rPr sz="1200" b="0" i="0">
                <a:solidFill>
                  <a:srgbClr val="7A736C"/>
                </a:solidFill>
                <a:latin typeface="Calibri"/>
              </a:rPr>
              <a:t>checks, run summary</a:t>
            </a:r>
          </a:p>
        </p:txBody>
      </p:sp>
      <p:sp>
        <p:nvSpPr>
          <p:cNvPr id="12" name="Rounded Rectangle 11"/>
          <p:cNvSpPr/>
          <p:nvPr/>
        </p:nvSpPr>
        <p:spPr>
          <a:xfrm>
            <a:off x="6205575" y="1426464"/>
            <a:ext cx="2599867" cy="1737360"/>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88455" y="1609344"/>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8F3A2F"/>
                </a:solidFill>
                <a:latin typeface="Courier New"/>
              </a:rPr>
              <a:t>worker.rs</a:t>
            </a:r>
          </a:p>
        </p:txBody>
      </p:sp>
      <p:sp>
        <p:nvSpPr>
          <p:cNvPr id="14" name="TextBox 13"/>
          <p:cNvSpPr txBox="1"/>
          <p:nvPr/>
        </p:nvSpPr>
        <p:spPr>
          <a:xfrm>
            <a:off x="6388455" y="1920240"/>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215 lines</a:t>
            </a:r>
          </a:p>
        </p:txBody>
      </p:sp>
      <p:sp>
        <p:nvSpPr>
          <p:cNvPr id="15" name="TextBox 14"/>
          <p:cNvSpPr txBox="1"/>
          <p:nvPr/>
        </p:nvSpPr>
        <p:spPr>
          <a:xfrm>
            <a:off x="6388455" y="2212848"/>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Async worker pool, retry,</a:t>
            </a:r>
          </a:p>
          <a:p>
            <a:pPr algn="l">
              <a:lnSpc>
                <a:spcPct val="112000"/>
              </a:lnSpc>
            </a:pPr>
            <a:r>
              <a:rPr sz="1200" b="0" i="0">
                <a:solidFill>
                  <a:srgbClr val="7A736C"/>
                </a:solidFill>
                <a:latin typeface="Calibri"/>
              </a:rPr>
              <a:t>cancellation, progress</a:t>
            </a:r>
          </a:p>
        </p:txBody>
      </p:sp>
      <p:sp>
        <p:nvSpPr>
          <p:cNvPr id="16" name="Rounded Rectangle 15"/>
          <p:cNvSpPr/>
          <p:nvPr/>
        </p:nvSpPr>
        <p:spPr>
          <a:xfrm>
            <a:off x="9024899" y="1426464"/>
            <a:ext cx="2599867" cy="1737360"/>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07779" y="1609344"/>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ourier New"/>
              </a:rPr>
              <a:t>config.rs</a:t>
            </a:r>
          </a:p>
        </p:txBody>
      </p:sp>
      <p:sp>
        <p:nvSpPr>
          <p:cNvPr id="18" name="TextBox 17"/>
          <p:cNvSpPr txBox="1"/>
          <p:nvPr/>
        </p:nvSpPr>
        <p:spPr>
          <a:xfrm>
            <a:off x="9207779" y="1920240"/>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180 lines</a:t>
            </a:r>
          </a:p>
        </p:txBody>
      </p:sp>
      <p:sp>
        <p:nvSpPr>
          <p:cNvPr id="19" name="TextBox 18"/>
          <p:cNvSpPr txBox="1"/>
          <p:nvPr/>
        </p:nvSpPr>
        <p:spPr>
          <a:xfrm>
            <a:off x="9207779" y="2212848"/>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TOML config, defaults,</a:t>
            </a:r>
          </a:p>
          <a:p>
            <a:pPr algn="l">
              <a:lnSpc>
                <a:spcPct val="112000"/>
              </a:lnSpc>
            </a:pPr>
            <a:r>
              <a:rPr sz="1200" b="0" i="0">
                <a:solidFill>
                  <a:srgbClr val="7A736C"/>
                </a:solidFill>
                <a:latin typeface="Calibri"/>
              </a:rPr>
              <a:t>CLI overrides</a:t>
            </a:r>
          </a:p>
        </p:txBody>
      </p:sp>
      <p:sp>
        <p:nvSpPr>
          <p:cNvPr id="20" name="Rounded Rectangle 19"/>
          <p:cNvSpPr/>
          <p:nvPr/>
        </p:nvSpPr>
        <p:spPr>
          <a:xfrm>
            <a:off x="566928" y="3383279"/>
            <a:ext cx="2599867" cy="1737360"/>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49808" y="3566160"/>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ourier New"/>
              </a:rPr>
              <a:t>sample.rs</a:t>
            </a:r>
          </a:p>
        </p:txBody>
      </p:sp>
      <p:sp>
        <p:nvSpPr>
          <p:cNvPr id="22" name="TextBox 21"/>
          <p:cNvSpPr txBox="1"/>
          <p:nvPr/>
        </p:nvSpPr>
        <p:spPr>
          <a:xfrm>
            <a:off x="749808" y="3877056"/>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133 lines</a:t>
            </a:r>
          </a:p>
        </p:txBody>
      </p:sp>
      <p:sp>
        <p:nvSpPr>
          <p:cNvPr id="23" name="TextBox 22"/>
          <p:cNvSpPr txBox="1"/>
          <p:nvPr/>
        </p:nvSpPr>
        <p:spPr>
          <a:xfrm>
            <a:off x="749808" y="4169663"/>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Manifest parsing, SE/PE</a:t>
            </a:r>
          </a:p>
          <a:p>
            <a:pPr algn="l">
              <a:lnSpc>
                <a:spcPct val="112000"/>
              </a:lnSpc>
            </a:pPr>
            <a:r>
              <a:rPr sz="1200" b="0" i="0">
                <a:solidFill>
                  <a:srgbClr val="7A736C"/>
                </a:solidFill>
                <a:latin typeface="Calibri"/>
              </a:rPr>
              <a:t>detection, input fingerprint</a:t>
            </a:r>
          </a:p>
        </p:txBody>
      </p:sp>
      <p:sp>
        <p:nvSpPr>
          <p:cNvPr id="24" name="Rounded Rectangle 23"/>
          <p:cNvSpPr/>
          <p:nvPr/>
        </p:nvSpPr>
        <p:spPr>
          <a:xfrm>
            <a:off x="3386251" y="3383279"/>
            <a:ext cx="2599867" cy="1737360"/>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569131" y="3566160"/>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ourier New"/>
              </a:rPr>
              <a:t>cli.rs</a:t>
            </a:r>
          </a:p>
        </p:txBody>
      </p:sp>
      <p:sp>
        <p:nvSpPr>
          <p:cNvPr id="26" name="TextBox 25"/>
          <p:cNvSpPr txBox="1"/>
          <p:nvPr/>
        </p:nvSpPr>
        <p:spPr>
          <a:xfrm>
            <a:off x="3569131" y="3877056"/>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131 lines</a:t>
            </a:r>
          </a:p>
        </p:txBody>
      </p:sp>
      <p:sp>
        <p:nvSpPr>
          <p:cNvPr id="27" name="TextBox 26"/>
          <p:cNvSpPr txBox="1"/>
          <p:nvPr/>
        </p:nvSpPr>
        <p:spPr>
          <a:xfrm>
            <a:off x="3569131" y="4169663"/>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24 flags incl. auto-mode</a:t>
            </a:r>
          </a:p>
          <a:p>
            <a:pPr algn="l">
              <a:lnSpc>
                <a:spcPct val="112000"/>
              </a:lnSpc>
            </a:pPr>
            <a:r>
              <a:rPr sz="1200" b="0" i="0">
                <a:solidFill>
                  <a:srgbClr val="7A736C"/>
                </a:solidFill>
                <a:latin typeface="Calibri"/>
              </a:rPr>
              <a:t>thresholds</a:t>
            </a:r>
          </a:p>
        </p:txBody>
      </p:sp>
      <p:sp>
        <p:nvSpPr>
          <p:cNvPr id="28" name="Rounded Rectangle 27"/>
          <p:cNvSpPr/>
          <p:nvPr/>
        </p:nvSpPr>
        <p:spPr>
          <a:xfrm>
            <a:off x="6205575" y="3383279"/>
            <a:ext cx="2599867" cy="1737360"/>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388455" y="3566160"/>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8F3A2F"/>
                </a:solidFill>
                <a:latin typeface="Courier New"/>
              </a:rPr>
              <a:t>checkpoint.rs</a:t>
            </a:r>
          </a:p>
        </p:txBody>
      </p:sp>
      <p:sp>
        <p:nvSpPr>
          <p:cNvPr id="30" name="TextBox 29"/>
          <p:cNvSpPr txBox="1"/>
          <p:nvPr/>
        </p:nvSpPr>
        <p:spPr>
          <a:xfrm>
            <a:off x="6388455" y="3877056"/>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113 lines</a:t>
            </a:r>
          </a:p>
        </p:txBody>
      </p:sp>
      <p:sp>
        <p:nvSpPr>
          <p:cNvPr id="31" name="TextBox 30"/>
          <p:cNvSpPr txBox="1"/>
          <p:nvPr/>
        </p:nvSpPr>
        <p:spPr>
          <a:xfrm>
            <a:off x="6388455" y="4169663"/>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Atomic versioned JSON</a:t>
            </a:r>
          </a:p>
          <a:p>
            <a:pPr algn="l">
              <a:lnSpc>
                <a:spcPct val="112000"/>
              </a:lnSpc>
            </a:pPr>
            <a:r>
              <a:rPr sz="1200" b="0" i="0">
                <a:solidFill>
                  <a:srgbClr val="7A736C"/>
                </a:solidFill>
                <a:latin typeface="Calibri"/>
              </a:rPr>
              <a:t>checkpoint store</a:t>
            </a:r>
          </a:p>
        </p:txBody>
      </p:sp>
      <p:sp>
        <p:nvSpPr>
          <p:cNvPr id="32" name="Rounded Rectangle 31"/>
          <p:cNvSpPr/>
          <p:nvPr/>
        </p:nvSpPr>
        <p:spPr>
          <a:xfrm>
            <a:off x="9024899" y="3383279"/>
            <a:ext cx="2599867" cy="1737360"/>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207779" y="3566160"/>
            <a:ext cx="2234107" cy="274320"/>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ourier New"/>
              </a:rPr>
              <a:t>error.rs / lib.rs</a:t>
            </a:r>
          </a:p>
        </p:txBody>
      </p:sp>
      <p:sp>
        <p:nvSpPr>
          <p:cNvPr id="34" name="TextBox 33"/>
          <p:cNvSpPr txBox="1"/>
          <p:nvPr/>
        </p:nvSpPr>
        <p:spPr>
          <a:xfrm>
            <a:off x="9207779" y="3877056"/>
            <a:ext cx="2234107" cy="237744"/>
          </a:xfrm>
          <a:prstGeom prst="rect">
            <a:avLst/>
          </a:prstGeom>
          <a:noFill/>
        </p:spPr>
        <p:txBody>
          <a:bodyPr wrap="square" lIns="45720" rIns="45720" tIns="18288" bIns="18288" anchor="t">
            <a:spAutoFit/>
          </a:bodyPr>
          <a:lstStyle/>
          <a:p>
            <a:pPr algn="l">
              <a:lnSpc>
                <a:spcPct val="100000"/>
              </a:lnSpc>
            </a:pPr>
            <a:r>
              <a:rPr sz="1100" b="0" i="0">
                <a:solidFill>
                  <a:srgbClr val="7A736C"/>
                </a:solidFill>
                <a:latin typeface="Calibri"/>
              </a:rPr>
              <a:t>33 lines</a:t>
            </a:r>
          </a:p>
        </p:txBody>
      </p:sp>
      <p:sp>
        <p:nvSpPr>
          <p:cNvPr id="35" name="TextBox 34"/>
          <p:cNvSpPr txBox="1"/>
          <p:nvPr/>
        </p:nvSpPr>
        <p:spPr>
          <a:xfrm>
            <a:off x="9207779" y="4169663"/>
            <a:ext cx="2234107" cy="841248"/>
          </a:xfrm>
          <a:prstGeom prst="rect">
            <a:avLst/>
          </a:prstGeom>
          <a:noFill/>
        </p:spPr>
        <p:txBody>
          <a:bodyPr wrap="square" lIns="45720" rIns="45720" tIns="18288" bIns="18288" anchor="t">
            <a:spAutoFit/>
          </a:bodyPr>
          <a:lstStyle/>
          <a:p>
            <a:pPr algn="l">
              <a:lnSpc>
                <a:spcPct val="112000"/>
              </a:lnSpc>
            </a:pPr>
            <a:r>
              <a:rPr sz="1200" b="0" i="0">
                <a:solidFill>
                  <a:srgbClr val="7A736C"/>
                </a:solidFill>
                <a:latin typeface="Calibri"/>
              </a:rPr>
              <a:t>Typed error taxonomy,</a:t>
            </a:r>
          </a:p>
          <a:p>
            <a:pPr algn="l">
              <a:lnSpc>
                <a:spcPct val="112000"/>
              </a:lnSpc>
            </a:pPr>
            <a:r>
              <a:rPr sz="1200" b="0" i="0">
                <a:solidFill>
                  <a:srgbClr val="7A736C"/>
                </a:solidFill>
                <a:latin typeface="Calibri"/>
              </a:rPr>
              <a:t>crate root</a:t>
            </a:r>
          </a:p>
        </p:txBody>
      </p:sp>
      <p:sp>
        <p:nvSpPr>
          <p:cNvPr id="36" name="Rounded Rectangle 35"/>
          <p:cNvSpPr/>
          <p:nvPr/>
        </p:nvSpPr>
        <p:spPr>
          <a:xfrm>
            <a:off x="566928" y="5358384"/>
            <a:ext cx="11057839" cy="786384"/>
          </a:xfrm>
          <a:prstGeom prst="roundRect">
            <a:avLst>
              <a:gd name="adj" fmla="val 6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66928" y="5431536"/>
            <a:ext cx="2764459" cy="420624"/>
          </a:xfrm>
          <a:prstGeom prst="rect">
            <a:avLst/>
          </a:prstGeom>
          <a:noFill/>
        </p:spPr>
        <p:txBody>
          <a:bodyPr wrap="square" lIns="45720" rIns="45720" tIns="18288" bIns="18288" anchor="t">
            <a:spAutoFit/>
          </a:bodyPr>
          <a:lstStyle/>
          <a:p>
            <a:pPr algn="ctr">
              <a:lnSpc>
                <a:spcPct val="100000"/>
              </a:lnSpc>
            </a:pPr>
            <a:r>
              <a:rPr sz="2100" b="1" i="0">
                <a:solidFill>
                  <a:srgbClr val="E0A99E"/>
                </a:solidFill>
                <a:latin typeface="Cambria"/>
              </a:rPr>
              <a:t>2,521</a:t>
            </a:r>
          </a:p>
        </p:txBody>
      </p:sp>
      <p:sp>
        <p:nvSpPr>
          <p:cNvPr id="38" name="TextBox 37"/>
          <p:cNvSpPr txBox="1"/>
          <p:nvPr/>
        </p:nvSpPr>
        <p:spPr>
          <a:xfrm>
            <a:off x="566928" y="5870448"/>
            <a:ext cx="2764459" cy="256032"/>
          </a:xfrm>
          <a:prstGeom prst="rect">
            <a:avLst/>
          </a:prstGeom>
          <a:noFill/>
        </p:spPr>
        <p:txBody>
          <a:bodyPr wrap="square" lIns="45720" rIns="45720" tIns="18288" bIns="18288" anchor="t">
            <a:spAutoFit/>
          </a:bodyPr>
          <a:lstStyle/>
          <a:p>
            <a:pPr algn="ctr">
              <a:lnSpc>
                <a:spcPct val="100000"/>
              </a:lnSpc>
            </a:pPr>
            <a:r>
              <a:rPr sz="1150" b="0" i="0">
                <a:solidFill>
                  <a:srgbClr val="A7BEAE"/>
                </a:solidFill>
                <a:latin typeface="Calibri"/>
              </a:rPr>
              <a:t>lines of Rust</a:t>
            </a:r>
          </a:p>
        </p:txBody>
      </p:sp>
      <p:sp>
        <p:nvSpPr>
          <p:cNvPr id="39" name="TextBox 38"/>
          <p:cNvSpPr txBox="1"/>
          <p:nvPr/>
        </p:nvSpPr>
        <p:spPr>
          <a:xfrm>
            <a:off x="3331387" y="5431536"/>
            <a:ext cx="2764459" cy="420624"/>
          </a:xfrm>
          <a:prstGeom prst="rect">
            <a:avLst/>
          </a:prstGeom>
          <a:noFill/>
        </p:spPr>
        <p:txBody>
          <a:bodyPr wrap="square" lIns="45720" rIns="45720" tIns="18288" bIns="18288" anchor="t">
            <a:spAutoFit/>
          </a:bodyPr>
          <a:lstStyle/>
          <a:p>
            <a:pPr algn="ctr">
              <a:lnSpc>
                <a:spcPct val="100000"/>
              </a:lnSpc>
            </a:pPr>
            <a:r>
              <a:rPr sz="2100" b="1" i="0">
                <a:solidFill>
                  <a:srgbClr val="E0A99E"/>
                </a:solidFill>
                <a:latin typeface="Cambria"/>
              </a:rPr>
              <a:t>9</a:t>
            </a:r>
          </a:p>
        </p:txBody>
      </p:sp>
      <p:sp>
        <p:nvSpPr>
          <p:cNvPr id="40" name="TextBox 39"/>
          <p:cNvSpPr txBox="1"/>
          <p:nvPr/>
        </p:nvSpPr>
        <p:spPr>
          <a:xfrm>
            <a:off x="3331387" y="5870448"/>
            <a:ext cx="2764459" cy="256032"/>
          </a:xfrm>
          <a:prstGeom prst="rect">
            <a:avLst/>
          </a:prstGeom>
          <a:noFill/>
        </p:spPr>
        <p:txBody>
          <a:bodyPr wrap="square" lIns="45720" rIns="45720" tIns="18288" bIns="18288" anchor="t">
            <a:spAutoFit/>
          </a:bodyPr>
          <a:lstStyle/>
          <a:p>
            <a:pPr algn="ctr">
              <a:lnSpc>
                <a:spcPct val="100000"/>
              </a:lnSpc>
            </a:pPr>
            <a:r>
              <a:rPr sz="1150" b="0" i="0">
                <a:solidFill>
                  <a:srgbClr val="A7BEAE"/>
                </a:solidFill>
                <a:latin typeface="Calibri"/>
              </a:rPr>
              <a:t>modules</a:t>
            </a:r>
          </a:p>
        </p:txBody>
      </p:sp>
      <p:sp>
        <p:nvSpPr>
          <p:cNvPr id="41" name="TextBox 40"/>
          <p:cNvSpPr txBox="1"/>
          <p:nvPr/>
        </p:nvSpPr>
        <p:spPr>
          <a:xfrm>
            <a:off x="6095847" y="5431536"/>
            <a:ext cx="2764459" cy="420624"/>
          </a:xfrm>
          <a:prstGeom prst="rect">
            <a:avLst/>
          </a:prstGeom>
          <a:noFill/>
        </p:spPr>
        <p:txBody>
          <a:bodyPr wrap="square" lIns="45720" rIns="45720" tIns="18288" bIns="18288" anchor="t">
            <a:spAutoFit/>
          </a:bodyPr>
          <a:lstStyle/>
          <a:p>
            <a:pPr algn="ctr">
              <a:lnSpc>
                <a:spcPct val="100000"/>
              </a:lnSpc>
            </a:pPr>
            <a:r>
              <a:rPr sz="2100" b="1" i="0">
                <a:solidFill>
                  <a:srgbClr val="E0A99E"/>
                </a:solidFill>
                <a:latin typeface="Cambria"/>
              </a:rPr>
              <a:t>5</a:t>
            </a:r>
          </a:p>
        </p:txBody>
      </p:sp>
      <p:sp>
        <p:nvSpPr>
          <p:cNvPr id="42" name="TextBox 41"/>
          <p:cNvSpPr txBox="1"/>
          <p:nvPr/>
        </p:nvSpPr>
        <p:spPr>
          <a:xfrm>
            <a:off x="6095847" y="5870448"/>
            <a:ext cx="2764459" cy="256032"/>
          </a:xfrm>
          <a:prstGeom prst="rect">
            <a:avLst/>
          </a:prstGeom>
          <a:noFill/>
        </p:spPr>
        <p:txBody>
          <a:bodyPr wrap="square" lIns="45720" rIns="45720" tIns="18288" bIns="18288" anchor="t">
            <a:spAutoFit/>
          </a:bodyPr>
          <a:lstStyle/>
          <a:p>
            <a:pPr algn="ctr">
              <a:lnSpc>
                <a:spcPct val="100000"/>
              </a:lnSpc>
            </a:pPr>
            <a:r>
              <a:rPr sz="1150" b="0" i="0">
                <a:solidFill>
                  <a:srgbClr val="A7BEAE"/>
                </a:solidFill>
                <a:latin typeface="Calibri"/>
              </a:rPr>
              <a:t>depletion backends</a:t>
            </a:r>
          </a:p>
        </p:txBody>
      </p:sp>
      <p:sp>
        <p:nvSpPr>
          <p:cNvPr id="43" name="TextBox 42"/>
          <p:cNvSpPr txBox="1"/>
          <p:nvPr/>
        </p:nvSpPr>
        <p:spPr>
          <a:xfrm>
            <a:off x="8860307" y="5431536"/>
            <a:ext cx="2764459" cy="420624"/>
          </a:xfrm>
          <a:prstGeom prst="rect">
            <a:avLst/>
          </a:prstGeom>
          <a:noFill/>
        </p:spPr>
        <p:txBody>
          <a:bodyPr wrap="square" lIns="45720" rIns="45720" tIns="18288" bIns="18288" anchor="t">
            <a:spAutoFit/>
          </a:bodyPr>
          <a:lstStyle/>
          <a:p>
            <a:pPr algn="ctr">
              <a:lnSpc>
                <a:spcPct val="100000"/>
              </a:lnSpc>
            </a:pPr>
            <a:r>
              <a:rPr sz="2100" b="1" i="0">
                <a:solidFill>
                  <a:srgbClr val="E0A99E"/>
                </a:solidFill>
                <a:latin typeface="Cambria"/>
              </a:rPr>
              <a:t>24</a:t>
            </a:r>
          </a:p>
        </p:txBody>
      </p:sp>
      <p:sp>
        <p:nvSpPr>
          <p:cNvPr id="44" name="TextBox 43"/>
          <p:cNvSpPr txBox="1"/>
          <p:nvPr/>
        </p:nvSpPr>
        <p:spPr>
          <a:xfrm>
            <a:off x="8860307" y="5870448"/>
            <a:ext cx="2764459" cy="256032"/>
          </a:xfrm>
          <a:prstGeom prst="rect">
            <a:avLst/>
          </a:prstGeom>
          <a:noFill/>
        </p:spPr>
        <p:txBody>
          <a:bodyPr wrap="square" lIns="45720" rIns="45720" tIns="18288" bIns="18288" anchor="t">
            <a:spAutoFit/>
          </a:bodyPr>
          <a:lstStyle/>
          <a:p>
            <a:pPr algn="ctr">
              <a:lnSpc>
                <a:spcPct val="100000"/>
              </a:lnSpc>
            </a:pPr>
            <a:r>
              <a:rPr sz="1150" b="0" i="0">
                <a:solidFill>
                  <a:srgbClr val="A7BEAE"/>
                </a:solidFill>
                <a:latin typeface="Calibri"/>
              </a:rPr>
              <a:t>CLI flags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CODE · PIPELINE.RS :: CHOOSE_AUTO_BACKEND</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Adaptive backend routing</a:t>
            </a:r>
          </a:p>
        </p:txBody>
      </p:sp>
      <p:sp>
        <p:nvSpPr>
          <p:cNvPr id="4" name="Rounded Rectangle 3"/>
          <p:cNvSpPr/>
          <p:nvPr/>
        </p:nvSpPr>
        <p:spPr>
          <a:xfrm>
            <a:off x="566928" y="1389888"/>
            <a:ext cx="6400800" cy="2103120"/>
          </a:xfrm>
          <a:prstGeom prst="roundRect">
            <a:avLst>
              <a:gd name="adj" fmla="val 5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04672" y="1517904"/>
            <a:ext cx="5943600" cy="1847088"/>
          </a:xfrm>
          <a:prstGeom prst="rect">
            <a:avLst/>
          </a:prstGeom>
          <a:noFill/>
        </p:spPr>
        <p:txBody>
          <a:bodyPr wrap="square" lIns="45720" rIns="45720" tIns="18288" bIns="18288" anchor="t">
            <a:spAutoFit/>
          </a:bodyPr>
          <a:lstStyle/>
          <a:p>
            <a:pPr algn="l">
              <a:lnSpc>
                <a:spcPct val="116000"/>
              </a:lnSpc>
            </a:pPr>
            <a:r>
              <a:rPr sz="1100" b="0" i="0">
                <a:solidFill>
                  <a:srgbClr val="A7BEAE"/>
                </a:solidFill>
                <a:latin typeface="Courier New"/>
              </a:rPr>
              <a:t>if host_pct &lt; low_threshold {          // default 10 %</a:t>
            </a:r>
          </a:p>
          <a:p>
            <a:pPr algn="l">
              <a:lnSpc>
                <a:spcPct val="116000"/>
              </a:lnSpc>
            </a:pPr>
            <a:r>
              <a:rPr sz="1100" b="0" i="0">
                <a:solidFill>
                  <a:srgbClr val="A7BEAE"/>
                </a:solidFill>
                <a:latin typeface="Courier New"/>
              </a:rPr>
              <a:t>    "bowtie2"</a:t>
            </a:r>
          </a:p>
          <a:p>
            <a:pPr algn="l">
              <a:lnSpc>
                <a:spcPct val="116000"/>
              </a:lnSpc>
            </a:pPr>
            <a:r>
              <a:rPr sz="1100" b="0" i="0">
                <a:solidFill>
                  <a:srgbClr val="A7BEAE"/>
                </a:solidFill>
                <a:latin typeface="Courier New"/>
              </a:rPr>
              <a:t>} else if host_pct &gt; high_threshold    // default 30 %</a:t>
            </a:r>
          </a:p>
          <a:p>
            <a:pPr algn="l">
              <a:lnSpc>
                <a:spcPct val="116000"/>
              </a:lnSpc>
            </a:pPr>
            <a:r>
              <a:rPr sz="1100" b="0" i="0">
                <a:solidFill>
                  <a:srgbClr val="A7BEAE"/>
                </a:solidFill>
                <a:latin typeface="Courier New"/>
              </a:rPr>
              <a:t>       &amp;&amp; input_reads &gt; reads_threshold  // default 20 M</a:t>
            </a:r>
          </a:p>
          <a:p>
            <a:pPr algn="l">
              <a:lnSpc>
                <a:spcPct val="116000"/>
              </a:lnSpc>
            </a:pPr>
            <a:r>
              <a:rPr sz="1100" b="0" i="0">
                <a:solidFill>
                  <a:srgbClr val="A7BEAE"/>
                </a:solidFill>
                <a:latin typeface="Courier New"/>
              </a:rPr>
              <a:t>{   "kraken2"</a:t>
            </a:r>
          </a:p>
          <a:p>
            <a:pPr algn="l">
              <a:lnSpc>
                <a:spcPct val="116000"/>
              </a:lnSpc>
            </a:pPr>
            <a:r>
              <a:rPr sz="1100" b="0" i="0">
                <a:solidFill>
                  <a:srgbClr val="A7BEAE"/>
                </a:solidFill>
                <a:latin typeface="Courier New"/>
              </a:rPr>
              <a:t>} else {</a:t>
            </a:r>
          </a:p>
          <a:p>
            <a:pPr algn="l">
              <a:lnSpc>
                <a:spcPct val="116000"/>
              </a:lnSpc>
            </a:pPr>
            <a:r>
              <a:rPr sz="1100" b="0" i="0">
                <a:solidFill>
                  <a:srgbClr val="A7BEAE"/>
                </a:solidFill>
                <a:latin typeface="Courier New"/>
              </a:rPr>
              <a:t>    "bowtie2"      // conservative default</a:t>
            </a:r>
          </a:p>
          <a:p>
            <a:pPr algn="l">
              <a:lnSpc>
                <a:spcPct val="116000"/>
              </a:lnSpc>
            </a:pPr>
            <a:r>
              <a:rPr sz="1100" b="0" i="0">
                <a:solidFill>
                  <a:srgbClr val="A7BEAE"/>
                </a:solidFill>
                <a:latin typeface="Courier New"/>
              </a:rPr>
              <a:t>}</a:t>
            </a:r>
          </a:p>
        </p:txBody>
      </p:sp>
      <p:sp>
        <p:nvSpPr>
          <p:cNvPr id="6" name="TextBox 5"/>
          <p:cNvSpPr txBox="1"/>
          <p:nvPr/>
        </p:nvSpPr>
        <p:spPr>
          <a:xfrm>
            <a:off x="7223760" y="1389888"/>
            <a:ext cx="4401007" cy="310896"/>
          </a:xfrm>
          <a:prstGeom prst="rect">
            <a:avLst/>
          </a:prstGeom>
          <a:noFill/>
        </p:spPr>
        <p:txBody>
          <a:bodyPr wrap="square" lIns="45720" rIns="45720" tIns="18288" bIns="18288" anchor="t">
            <a:spAutoFit/>
          </a:bodyPr>
          <a:lstStyle/>
          <a:p>
            <a:pPr algn="l">
              <a:lnSpc>
                <a:spcPct val="100000"/>
              </a:lnSpc>
            </a:pPr>
            <a:r>
              <a:rPr sz="1700" b="1" i="0">
                <a:solidFill>
                  <a:srgbClr val="8F3A2F"/>
                </a:solidFill>
                <a:latin typeface="Cambria"/>
              </a:rPr>
              <a:t>A two-dimensional rule</a:t>
            </a:r>
          </a:p>
        </p:txBody>
      </p:sp>
      <p:sp>
        <p:nvSpPr>
          <p:cNvPr id="7" name="Oval 6"/>
          <p:cNvSpPr/>
          <p:nvPr/>
        </p:nvSpPr>
        <p:spPr>
          <a:xfrm>
            <a:off x="7242048" y="1792224"/>
            <a:ext cx="182880" cy="18288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xtBox 7"/>
          <p:cNvSpPr txBox="1"/>
          <p:nvPr/>
        </p:nvSpPr>
        <p:spPr>
          <a:xfrm>
            <a:off x="7534656" y="1737360"/>
            <a:ext cx="4035247" cy="694944"/>
          </a:xfrm>
          <a:prstGeom prst="rect">
            <a:avLst/>
          </a:prstGeom>
          <a:noFill/>
        </p:spPr>
        <p:txBody>
          <a:bodyPr wrap="square" lIns="45720" rIns="45720" tIns="18288" bIns="18288" anchor="t">
            <a:spAutoFit/>
          </a:bodyPr>
          <a:lstStyle/>
          <a:p>
            <a:pPr algn="l">
              <a:lnSpc>
                <a:spcPct val="110000"/>
              </a:lnSpc>
            </a:pPr>
            <a:r>
              <a:rPr sz="1210" b="0" i="0">
                <a:solidFill>
                  <a:srgbClr val="2E2A27"/>
                </a:solidFill>
                <a:latin typeface="Calibri"/>
              </a:rPr>
              <a:t>Classification only pays off when the host fraction is high AND the library is large enough to amortise loading the database.</a:t>
            </a:r>
          </a:p>
        </p:txBody>
      </p:sp>
      <p:sp>
        <p:nvSpPr>
          <p:cNvPr id="9" name="Oval 8"/>
          <p:cNvSpPr/>
          <p:nvPr/>
        </p:nvSpPr>
        <p:spPr>
          <a:xfrm>
            <a:off x="7242048" y="2487168"/>
            <a:ext cx="182880" cy="18288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TextBox 9"/>
          <p:cNvSpPr txBox="1"/>
          <p:nvPr/>
        </p:nvSpPr>
        <p:spPr>
          <a:xfrm>
            <a:off x="7534656" y="2432304"/>
            <a:ext cx="4035247" cy="694944"/>
          </a:xfrm>
          <a:prstGeom prst="rect">
            <a:avLst/>
          </a:prstGeom>
          <a:noFill/>
        </p:spPr>
        <p:txBody>
          <a:bodyPr wrap="square" lIns="45720" rIns="45720" tIns="18288" bIns="18288" anchor="t">
            <a:spAutoFit/>
          </a:bodyPr>
          <a:lstStyle/>
          <a:p>
            <a:pPr algn="l">
              <a:lnSpc>
                <a:spcPct val="110000"/>
              </a:lnSpc>
            </a:pPr>
            <a:r>
              <a:rPr sz="1210" b="0" i="0">
                <a:solidFill>
                  <a:srgbClr val="2E2A27"/>
                </a:solidFill>
                <a:latin typeface="Calibri"/>
              </a:rPr>
              <a:t>Anything that does not clearly meet both criteria falls back to alignment, whose error direction is the safer default.</a:t>
            </a:r>
          </a:p>
        </p:txBody>
      </p:sp>
      <p:sp>
        <p:nvSpPr>
          <p:cNvPr id="11" name="Oval 10"/>
          <p:cNvSpPr/>
          <p:nvPr/>
        </p:nvSpPr>
        <p:spPr>
          <a:xfrm>
            <a:off x="7242048" y="3182112"/>
            <a:ext cx="182880" cy="182880"/>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7534656" y="3127248"/>
            <a:ext cx="4035247" cy="694944"/>
          </a:xfrm>
          <a:prstGeom prst="rect">
            <a:avLst/>
          </a:prstGeom>
          <a:noFill/>
        </p:spPr>
        <p:txBody>
          <a:bodyPr wrap="square" lIns="45720" rIns="45720" tIns="18288" bIns="18288" anchor="t">
            <a:spAutoFit/>
          </a:bodyPr>
          <a:lstStyle/>
          <a:p>
            <a:pPr algn="l">
              <a:lnSpc>
                <a:spcPct val="110000"/>
              </a:lnSpc>
            </a:pPr>
            <a:r>
              <a:rPr sz="1210" b="0" i="0">
                <a:solidFill>
                  <a:srgbClr val="2E2A27"/>
                </a:solidFill>
                <a:latin typeface="Calibri"/>
              </a:rPr>
              <a:t>The estimate only has to land on the correct side of a threshold — not be accurate.</a:t>
            </a:r>
          </a:p>
        </p:txBody>
      </p:sp>
      <p:sp>
        <p:nvSpPr>
          <p:cNvPr id="13" name="Rounded Rectangle 12"/>
          <p:cNvSpPr/>
          <p:nvPr/>
        </p:nvSpPr>
        <p:spPr>
          <a:xfrm>
            <a:off x="566928" y="3694176"/>
            <a:ext cx="11057839" cy="969264"/>
          </a:xfrm>
          <a:prstGeom prst="roundRect">
            <a:avLst>
              <a:gd name="adj" fmla="val 6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2960" y="3803904"/>
            <a:ext cx="1463040" cy="256032"/>
          </a:xfrm>
          <a:prstGeom prst="rect">
            <a:avLst/>
          </a:prstGeom>
          <a:noFill/>
        </p:spPr>
        <p:txBody>
          <a:bodyPr wrap="square" lIns="45720" rIns="45720" tIns="18288" bIns="18288" anchor="t">
            <a:spAutoFit/>
          </a:bodyPr>
          <a:lstStyle/>
          <a:p>
            <a:pPr algn="l">
              <a:lnSpc>
                <a:spcPct val="100000"/>
              </a:lnSpc>
            </a:pPr>
            <a:r>
              <a:rPr sz="1300" b="1" i="0">
                <a:solidFill>
                  <a:srgbClr val="8F3A2F"/>
                </a:solidFill>
                <a:latin typeface="Calibri"/>
              </a:rPr>
              <a:t>Survey cost</a:t>
            </a:r>
          </a:p>
        </p:txBody>
      </p:sp>
      <p:sp>
        <p:nvSpPr>
          <p:cNvPr id="15" name="TextBox 14"/>
          <p:cNvSpPr txBox="1"/>
          <p:nvPr/>
        </p:nvSpPr>
        <p:spPr>
          <a:xfrm>
            <a:off x="2258568" y="3785615"/>
            <a:ext cx="9091879" cy="548640"/>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seqtk sample (fixed seed 42) draws 100,000 reads; bowtie2 --very-fast-local aligns them with 2 threads. Seconds, against runs of tens of minutes. --host-pct bypasses the survey.</a:t>
            </a:r>
          </a:p>
        </p:txBody>
      </p:sp>
      <p:sp>
        <p:nvSpPr>
          <p:cNvPr id="16" name="Rounded Rectangle 15"/>
          <p:cNvSpPr/>
          <p:nvPr/>
        </p:nvSpPr>
        <p:spPr>
          <a:xfrm>
            <a:off x="566928" y="4809744"/>
            <a:ext cx="11057839" cy="1188720"/>
          </a:xfrm>
          <a:prstGeom prst="roundRect">
            <a:avLst>
              <a:gd name="adj" fmla="val 6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41247" y="4919472"/>
            <a:ext cx="5486400" cy="274320"/>
          </a:xfrm>
          <a:prstGeom prst="rect">
            <a:avLst/>
          </a:prstGeom>
          <a:noFill/>
        </p:spPr>
        <p:txBody>
          <a:bodyPr wrap="square" lIns="45720" rIns="45720" tIns="18288" bIns="18288" anchor="t">
            <a:spAutoFit/>
          </a:bodyPr>
          <a:lstStyle/>
          <a:p>
            <a:pPr algn="l">
              <a:lnSpc>
                <a:spcPct val="100000"/>
              </a:lnSpc>
            </a:pPr>
            <a:r>
              <a:rPr sz="1350" b="1" i="0">
                <a:solidFill>
                  <a:srgbClr val="E0A99E"/>
                </a:solidFill>
                <a:latin typeface="Calibri"/>
              </a:rPr>
              <a:t>Observed routing — correct on all four datasets</a:t>
            </a:r>
          </a:p>
        </p:txBody>
      </p:sp>
      <p:sp>
        <p:nvSpPr>
          <p:cNvPr id="18" name="TextBox 17"/>
          <p:cNvSpPr txBox="1"/>
          <p:nvPr/>
        </p:nvSpPr>
        <p:spPr>
          <a:xfrm>
            <a:off x="841247" y="5266944"/>
            <a:ext cx="2444419" cy="237744"/>
          </a:xfrm>
          <a:prstGeom prst="rect">
            <a:avLst/>
          </a:prstGeom>
          <a:noFill/>
        </p:spPr>
        <p:txBody>
          <a:bodyPr wrap="square" lIns="45720" rIns="45720" tIns="18288" bIns="18288" anchor="t">
            <a:spAutoFit/>
          </a:bodyPr>
          <a:lstStyle/>
          <a:p>
            <a:pPr algn="l">
              <a:lnSpc>
                <a:spcPct val="100000"/>
              </a:lnSpc>
            </a:pPr>
            <a:r>
              <a:rPr sz="1150" b="0" i="0">
                <a:solidFill>
                  <a:srgbClr val="A7BEAE"/>
                </a:solidFill>
                <a:latin typeface="Calibri"/>
              </a:rPr>
              <a:t>5M / 1%</a:t>
            </a:r>
          </a:p>
        </p:txBody>
      </p:sp>
      <p:sp>
        <p:nvSpPr>
          <p:cNvPr id="19" name="TextBox 18"/>
          <p:cNvSpPr txBox="1"/>
          <p:nvPr/>
        </p:nvSpPr>
        <p:spPr>
          <a:xfrm>
            <a:off x="841247" y="5522976"/>
            <a:ext cx="2444419" cy="274320"/>
          </a:xfrm>
          <a:prstGeom prst="rect">
            <a:avLst/>
          </a:prstGeom>
          <a:noFill/>
        </p:spPr>
        <p:txBody>
          <a:bodyPr wrap="square" lIns="45720" rIns="45720" tIns="18288" bIns="18288" anchor="t">
            <a:spAutoFit/>
          </a:bodyPr>
          <a:lstStyle/>
          <a:p>
            <a:pPr algn="l">
              <a:lnSpc>
                <a:spcPct val="100000"/>
              </a:lnSpc>
            </a:pPr>
            <a:r>
              <a:rPr sz="1250" b="1" i="0">
                <a:solidFill>
                  <a:srgbClr val="FFFFFF"/>
                </a:solidFill>
                <a:latin typeface="Calibri"/>
              </a:rPr>
              <a:t>est 0.93%  →  bowtie2</a:t>
            </a:r>
          </a:p>
        </p:txBody>
      </p:sp>
      <p:sp>
        <p:nvSpPr>
          <p:cNvPr id="20" name="TextBox 19"/>
          <p:cNvSpPr txBox="1"/>
          <p:nvPr/>
        </p:nvSpPr>
        <p:spPr>
          <a:xfrm>
            <a:off x="3468547" y="5266944"/>
            <a:ext cx="2444419" cy="237744"/>
          </a:xfrm>
          <a:prstGeom prst="rect">
            <a:avLst/>
          </a:prstGeom>
          <a:noFill/>
        </p:spPr>
        <p:txBody>
          <a:bodyPr wrap="square" lIns="45720" rIns="45720" tIns="18288" bIns="18288" anchor="t">
            <a:spAutoFit/>
          </a:bodyPr>
          <a:lstStyle/>
          <a:p>
            <a:pPr algn="l">
              <a:lnSpc>
                <a:spcPct val="100000"/>
              </a:lnSpc>
            </a:pPr>
            <a:r>
              <a:rPr sz="1150" b="0" i="0">
                <a:solidFill>
                  <a:srgbClr val="A7BEAE"/>
                </a:solidFill>
                <a:latin typeface="Calibri"/>
              </a:rPr>
              <a:t>10M / 10%</a:t>
            </a:r>
          </a:p>
        </p:txBody>
      </p:sp>
      <p:sp>
        <p:nvSpPr>
          <p:cNvPr id="21" name="TextBox 20"/>
          <p:cNvSpPr txBox="1"/>
          <p:nvPr/>
        </p:nvSpPr>
        <p:spPr>
          <a:xfrm>
            <a:off x="3468547" y="5522976"/>
            <a:ext cx="2444419" cy="274320"/>
          </a:xfrm>
          <a:prstGeom prst="rect">
            <a:avLst/>
          </a:prstGeom>
          <a:noFill/>
        </p:spPr>
        <p:txBody>
          <a:bodyPr wrap="square" lIns="45720" rIns="45720" tIns="18288" bIns="18288" anchor="t">
            <a:spAutoFit/>
          </a:bodyPr>
          <a:lstStyle/>
          <a:p>
            <a:pPr algn="l">
              <a:lnSpc>
                <a:spcPct val="100000"/>
              </a:lnSpc>
            </a:pPr>
            <a:r>
              <a:rPr sz="1250" b="1" i="0">
                <a:solidFill>
                  <a:srgbClr val="FFFFFF"/>
                </a:solidFill>
                <a:latin typeface="Calibri"/>
              </a:rPr>
              <a:t>est 10.13%  →  bowtie2</a:t>
            </a:r>
          </a:p>
        </p:txBody>
      </p:sp>
      <p:sp>
        <p:nvSpPr>
          <p:cNvPr id="22" name="TextBox 21"/>
          <p:cNvSpPr txBox="1"/>
          <p:nvPr/>
        </p:nvSpPr>
        <p:spPr>
          <a:xfrm>
            <a:off x="6095847" y="5266944"/>
            <a:ext cx="2444419" cy="237744"/>
          </a:xfrm>
          <a:prstGeom prst="rect">
            <a:avLst/>
          </a:prstGeom>
          <a:noFill/>
        </p:spPr>
        <p:txBody>
          <a:bodyPr wrap="square" lIns="45720" rIns="45720" tIns="18288" bIns="18288" anchor="t">
            <a:spAutoFit/>
          </a:bodyPr>
          <a:lstStyle/>
          <a:p>
            <a:pPr algn="l">
              <a:lnSpc>
                <a:spcPct val="100000"/>
              </a:lnSpc>
            </a:pPr>
            <a:r>
              <a:rPr sz="1150" b="0" i="0">
                <a:solidFill>
                  <a:srgbClr val="A7BEAE"/>
                </a:solidFill>
                <a:latin typeface="Calibri"/>
              </a:rPr>
              <a:t>30M / 50%</a:t>
            </a:r>
          </a:p>
        </p:txBody>
      </p:sp>
      <p:sp>
        <p:nvSpPr>
          <p:cNvPr id="23" name="TextBox 22"/>
          <p:cNvSpPr txBox="1"/>
          <p:nvPr/>
        </p:nvSpPr>
        <p:spPr>
          <a:xfrm>
            <a:off x="6095847" y="5522976"/>
            <a:ext cx="2444419" cy="274320"/>
          </a:xfrm>
          <a:prstGeom prst="rect">
            <a:avLst/>
          </a:prstGeom>
          <a:noFill/>
        </p:spPr>
        <p:txBody>
          <a:bodyPr wrap="square" lIns="45720" rIns="45720" tIns="18288" bIns="18288" anchor="t">
            <a:spAutoFit/>
          </a:bodyPr>
          <a:lstStyle/>
          <a:p>
            <a:pPr algn="l">
              <a:lnSpc>
                <a:spcPct val="100000"/>
              </a:lnSpc>
            </a:pPr>
            <a:r>
              <a:rPr sz="1250" b="1" i="0">
                <a:solidFill>
                  <a:srgbClr val="FFFFFF"/>
                </a:solidFill>
                <a:latin typeface="Calibri"/>
              </a:rPr>
              <a:t>est 48.95%  →  kraken2</a:t>
            </a:r>
          </a:p>
        </p:txBody>
      </p:sp>
      <p:sp>
        <p:nvSpPr>
          <p:cNvPr id="24" name="TextBox 23"/>
          <p:cNvSpPr txBox="1"/>
          <p:nvPr/>
        </p:nvSpPr>
        <p:spPr>
          <a:xfrm>
            <a:off x="8723147" y="5266944"/>
            <a:ext cx="2444419" cy="237744"/>
          </a:xfrm>
          <a:prstGeom prst="rect">
            <a:avLst/>
          </a:prstGeom>
          <a:noFill/>
        </p:spPr>
        <p:txBody>
          <a:bodyPr wrap="square" lIns="45720" rIns="45720" tIns="18288" bIns="18288" anchor="t">
            <a:spAutoFit/>
          </a:bodyPr>
          <a:lstStyle/>
          <a:p>
            <a:pPr algn="l">
              <a:lnSpc>
                <a:spcPct val="100000"/>
              </a:lnSpc>
            </a:pPr>
            <a:r>
              <a:rPr sz="1150" b="0" i="0">
                <a:solidFill>
                  <a:srgbClr val="A7BEAE"/>
                </a:solidFill>
                <a:latin typeface="Calibri"/>
              </a:rPr>
              <a:t>60M / 90%</a:t>
            </a:r>
          </a:p>
        </p:txBody>
      </p:sp>
      <p:sp>
        <p:nvSpPr>
          <p:cNvPr id="25" name="TextBox 24"/>
          <p:cNvSpPr txBox="1"/>
          <p:nvPr/>
        </p:nvSpPr>
        <p:spPr>
          <a:xfrm>
            <a:off x="8723147" y="5522976"/>
            <a:ext cx="2444419" cy="274320"/>
          </a:xfrm>
          <a:prstGeom prst="rect">
            <a:avLst/>
          </a:prstGeom>
          <a:noFill/>
        </p:spPr>
        <p:txBody>
          <a:bodyPr wrap="square" lIns="45720" rIns="45720" tIns="18288" bIns="18288" anchor="t">
            <a:spAutoFit/>
          </a:bodyPr>
          <a:lstStyle/>
          <a:p>
            <a:pPr algn="l">
              <a:lnSpc>
                <a:spcPct val="100000"/>
              </a:lnSpc>
            </a:pPr>
            <a:r>
              <a:rPr sz="1250" b="1" i="0">
                <a:solidFill>
                  <a:srgbClr val="FFFFFF"/>
                </a:solidFill>
                <a:latin typeface="Calibri"/>
              </a:rPr>
              <a:t>est 89.43%  →  kraken2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CODE · WORKER.RS, CHECKPOINT.RS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Reliability layer</a:t>
            </a:r>
          </a:p>
        </p:txBody>
      </p:sp>
      <p:sp>
        <p:nvSpPr>
          <p:cNvPr id="4" name="Rounded Rectangle 3"/>
          <p:cNvSpPr/>
          <p:nvPr/>
        </p:nvSpPr>
        <p:spPr>
          <a:xfrm>
            <a:off x="566928" y="1408176"/>
            <a:ext cx="3490874" cy="2340864"/>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22960" y="1664208"/>
            <a:ext cx="438912" cy="43891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6" name="TextBox 5"/>
          <p:cNvSpPr txBox="1"/>
          <p:nvPr/>
        </p:nvSpPr>
        <p:spPr>
          <a:xfrm>
            <a:off x="822960" y="2267712"/>
            <a:ext cx="2978810" cy="292608"/>
          </a:xfrm>
          <a:prstGeom prst="rect">
            <a:avLst/>
          </a:prstGeom>
          <a:noFill/>
        </p:spPr>
        <p:txBody>
          <a:bodyPr wrap="square" lIns="45720" rIns="45720" tIns="18288" bIns="18288" anchor="t">
            <a:spAutoFit/>
          </a:bodyPr>
          <a:lstStyle/>
          <a:p>
            <a:pPr algn="l">
              <a:lnSpc>
                <a:spcPct val="100000"/>
              </a:lnSpc>
            </a:pPr>
            <a:r>
              <a:rPr sz="1500" b="1" i="0">
                <a:solidFill>
                  <a:srgbClr val="2E2A27"/>
                </a:solidFill>
                <a:latin typeface="Calibri"/>
              </a:rPr>
              <a:t>Checkpoint / resume</a:t>
            </a:r>
          </a:p>
        </p:txBody>
      </p:sp>
      <p:sp>
        <p:nvSpPr>
          <p:cNvPr id="7" name="TextBox 6"/>
          <p:cNvSpPr txBox="1"/>
          <p:nvPr/>
        </p:nvSpPr>
        <p:spPr>
          <a:xfrm>
            <a:off x="822960" y="2596896"/>
            <a:ext cx="2978810" cy="1097280"/>
          </a:xfrm>
          <a:prstGeom prst="rect">
            <a:avLst/>
          </a:prstGeom>
          <a:noFill/>
        </p:spPr>
        <p:txBody>
          <a:bodyPr wrap="square" lIns="45720" rIns="45720" tIns="18288" bIns="18288" anchor="t">
            <a:spAutoFit/>
          </a:bodyPr>
          <a:lstStyle/>
          <a:p>
            <a:pPr algn="l">
              <a:lnSpc>
                <a:spcPct val="110000"/>
              </a:lnSpc>
            </a:pPr>
            <a:r>
              <a:rPr sz="1190" b="0" i="0">
                <a:solidFill>
                  <a:srgbClr val="7A736C"/>
                </a:solidFill>
                <a:latin typeface="Calibri"/>
              </a:rPr>
              <a:t>Versioned JSON per sample, written atomically (temp file + rename). An xxHash3 fingerprint over input metadata invalidates stale state automatically.</a:t>
            </a:r>
          </a:p>
        </p:txBody>
      </p:sp>
      <p:sp>
        <p:nvSpPr>
          <p:cNvPr id="8" name="Rounded Rectangle 7"/>
          <p:cNvSpPr/>
          <p:nvPr/>
        </p:nvSpPr>
        <p:spPr>
          <a:xfrm>
            <a:off x="4350410" y="1408176"/>
            <a:ext cx="3490874" cy="2340864"/>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4606442" y="1664208"/>
            <a:ext cx="438912" cy="43891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4606442" y="2267712"/>
            <a:ext cx="2978810" cy="292608"/>
          </a:xfrm>
          <a:prstGeom prst="rect">
            <a:avLst/>
          </a:prstGeom>
          <a:noFill/>
        </p:spPr>
        <p:txBody>
          <a:bodyPr wrap="square" lIns="45720" rIns="45720" tIns="18288" bIns="18288" anchor="t">
            <a:spAutoFit/>
          </a:bodyPr>
          <a:lstStyle/>
          <a:p>
            <a:pPr algn="l">
              <a:lnSpc>
                <a:spcPct val="100000"/>
              </a:lnSpc>
            </a:pPr>
            <a:r>
              <a:rPr sz="1500" b="1" i="0">
                <a:solidFill>
                  <a:srgbClr val="2E2A27"/>
                </a:solidFill>
                <a:latin typeface="Calibri"/>
              </a:rPr>
              <a:t>Bounded concurrency</a:t>
            </a:r>
          </a:p>
        </p:txBody>
      </p:sp>
      <p:sp>
        <p:nvSpPr>
          <p:cNvPr id="11" name="TextBox 10"/>
          <p:cNvSpPr txBox="1"/>
          <p:nvPr/>
        </p:nvSpPr>
        <p:spPr>
          <a:xfrm>
            <a:off x="4606442" y="2596896"/>
            <a:ext cx="2978810" cy="1097280"/>
          </a:xfrm>
          <a:prstGeom prst="rect">
            <a:avLst/>
          </a:prstGeom>
          <a:noFill/>
        </p:spPr>
        <p:txBody>
          <a:bodyPr wrap="square" lIns="45720" rIns="45720" tIns="18288" bIns="18288" anchor="t">
            <a:spAutoFit/>
          </a:bodyPr>
          <a:lstStyle/>
          <a:p>
            <a:pPr algn="l">
              <a:lnSpc>
                <a:spcPct val="110000"/>
              </a:lnSpc>
            </a:pPr>
            <a:r>
              <a:rPr sz="1190" b="0" i="0">
                <a:solidFill>
                  <a:srgbClr val="7A736C"/>
                </a:solidFill>
                <a:latin typeface="Calibri"/>
              </a:rPr>
              <a:t>A semaphore admits W samples at once; each passes T threads to its tools. Total load ≈ W × T. Ctrl-C sets a cancellation token so queued samples never start.</a:t>
            </a:r>
          </a:p>
        </p:txBody>
      </p:sp>
      <p:sp>
        <p:nvSpPr>
          <p:cNvPr id="12" name="Rounded Rectangle 11"/>
          <p:cNvSpPr/>
          <p:nvPr/>
        </p:nvSpPr>
        <p:spPr>
          <a:xfrm>
            <a:off x="8133892" y="1408176"/>
            <a:ext cx="3490874" cy="2340864"/>
          </a:xfrm>
          <a:prstGeom prst="roundRect">
            <a:avLst>
              <a:gd name="adj" fmla="val 7000"/>
            </a:avLst>
          </a:prstGeom>
          <a:noFill/>
          <a:ln w="12700">
            <a:solidFill>
              <a:srgbClr val="DED8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389924" y="1664208"/>
            <a:ext cx="438912" cy="43891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4" name="TextBox 13"/>
          <p:cNvSpPr txBox="1"/>
          <p:nvPr/>
        </p:nvSpPr>
        <p:spPr>
          <a:xfrm>
            <a:off x="8389924" y="2267712"/>
            <a:ext cx="2978810" cy="292608"/>
          </a:xfrm>
          <a:prstGeom prst="rect">
            <a:avLst/>
          </a:prstGeom>
          <a:noFill/>
        </p:spPr>
        <p:txBody>
          <a:bodyPr wrap="square" lIns="45720" rIns="45720" tIns="18288" bIns="18288" anchor="t">
            <a:spAutoFit/>
          </a:bodyPr>
          <a:lstStyle/>
          <a:p>
            <a:pPr algn="l">
              <a:lnSpc>
                <a:spcPct val="100000"/>
              </a:lnSpc>
            </a:pPr>
            <a:r>
              <a:rPr sz="1500" b="1" i="0">
                <a:solidFill>
                  <a:srgbClr val="2E2A27"/>
                </a:solidFill>
                <a:latin typeface="Calibri"/>
              </a:rPr>
              <a:t>Validation gate</a:t>
            </a:r>
          </a:p>
        </p:txBody>
      </p:sp>
      <p:sp>
        <p:nvSpPr>
          <p:cNvPr id="15" name="TextBox 14"/>
          <p:cNvSpPr txBox="1"/>
          <p:nvPr/>
        </p:nvSpPr>
        <p:spPr>
          <a:xfrm>
            <a:off x="8389924" y="2596896"/>
            <a:ext cx="2978810" cy="1097280"/>
          </a:xfrm>
          <a:prstGeom prst="rect">
            <a:avLst/>
          </a:prstGeom>
          <a:noFill/>
        </p:spPr>
        <p:txBody>
          <a:bodyPr wrap="square" lIns="45720" rIns="45720" tIns="18288" bIns="18288" anchor="t">
            <a:spAutoFit/>
          </a:bodyPr>
          <a:lstStyle/>
          <a:p>
            <a:pPr algn="l">
              <a:lnSpc>
                <a:spcPct val="110000"/>
              </a:lnSpc>
            </a:pPr>
            <a:r>
              <a:rPr sz="1190" b="0" i="0">
                <a:solidFill>
                  <a:srgbClr val="7A736C"/>
                </a:solidFill>
                <a:latin typeface="Calibri"/>
              </a:rPr>
              <a:t>Output size and residual-contamination assertions run before promotion. A sample that fails is marked Failed and its output is never moved into the results directory.</a:t>
            </a:r>
          </a:p>
        </p:txBody>
      </p:sp>
      <p:sp>
        <p:nvSpPr>
          <p:cNvPr id="16" name="Rounded Rectangle 15"/>
          <p:cNvSpPr/>
          <p:nvPr/>
        </p:nvSpPr>
        <p:spPr>
          <a:xfrm>
            <a:off x="566928" y="3840480"/>
            <a:ext cx="11057839" cy="1261872"/>
          </a:xfrm>
          <a:prstGeom prst="roundRect">
            <a:avLst>
              <a:gd name="adj" fmla="val 7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59536" y="3968496"/>
            <a:ext cx="3657600" cy="274320"/>
          </a:xfrm>
          <a:prstGeom prst="rect">
            <a:avLst/>
          </a:prstGeom>
          <a:noFill/>
        </p:spPr>
        <p:txBody>
          <a:bodyPr wrap="square" lIns="45720" rIns="45720" tIns="18288" bIns="18288" anchor="t">
            <a:spAutoFit/>
          </a:bodyPr>
          <a:lstStyle/>
          <a:p>
            <a:pPr algn="l">
              <a:lnSpc>
                <a:spcPct val="100000"/>
              </a:lnSpc>
            </a:pPr>
            <a:r>
              <a:rPr sz="1350" b="1" i="0">
                <a:solidFill>
                  <a:srgbClr val="E0A99E"/>
                </a:solidFill>
                <a:latin typeface="Calibri"/>
              </a:rPr>
              <a:t>Known gaps in this layer</a:t>
            </a:r>
          </a:p>
        </p:txBody>
      </p:sp>
      <p:sp>
        <p:nvSpPr>
          <p:cNvPr id="18" name="TextBox 17"/>
          <p:cNvSpPr txBox="1"/>
          <p:nvPr/>
        </p:nvSpPr>
        <p:spPr>
          <a:xfrm>
            <a:off x="859536" y="4279392"/>
            <a:ext cx="10472623" cy="749808"/>
          </a:xfrm>
          <a:prstGeom prst="rect">
            <a:avLst/>
          </a:prstGeom>
          <a:noFill/>
        </p:spPr>
        <p:txBody>
          <a:bodyPr wrap="square" lIns="45720" rIns="45720" tIns="18288" bIns="18288" anchor="t">
            <a:spAutoFit/>
          </a:bodyPr>
          <a:lstStyle/>
          <a:p>
            <a:pPr algn="l">
              <a:lnSpc>
                <a:spcPct val="112000"/>
              </a:lnSpc>
            </a:pPr>
            <a:r>
              <a:rPr sz="1300" b="0" i="0">
                <a:solidFill>
                  <a:srgbClr val="FFFFFF"/>
                </a:solidFill>
                <a:latin typeface="Calibri"/>
              </a:rPr>
              <a:t>Checkpoints are written at attempt boundaries, not at every stage transition, so a hard process kill resumes further back than necessary. The per-sample timeout is configured but not enforced. Worker count is derived from CPU count, not available memory — with the 15.5 GB Kraken2 index, concurrent demand scales as W × 15.5 GB.</a:t>
            </a:r>
          </a:p>
        </p:txBody>
      </p:sp>
      <p:sp>
        <p:nvSpPr>
          <p:cNvPr id="19" name="TextBox 18"/>
          <p:cNvSpPr txBox="1"/>
          <p:nvPr/>
        </p:nvSpPr>
        <p:spPr>
          <a:xfrm>
            <a:off x="566928" y="5230368"/>
            <a:ext cx="11057839" cy="512064"/>
          </a:xfrm>
          <a:prstGeom prst="rect">
            <a:avLst/>
          </a:prstGeom>
          <a:noFill/>
        </p:spPr>
        <p:txBody>
          <a:bodyPr wrap="square" lIns="45720" rIns="45720" tIns="18288" bIns="18288" anchor="t">
            <a:spAutoFit/>
          </a:bodyPr>
          <a:lstStyle/>
          <a:p>
            <a:pPr algn="l">
              <a:lnSpc>
                <a:spcPct val="100000"/>
              </a:lnSpc>
            </a:pPr>
            <a:r>
              <a:rPr sz="1230" b="0" i="1">
                <a:solidFill>
                  <a:srgbClr val="7A736C"/>
                </a:solidFill>
                <a:latin typeface="Calibri"/>
              </a:rPr>
              <a:t>The stage enum still names only the Kraken2 path (Kraken2Running / Kraken2Complete) even though five backends share it — cosmetic, but confusing when reading checkpoints.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EVALUATION · EVERYTHING RUN TO DATE</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Benchmark inventory</a:t>
            </a:r>
          </a:p>
        </p:txBody>
      </p:sp>
      <p:sp>
        <p:nvSpPr>
          <p:cNvPr id="4" name="Rounded Rectangle 3"/>
          <p:cNvSpPr/>
          <p:nvPr/>
        </p:nvSpPr>
        <p:spPr>
          <a:xfrm>
            <a:off x="566928" y="1389888"/>
            <a:ext cx="11057839" cy="384048"/>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292607"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a:t>
            </a:r>
          </a:p>
        </p:txBody>
      </p:sp>
      <p:sp>
        <p:nvSpPr>
          <p:cNvPr id="6" name="TextBox 5"/>
          <p:cNvSpPr txBox="1"/>
          <p:nvPr/>
        </p:nvSpPr>
        <p:spPr>
          <a:xfrm>
            <a:off x="1005840" y="1426464"/>
            <a:ext cx="3611879"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Experiment</a:t>
            </a:r>
          </a:p>
        </p:txBody>
      </p:sp>
      <p:sp>
        <p:nvSpPr>
          <p:cNvPr id="7" name="TextBox 6"/>
          <p:cNvSpPr txBox="1"/>
          <p:nvPr/>
        </p:nvSpPr>
        <p:spPr>
          <a:xfrm>
            <a:off x="4709159" y="1426464"/>
            <a:ext cx="3154679"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Compared against</a:t>
            </a:r>
          </a:p>
        </p:txBody>
      </p:sp>
      <p:sp>
        <p:nvSpPr>
          <p:cNvPr id="8" name="TextBox 7"/>
          <p:cNvSpPr txBox="1"/>
          <p:nvPr/>
        </p:nvSpPr>
        <p:spPr>
          <a:xfrm>
            <a:off x="7955280" y="1426464"/>
            <a:ext cx="2011679"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Datasets</a:t>
            </a:r>
          </a:p>
        </p:txBody>
      </p:sp>
      <p:sp>
        <p:nvSpPr>
          <p:cNvPr id="9" name="TextBox 8"/>
          <p:cNvSpPr txBox="1"/>
          <p:nvPr/>
        </p:nvSpPr>
        <p:spPr>
          <a:xfrm>
            <a:off x="10058400" y="1426464"/>
            <a:ext cx="1527048"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Reps</a:t>
            </a:r>
          </a:p>
        </p:txBody>
      </p:sp>
      <p:sp>
        <p:nvSpPr>
          <p:cNvPr id="10" name="Rectangle 9"/>
          <p:cNvSpPr/>
          <p:nvPr/>
        </p:nvSpPr>
        <p:spPr>
          <a:xfrm>
            <a:off x="566928" y="177393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 y="1792224"/>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a:t>
            </a:r>
          </a:p>
        </p:txBody>
      </p:sp>
      <p:sp>
        <p:nvSpPr>
          <p:cNvPr id="12" name="TextBox 11"/>
          <p:cNvSpPr txBox="1"/>
          <p:nvPr/>
        </p:nvSpPr>
        <p:spPr>
          <a:xfrm>
            <a:off x="1005840" y="1792224"/>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Error profile &amp; accuracy</a:t>
            </a:r>
          </a:p>
        </p:txBody>
      </p:sp>
      <p:sp>
        <p:nvSpPr>
          <p:cNvPr id="13" name="TextBox 12"/>
          <p:cNvSpPr txBox="1"/>
          <p:nvPr/>
        </p:nvSpPr>
        <p:spPr>
          <a:xfrm>
            <a:off x="4709159" y="1792224"/>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 KneadData</a:t>
            </a:r>
          </a:p>
        </p:txBody>
      </p:sp>
      <p:sp>
        <p:nvSpPr>
          <p:cNvPr id="14" name="TextBox 13"/>
          <p:cNvSpPr txBox="1"/>
          <p:nvPr/>
        </p:nvSpPr>
        <p:spPr>
          <a:xfrm>
            <a:off x="7955280" y="1792224"/>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 SE (1–90 % host)</a:t>
            </a:r>
          </a:p>
        </p:txBody>
      </p:sp>
      <p:sp>
        <p:nvSpPr>
          <p:cNvPr id="15" name="TextBox 14"/>
          <p:cNvSpPr txBox="1"/>
          <p:nvPr/>
        </p:nvSpPr>
        <p:spPr>
          <a:xfrm>
            <a:off x="10058400" y="1792224"/>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a:t>
            </a:r>
          </a:p>
        </p:txBody>
      </p:sp>
      <p:sp>
        <p:nvSpPr>
          <p:cNvPr id="16" name="TextBox 15"/>
          <p:cNvSpPr txBox="1"/>
          <p:nvPr/>
        </p:nvSpPr>
        <p:spPr>
          <a:xfrm>
            <a:off x="621792" y="2157984"/>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2</a:t>
            </a:r>
          </a:p>
        </p:txBody>
      </p:sp>
      <p:sp>
        <p:nvSpPr>
          <p:cNvPr id="17" name="TextBox 16"/>
          <p:cNvSpPr txBox="1"/>
          <p:nvPr/>
        </p:nvSpPr>
        <p:spPr>
          <a:xfrm>
            <a:off x="1005840" y="2157984"/>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Auto routing + full-pipeline runtime</a:t>
            </a:r>
          </a:p>
        </p:txBody>
      </p:sp>
      <p:sp>
        <p:nvSpPr>
          <p:cNvPr id="18" name="TextBox 17"/>
          <p:cNvSpPr txBox="1"/>
          <p:nvPr/>
        </p:nvSpPr>
        <p:spPr>
          <a:xfrm>
            <a:off x="4709159" y="2157984"/>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KneadData</a:t>
            </a:r>
          </a:p>
        </p:txBody>
      </p:sp>
      <p:sp>
        <p:nvSpPr>
          <p:cNvPr id="19" name="TextBox 18"/>
          <p:cNvSpPr txBox="1"/>
          <p:nvPr/>
        </p:nvSpPr>
        <p:spPr>
          <a:xfrm>
            <a:off x="7955280" y="2157984"/>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 SE</a:t>
            </a:r>
          </a:p>
        </p:txBody>
      </p:sp>
      <p:sp>
        <p:nvSpPr>
          <p:cNvPr id="20" name="TextBox 19"/>
          <p:cNvSpPr txBox="1"/>
          <p:nvPr/>
        </p:nvSpPr>
        <p:spPr>
          <a:xfrm>
            <a:off x="10058400" y="2157984"/>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a:t>
            </a:r>
          </a:p>
        </p:txBody>
      </p:sp>
      <p:sp>
        <p:nvSpPr>
          <p:cNvPr id="21" name="Rectangle 20"/>
          <p:cNvSpPr/>
          <p:nvPr/>
        </p:nvSpPr>
        <p:spPr>
          <a:xfrm>
            <a:off x="566928" y="250545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 y="2523744"/>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3</a:t>
            </a:r>
          </a:p>
        </p:txBody>
      </p:sp>
      <p:sp>
        <p:nvSpPr>
          <p:cNvPr id="23" name="TextBox 22"/>
          <p:cNvSpPr txBox="1"/>
          <p:nvPr/>
        </p:nvSpPr>
        <p:spPr>
          <a:xfrm>
            <a:off x="1005840" y="2523744"/>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Fair depletion-only runtime</a:t>
            </a:r>
          </a:p>
        </p:txBody>
      </p:sp>
      <p:sp>
        <p:nvSpPr>
          <p:cNvPr id="24" name="TextBox 23"/>
          <p:cNvSpPr txBox="1"/>
          <p:nvPr/>
        </p:nvSpPr>
        <p:spPr>
          <a:xfrm>
            <a:off x="4709159" y="2523744"/>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 (--skip-qc both sides)</a:t>
            </a:r>
          </a:p>
        </p:txBody>
      </p:sp>
      <p:sp>
        <p:nvSpPr>
          <p:cNvPr id="25" name="TextBox 24"/>
          <p:cNvSpPr txBox="1"/>
          <p:nvPr/>
        </p:nvSpPr>
        <p:spPr>
          <a:xfrm>
            <a:off x="7955280" y="2523744"/>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 SE</a:t>
            </a:r>
          </a:p>
        </p:txBody>
      </p:sp>
      <p:sp>
        <p:nvSpPr>
          <p:cNvPr id="26" name="TextBox 25"/>
          <p:cNvSpPr txBox="1"/>
          <p:nvPr/>
        </p:nvSpPr>
        <p:spPr>
          <a:xfrm>
            <a:off x="10058400" y="2523744"/>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a:t>
            </a:r>
          </a:p>
        </p:txBody>
      </p:sp>
      <p:sp>
        <p:nvSpPr>
          <p:cNvPr id="27" name="TextBox 26"/>
          <p:cNvSpPr txBox="1"/>
          <p:nvPr/>
        </p:nvSpPr>
        <p:spPr>
          <a:xfrm>
            <a:off x="621792" y="2889503"/>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4</a:t>
            </a:r>
          </a:p>
        </p:txBody>
      </p:sp>
      <p:sp>
        <p:nvSpPr>
          <p:cNvPr id="28" name="TextBox 27"/>
          <p:cNvSpPr txBox="1"/>
          <p:nvPr/>
        </p:nvSpPr>
        <p:spPr>
          <a:xfrm>
            <a:off x="1005840" y="2889503"/>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Bowtie2 recheck ablation</a:t>
            </a:r>
          </a:p>
        </p:txBody>
      </p:sp>
      <p:sp>
        <p:nvSpPr>
          <p:cNvPr id="29" name="TextBox 28"/>
          <p:cNvSpPr txBox="1"/>
          <p:nvPr/>
        </p:nvSpPr>
        <p:spPr>
          <a:xfrm>
            <a:off x="4709159" y="2889503"/>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itself (Kraken2 only)</a:t>
            </a:r>
          </a:p>
        </p:txBody>
      </p:sp>
      <p:sp>
        <p:nvSpPr>
          <p:cNvPr id="30" name="TextBox 29"/>
          <p:cNvSpPr txBox="1"/>
          <p:nvPr/>
        </p:nvSpPr>
        <p:spPr>
          <a:xfrm>
            <a:off x="7955280" y="2889503"/>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 SE (50–90 %)</a:t>
            </a:r>
          </a:p>
        </p:txBody>
      </p:sp>
      <p:sp>
        <p:nvSpPr>
          <p:cNvPr id="31" name="TextBox 30"/>
          <p:cNvSpPr txBox="1"/>
          <p:nvPr/>
        </p:nvSpPr>
        <p:spPr>
          <a:xfrm>
            <a:off x="10058400" y="2889503"/>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a:t>
            </a:r>
          </a:p>
        </p:txBody>
      </p:sp>
      <p:sp>
        <p:nvSpPr>
          <p:cNvPr id="32" name="Rectangle 31"/>
          <p:cNvSpPr/>
          <p:nvPr/>
        </p:nvSpPr>
        <p:spPr>
          <a:xfrm>
            <a:off x="566928" y="3236975"/>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 y="3255263"/>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5</a:t>
            </a:r>
          </a:p>
        </p:txBody>
      </p:sp>
      <p:sp>
        <p:nvSpPr>
          <p:cNvPr id="34" name="TextBox 33"/>
          <p:cNvSpPr txBox="1"/>
          <p:nvPr/>
        </p:nvSpPr>
        <p:spPr>
          <a:xfrm>
            <a:off x="1005840" y="3255263"/>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Backend comparison</a:t>
            </a:r>
          </a:p>
        </p:txBody>
      </p:sp>
      <p:sp>
        <p:nvSpPr>
          <p:cNvPr id="35" name="TextBox 34"/>
          <p:cNvSpPr txBox="1"/>
          <p:nvPr/>
        </p:nvSpPr>
        <p:spPr>
          <a:xfrm>
            <a:off x="4709159" y="3255263"/>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bowtie2 / minimap2 / centrifuge</a:t>
            </a:r>
          </a:p>
        </p:txBody>
      </p:sp>
      <p:sp>
        <p:nvSpPr>
          <p:cNvPr id="36" name="TextBox 35"/>
          <p:cNvSpPr txBox="1"/>
          <p:nvPr/>
        </p:nvSpPr>
        <p:spPr>
          <a:xfrm>
            <a:off x="7955280" y="3255263"/>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 SE</a:t>
            </a:r>
          </a:p>
        </p:txBody>
      </p:sp>
      <p:sp>
        <p:nvSpPr>
          <p:cNvPr id="37" name="TextBox 36"/>
          <p:cNvSpPr txBox="1"/>
          <p:nvPr/>
        </p:nvSpPr>
        <p:spPr>
          <a:xfrm>
            <a:off x="10058400" y="3255263"/>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a:t>
            </a:r>
          </a:p>
        </p:txBody>
      </p:sp>
      <p:sp>
        <p:nvSpPr>
          <p:cNvPr id="38" name="TextBox 37"/>
          <p:cNvSpPr txBox="1"/>
          <p:nvPr/>
        </p:nvSpPr>
        <p:spPr>
          <a:xfrm>
            <a:off x="621792" y="3621023"/>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6</a:t>
            </a:r>
          </a:p>
        </p:txBody>
      </p:sp>
      <p:sp>
        <p:nvSpPr>
          <p:cNvPr id="39" name="TextBox 38"/>
          <p:cNvSpPr txBox="1"/>
          <p:nvPr/>
        </p:nvSpPr>
        <p:spPr>
          <a:xfrm>
            <a:off x="1005840" y="3621023"/>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100M matched panel</a:t>
            </a:r>
          </a:p>
        </p:txBody>
      </p:sp>
      <p:sp>
        <p:nvSpPr>
          <p:cNvPr id="40" name="TextBox 39"/>
          <p:cNvSpPr txBox="1"/>
          <p:nvPr/>
        </p:nvSpPr>
        <p:spPr>
          <a:xfrm>
            <a:off x="4709159" y="3621023"/>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 KneadData</a:t>
            </a:r>
          </a:p>
        </p:txBody>
      </p:sp>
      <p:sp>
        <p:nvSpPr>
          <p:cNvPr id="41" name="TextBox 40"/>
          <p:cNvSpPr txBox="1"/>
          <p:nvPr/>
        </p:nvSpPr>
        <p:spPr>
          <a:xfrm>
            <a:off x="7955280" y="3621023"/>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 SE (100M)</a:t>
            </a:r>
          </a:p>
        </p:txBody>
      </p:sp>
      <p:sp>
        <p:nvSpPr>
          <p:cNvPr id="42" name="TextBox 41"/>
          <p:cNvSpPr txBox="1"/>
          <p:nvPr/>
        </p:nvSpPr>
        <p:spPr>
          <a:xfrm>
            <a:off x="10058400" y="3621023"/>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 / 1 / 1</a:t>
            </a:r>
          </a:p>
        </p:txBody>
      </p:sp>
      <p:sp>
        <p:nvSpPr>
          <p:cNvPr id="43" name="Rectangle 42"/>
          <p:cNvSpPr/>
          <p:nvPr/>
        </p:nvSpPr>
        <p:spPr>
          <a:xfrm>
            <a:off x="566928" y="396849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621792" y="3986783"/>
            <a:ext cx="292607"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7</a:t>
            </a:r>
          </a:p>
        </p:txBody>
      </p:sp>
      <p:sp>
        <p:nvSpPr>
          <p:cNvPr id="45" name="TextBox 44"/>
          <p:cNvSpPr txBox="1"/>
          <p:nvPr/>
        </p:nvSpPr>
        <p:spPr>
          <a:xfrm>
            <a:off x="1005840" y="3986783"/>
            <a:ext cx="36118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100M depletion-only matched</a:t>
            </a:r>
          </a:p>
        </p:txBody>
      </p:sp>
      <p:sp>
        <p:nvSpPr>
          <p:cNvPr id="46" name="TextBox 45"/>
          <p:cNvSpPr txBox="1"/>
          <p:nvPr/>
        </p:nvSpPr>
        <p:spPr>
          <a:xfrm>
            <a:off x="4709159" y="3986783"/>
            <a:ext cx="3154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a:t>
            </a:r>
          </a:p>
        </p:txBody>
      </p:sp>
      <p:sp>
        <p:nvSpPr>
          <p:cNvPr id="47" name="TextBox 46"/>
          <p:cNvSpPr txBox="1"/>
          <p:nvPr/>
        </p:nvSpPr>
        <p:spPr>
          <a:xfrm>
            <a:off x="7955280" y="3986783"/>
            <a:ext cx="20116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 SE (100M)</a:t>
            </a:r>
          </a:p>
        </p:txBody>
      </p:sp>
      <p:sp>
        <p:nvSpPr>
          <p:cNvPr id="48" name="TextBox 47"/>
          <p:cNvSpPr txBox="1"/>
          <p:nvPr/>
        </p:nvSpPr>
        <p:spPr>
          <a:xfrm>
            <a:off x="10058400" y="3986783"/>
            <a:ext cx="1527048"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 / 1</a:t>
            </a:r>
          </a:p>
        </p:txBody>
      </p:sp>
      <p:sp>
        <p:nvSpPr>
          <p:cNvPr id="49" name="Rounded Rectangle 48"/>
          <p:cNvSpPr/>
          <p:nvPr/>
        </p:nvSpPr>
        <p:spPr>
          <a:xfrm>
            <a:off x="566928" y="4224528"/>
            <a:ext cx="11057839" cy="877824"/>
          </a:xfrm>
          <a:prstGeom prst="roundRect">
            <a:avLst>
              <a:gd name="adj" fmla="val 6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41247" y="4334256"/>
            <a:ext cx="4023360" cy="256032"/>
          </a:xfrm>
          <a:prstGeom prst="rect">
            <a:avLst/>
          </a:prstGeom>
          <a:noFill/>
        </p:spPr>
        <p:txBody>
          <a:bodyPr wrap="square" lIns="45720" rIns="45720" tIns="18288" bIns="18288" anchor="t">
            <a:spAutoFit/>
          </a:bodyPr>
          <a:lstStyle/>
          <a:p>
            <a:pPr algn="l">
              <a:lnSpc>
                <a:spcPct val="100000"/>
              </a:lnSpc>
            </a:pPr>
            <a:r>
              <a:rPr sz="1300" b="1" i="0">
                <a:solidFill>
                  <a:srgbClr val="8F3A2F"/>
                </a:solidFill>
                <a:latin typeface="Calibri"/>
              </a:rPr>
              <a:t>All simulated, with per-read ground truth</a:t>
            </a:r>
          </a:p>
        </p:txBody>
      </p:sp>
      <p:sp>
        <p:nvSpPr>
          <p:cNvPr id="51" name="TextBox 50"/>
          <p:cNvSpPr txBox="1"/>
          <p:nvPr/>
        </p:nvSpPr>
        <p:spPr>
          <a:xfrm>
            <a:off x="841247" y="4608576"/>
            <a:ext cx="10509199" cy="493776"/>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Host removal is scored exactly as a binary classification of reads. Depletion is deterministic, so accuracy is identical across replicates — replication applies to timing only.</a:t>
            </a:r>
          </a:p>
        </p:txBody>
      </p:sp>
      <p:sp>
        <p:nvSpPr>
          <p:cNvPr id="52" name="TextBox 51"/>
          <p:cNvSpPr txBox="1"/>
          <p:nvPr/>
        </p:nvSpPr>
        <p:spPr>
          <a:xfrm>
            <a:off x="566928" y="5266944"/>
            <a:ext cx="11057839" cy="310896"/>
          </a:xfrm>
          <a:prstGeom prst="rect">
            <a:avLst/>
          </a:prstGeom>
          <a:noFill/>
        </p:spPr>
        <p:txBody>
          <a:bodyPr wrap="square" lIns="45720" rIns="45720" tIns="18288" bIns="18288" anchor="t">
            <a:spAutoFit/>
          </a:bodyPr>
          <a:lstStyle/>
          <a:p>
            <a:pPr algn="l">
              <a:lnSpc>
                <a:spcPct val="100000"/>
              </a:lnSpc>
            </a:pPr>
            <a:r>
              <a:rPr sz="1250" b="0" i="1">
                <a:solidFill>
                  <a:srgbClr val="8F3A2F"/>
                </a:solidFill>
                <a:latin typeface="Calibri"/>
              </a:rPr>
              <a:t>Not yet run: paired-end libraries, host fractions between 10 % and 30 % (where routing actually decides), and any real cohort.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RESULTS · ACCURACY, 4 DATASETS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Experiment 1 — the two error directions</a:t>
            </a:r>
          </a:p>
        </p:txBody>
      </p:sp>
      <p:sp>
        <p:nvSpPr>
          <p:cNvPr id="4" name="Rounded Rectangle 3"/>
          <p:cNvSpPr/>
          <p:nvPr/>
        </p:nvSpPr>
        <p:spPr>
          <a:xfrm>
            <a:off x="566928" y="1389888"/>
            <a:ext cx="10972800" cy="402336"/>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3474720" cy="329184"/>
          </a:xfrm>
          <a:prstGeom prst="rect">
            <a:avLst/>
          </a:prstGeom>
          <a:noFill/>
        </p:spPr>
        <p:txBody>
          <a:bodyPr wrap="square" lIns="45720" rIns="45720" tIns="18288" bIns="18288" anchor="ctr">
            <a:spAutoFit/>
          </a:bodyPr>
          <a:lstStyle/>
          <a:p>
            <a:pPr algn="l">
              <a:lnSpc>
                <a:spcPct val="100000"/>
              </a:lnSpc>
            </a:pPr>
            <a:r>
              <a:rPr sz="1250" b="1" i="0">
                <a:solidFill>
                  <a:srgbClr val="FFFFFF"/>
                </a:solidFill>
                <a:latin typeface="Calibri"/>
              </a:rPr>
              <a:t>Tool</a:t>
            </a:r>
          </a:p>
        </p:txBody>
      </p:sp>
      <p:sp>
        <p:nvSpPr>
          <p:cNvPr id="6" name="TextBox 5"/>
          <p:cNvSpPr txBox="1"/>
          <p:nvPr/>
        </p:nvSpPr>
        <p:spPr>
          <a:xfrm>
            <a:off x="4187951" y="1426464"/>
            <a:ext cx="1920240" cy="329184"/>
          </a:xfrm>
          <a:prstGeom prst="rect">
            <a:avLst/>
          </a:prstGeom>
          <a:noFill/>
        </p:spPr>
        <p:txBody>
          <a:bodyPr wrap="square" lIns="45720" rIns="45720" tIns="18288" bIns="18288" anchor="ctr">
            <a:spAutoFit/>
          </a:bodyPr>
          <a:lstStyle/>
          <a:p>
            <a:pPr algn="l">
              <a:lnSpc>
                <a:spcPct val="100000"/>
              </a:lnSpc>
            </a:pPr>
            <a:r>
              <a:rPr sz="1250" b="1" i="0">
                <a:solidFill>
                  <a:srgbClr val="FFFFFF"/>
                </a:solidFill>
                <a:latin typeface="Calibri"/>
              </a:rPr>
              <a:t>Mean F1</a:t>
            </a:r>
          </a:p>
        </p:txBody>
      </p:sp>
      <p:sp>
        <p:nvSpPr>
          <p:cNvPr id="7" name="TextBox 6"/>
          <p:cNvSpPr txBox="1"/>
          <p:nvPr/>
        </p:nvSpPr>
        <p:spPr>
          <a:xfrm>
            <a:off x="6199631" y="1426464"/>
            <a:ext cx="2651760" cy="329184"/>
          </a:xfrm>
          <a:prstGeom prst="rect">
            <a:avLst/>
          </a:prstGeom>
          <a:noFill/>
        </p:spPr>
        <p:txBody>
          <a:bodyPr wrap="square" lIns="45720" rIns="45720" tIns="18288" bIns="18288" anchor="ctr">
            <a:spAutoFit/>
          </a:bodyPr>
          <a:lstStyle/>
          <a:p>
            <a:pPr algn="l">
              <a:lnSpc>
                <a:spcPct val="100000"/>
              </a:lnSpc>
            </a:pPr>
            <a:r>
              <a:rPr sz="1250" b="1" i="0">
                <a:solidFill>
                  <a:srgbClr val="FFFFFF"/>
                </a:solidFill>
                <a:latin typeface="Calibri"/>
              </a:rPr>
              <a:t>Microbial loss</a:t>
            </a:r>
          </a:p>
        </p:txBody>
      </p:sp>
      <p:sp>
        <p:nvSpPr>
          <p:cNvPr id="8" name="TextBox 7"/>
          <p:cNvSpPr txBox="1"/>
          <p:nvPr/>
        </p:nvSpPr>
        <p:spPr>
          <a:xfrm>
            <a:off x="8942832" y="1426464"/>
            <a:ext cx="2560320" cy="329184"/>
          </a:xfrm>
          <a:prstGeom prst="rect">
            <a:avLst/>
          </a:prstGeom>
          <a:noFill/>
        </p:spPr>
        <p:txBody>
          <a:bodyPr wrap="square" lIns="45720" rIns="45720" tIns="18288" bIns="18288" anchor="ctr">
            <a:spAutoFit/>
          </a:bodyPr>
          <a:lstStyle/>
          <a:p>
            <a:pPr algn="l">
              <a:lnSpc>
                <a:spcPct val="100000"/>
              </a:lnSpc>
            </a:pPr>
            <a:r>
              <a:rPr sz="1250" b="1" i="0">
                <a:solidFill>
                  <a:srgbClr val="FFFFFF"/>
                </a:solidFill>
                <a:latin typeface="Calibri"/>
              </a:rPr>
              <a:t>Host carry-over</a:t>
            </a:r>
          </a:p>
        </p:txBody>
      </p:sp>
      <p:sp>
        <p:nvSpPr>
          <p:cNvPr id="9" name="Rectangle 8"/>
          <p:cNvSpPr/>
          <p:nvPr/>
        </p:nvSpPr>
        <p:spPr>
          <a:xfrm>
            <a:off x="566928" y="1792224"/>
            <a:ext cx="10972800" cy="420624"/>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 y="1810512"/>
            <a:ext cx="3474720" cy="384048"/>
          </a:xfrm>
          <a:prstGeom prst="rect">
            <a:avLst/>
          </a:prstGeom>
          <a:noFill/>
        </p:spPr>
        <p:txBody>
          <a:bodyPr wrap="square" lIns="45720" rIns="45720" tIns="18288" bIns="18288" anchor="ctr">
            <a:spAutoFit/>
          </a:bodyPr>
          <a:lstStyle/>
          <a:p>
            <a:pPr algn="l">
              <a:lnSpc>
                <a:spcPct val="100000"/>
              </a:lnSpc>
            </a:pPr>
            <a:r>
              <a:rPr sz="1300" b="1" i="0">
                <a:solidFill>
                  <a:srgbClr val="2E2A27"/>
                </a:solidFill>
                <a:latin typeface="Calibri"/>
              </a:rPr>
              <a:t>RustyClean (auto, no recheck)</a:t>
            </a:r>
          </a:p>
        </p:txBody>
      </p:sp>
      <p:sp>
        <p:nvSpPr>
          <p:cNvPr id="11" name="TextBox 10"/>
          <p:cNvSpPr txBox="1"/>
          <p:nvPr/>
        </p:nvSpPr>
        <p:spPr>
          <a:xfrm>
            <a:off x="4187951" y="1810512"/>
            <a:ext cx="192024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0.9790</a:t>
            </a:r>
          </a:p>
        </p:txBody>
      </p:sp>
      <p:sp>
        <p:nvSpPr>
          <p:cNvPr id="12" name="TextBox 11"/>
          <p:cNvSpPr txBox="1"/>
          <p:nvPr/>
        </p:nvSpPr>
        <p:spPr>
          <a:xfrm>
            <a:off x="6199631" y="1810512"/>
            <a:ext cx="265176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0.202 %</a:t>
            </a:r>
          </a:p>
        </p:txBody>
      </p:sp>
      <p:sp>
        <p:nvSpPr>
          <p:cNvPr id="13" name="TextBox 12"/>
          <p:cNvSpPr txBox="1"/>
          <p:nvPr/>
        </p:nvSpPr>
        <p:spPr>
          <a:xfrm>
            <a:off x="8942832" y="1810512"/>
            <a:ext cx="256032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0.902 %</a:t>
            </a:r>
          </a:p>
        </p:txBody>
      </p:sp>
      <p:sp>
        <p:nvSpPr>
          <p:cNvPr id="14" name="TextBox 13"/>
          <p:cNvSpPr txBox="1"/>
          <p:nvPr/>
        </p:nvSpPr>
        <p:spPr>
          <a:xfrm>
            <a:off x="621792" y="2231136"/>
            <a:ext cx="3474720" cy="384048"/>
          </a:xfrm>
          <a:prstGeom prst="rect">
            <a:avLst/>
          </a:prstGeom>
          <a:noFill/>
        </p:spPr>
        <p:txBody>
          <a:bodyPr wrap="square" lIns="45720" rIns="45720" tIns="18288" bIns="18288" anchor="ctr">
            <a:spAutoFit/>
          </a:bodyPr>
          <a:lstStyle/>
          <a:p>
            <a:pPr algn="l">
              <a:lnSpc>
                <a:spcPct val="100000"/>
              </a:lnSpc>
            </a:pPr>
            <a:r>
              <a:rPr sz="1300" b="1" i="0">
                <a:solidFill>
                  <a:srgbClr val="2E2A27"/>
                </a:solidFill>
                <a:latin typeface="Calibri"/>
              </a:rPr>
              <a:t>Hostile</a:t>
            </a:r>
          </a:p>
        </p:txBody>
      </p:sp>
      <p:sp>
        <p:nvSpPr>
          <p:cNvPr id="15" name="TextBox 14"/>
          <p:cNvSpPr txBox="1"/>
          <p:nvPr/>
        </p:nvSpPr>
        <p:spPr>
          <a:xfrm>
            <a:off x="4187951" y="2231136"/>
            <a:ext cx="192024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0.9899</a:t>
            </a:r>
          </a:p>
        </p:txBody>
      </p:sp>
      <p:sp>
        <p:nvSpPr>
          <p:cNvPr id="16" name="TextBox 15"/>
          <p:cNvSpPr txBox="1"/>
          <p:nvPr/>
        </p:nvSpPr>
        <p:spPr>
          <a:xfrm>
            <a:off x="6199631" y="2231136"/>
            <a:ext cx="265176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0.029 %</a:t>
            </a:r>
          </a:p>
        </p:txBody>
      </p:sp>
      <p:sp>
        <p:nvSpPr>
          <p:cNvPr id="17" name="TextBox 16"/>
          <p:cNvSpPr txBox="1"/>
          <p:nvPr/>
        </p:nvSpPr>
        <p:spPr>
          <a:xfrm>
            <a:off x="8942832" y="2231136"/>
            <a:ext cx="256032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0.678 %</a:t>
            </a:r>
          </a:p>
        </p:txBody>
      </p:sp>
      <p:sp>
        <p:nvSpPr>
          <p:cNvPr id="18" name="Rectangle 17"/>
          <p:cNvSpPr/>
          <p:nvPr/>
        </p:nvSpPr>
        <p:spPr>
          <a:xfrm>
            <a:off x="566928" y="2633472"/>
            <a:ext cx="10972800" cy="420624"/>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21792" y="2651760"/>
            <a:ext cx="3474720" cy="384048"/>
          </a:xfrm>
          <a:prstGeom prst="rect">
            <a:avLst/>
          </a:prstGeom>
          <a:noFill/>
        </p:spPr>
        <p:txBody>
          <a:bodyPr wrap="square" lIns="45720" rIns="45720" tIns="18288" bIns="18288" anchor="ctr">
            <a:spAutoFit/>
          </a:bodyPr>
          <a:lstStyle/>
          <a:p>
            <a:pPr algn="l">
              <a:lnSpc>
                <a:spcPct val="100000"/>
              </a:lnSpc>
            </a:pPr>
            <a:r>
              <a:rPr sz="1300" b="1" i="0">
                <a:solidFill>
                  <a:srgbClr val="2E2A27"/>
                </a:solidFill>
                <a:latin typeface="Calibri"/>
              </a:rPr>
              <a:t>KneadData</a:t>
            </a:r>
          </a:p>
        </p:txBody>
      </p:sp>
      <p:sp>
        <p:nvSpPr>
          <p:cNvPr id="20" name="TextBox 19"/>
          <p:cNvSpPr txBox="1"/>
          <p:nvPr/>
        </p:nvSpPr>
        <p:spPr>
          <a:xfrm>
            <a:off x="4187951" y="2651760"/>
            <a:ext cx="192024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0.9831</a:t>
            </a:r>
          </a:p>
        </p:txBody>
      </p:sp>
      <p:sp>
        <p:nvSpPr>
          <p:cNvPr id="21" name="TextBox 20"/>
          <p:cNvSpPr txBox="1"/>
          <p:nvPr/>
        </p:nvSpPr>
        <p:spPr>
          <a:xfrm>
            <a:off x="6199631" y="2651760"/>
            <a:ext cx="265176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2.582 %</a:t>
            </a:r>
          </a:p>
        </p:txBody>
      </p:sp>
      <p:sp>
        <p:nvSpPr>
          <p:cNvPr id="22" name="TextBox 21"/>
          <p:cNvSpPr txBox="1"/>
          <p:nvPr/>
        </p:nvSpPr>
        <p:spPr>
          <a:xfrm>
            <a:off x="8942832" y="2651760"/>
            <a:ext cx="2560320" cy="384048"/>
          </a:xfrm>
          <a:prstGeom prst="rect">
            <a:avLst/>
          </a:prstGeom>
          <a:noFill/>
        </p:spPr>
        <p:txBody>
          <a:bodyPr wrap="square" lIns="45720" rIns="45720" tIns="18288" bIns="18288" anchor="ctr">
            <a:spAutoFit/>
          </a:bodyPr>
          <a:lstStyle/>
          <a:p>
            <a:pPr algn="l">
              <a:lnSpc>
                <a:spcPct val="100000"/>
              </a:lnSpc>
            </a:pPr>
            <a:r>
              <a:rPr sz="1300" b="0" i="0">
                <a:solidFill>
                  <a:srgbClr val="2E2A27"/>
                </a:solidFill>
                <a:latin typeface="Calibri"/>
              </a:rPr>
              <a:t>0.256 %</a:t>
            </a:r>
          </a:p>
        </p:txBody>
      </p:sp>
      <p:sp>
        <p:nvSpPr>
          <p:cNvPr id="23" name="Rounded Rectangle 22"/>
          <p:cNvSpPr/>
          <p:nvPr/>
        </p:nvSpPr>
        <p:spPr>
          <a:xfrm>
            <a:off x="566928" y="3054096"/>
            <a:ext cx="5364327" cy="1463040"/>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3182112"/>
            <a:ext cx="4852263" cy="274320"/>
          </a:xfrm>
          <a:prstGeom prst="rect">
            <a:avLst/>
          </a:prstGeom>
          <a:noFill/>
        </p:spPr>
        <p:txBody>
          <a:bodyPr wrap="square" lIns="45720" rIns="45720" tIns="18288" bIns="18288" anchor="t">
            <a:spAutoFit/>
          </a:bodyPr>
          <a:lstStyle/>
          <a:p>
            <a:pPr algn="l">
              <a:lnSpc>
                <a:spcPct val="100000"/>
              </a:lnSpc>
            </a:pPr>
            <a:r>
              <a:rPr sz="1400" b="1" i="0">
                <a:solidFill>
                  <a:srgbClr val="8F3A2F"/>
                </a:solidFill>
                <a:latin typeface="Calibri"/>
              </a:rPr>
              <a:t>KneadData discards microbes</a:t>
            </a:r>
          </a:p>
        </p:txBody>
      </p:sp>
      <p:sp>
        <p:nvSpPr>
          <p:cNvPr id="25" name="TextBox 24"/>
          <p:cNvSpPr txBox="1"/>
          <p:nvPr/>
        </p:nvSpPr>
        <p:spPr>
          <a:xfrm>
            <a:off x="822960" y="3511296"/>
            <a:ext cx="4852263" cy="859536"/>
          </a:xfrm>
          <a:prstGeom prst="rect">
            <a:avLst/>
          </a:prstGeom>
          <a:noFill/>
        </p:spPr>
        <p:txBody>
          <a:bodyPr wrap="square" lIns="45720" rIns="45720" tIns="18288" bIns="18288" anchor="t">
            <a:spAutoFit/>
          </a:bodyPr>
          <a:lstStyle/>
          <a:p>
            <a:pPr algn="l">
              <a:lnSpc>
                <a:spcPct val="110000"/>
              </a:lnSpc>
            </a:pPr>
            <a:r>
              <a:rPr sz="1250" b="0" i="0">
                <a:solidFill>
                  <a:srgbClr val="7A736C"/>
                </a:solidFill>
                <a:latin typeface="Calibri"/>
              </a:rPr>
              <a:t>2.58 % of genuine microbial reads, 13× more than RustyClean. Alignment's false positives are an irreversible loss of signal.</a:t>
            </a:r>
          </a:p>
        </p:txBody>
      </p:sp>
      <p:sp>
        <p:nvSpPr>
          <p:cNvPr id="26" name="Rounded Rectangle 25"/>
          <p:cNvSpPr/>
          <p:nvPr/>
        </p:nvSpPr>
        <p:spPr>
          <a:xfrm>
            <a:off x="6260439" y="3054096"/>
            <a:ext cx="5364327" cy="1463040"/>
          </a:xfrm>
          <a:prstGeom prst="roundRect">
            <a:avLst>
              <a:gd name="adj" fmla="val 7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516471" y="3182112"/>
            <a:ext cx="4852263" cy="274320"/>
          </a:xfrm>
          <a:prstGeom prst="rect">
            <a:avLst/>
          </a:prstGeom>
          <a:noFill/>
        </p:spPr>
        <p:txBody>
          <a:bodyPr wrap="square" lIns="45720" rIns="45720" tIns="18288" bIns="18288" anchor="t">
            <a:spAutoFit/>
          </a:bodyPr>
          <a:lstStyle/>
          <a:p>
            <a:pPr algn="l">
              <a:lnSpc>
                <a:spcPct val="100000"/>
              </a:lnSpc>
            </a:pPr>
            <a:r>
              <a:rPr sz="1400" b="1" i="0">
                <a:solidFill>
                  <a:srgbClr val="E0A99E"/>
                </a:solidFill>
                <a:latin typeface="Calibri"/>
              </a:rPr>
              <a:t>RustyClean retains host</a:t>
            </a:r>
          </a:p>
        </p:txBody>
      </p:sp>
      <p:sp>
        <p:nvSpPr>
          <p:cNvPr id="28" name="TextBox 27"/>
          <p:cNvSpPr txBox="1"/>
          <p:nvPr/>
        </p:nvSpPr>
        <p:spPr>
          <a:xfrm>
            <a:off x="6516471" y="3511296"/>
            <a:ext cx="4852263" cy="859536"/>
          </a:xfrm>
          <a:prstGeom prst="rect">
            <a:avLst/>
          </a:prstGeom>
          <a:noFill/>
        </p:spPr>
        <p:txBody>
          <a:bodyPr wrap="square" lIns="45720" rIns="45720" tIns="18288" bIns="18288" anchor="t">
            <a:spAutoFit/>
          </a:bodyPr>
          <a:lstStyle/>
          <a:p>
            <a:pPr algn="l">
              <a:lnSpc>
                <a:spcPct val="110000"/>
              </a:lnSpc>
            </a:pPr>
            <a:r>
              <a:rPr sz="1250" b="0" i="0">
                <a:solidFill>
                  <a:srgbClr val="FFFFFF"/>
                </a:solidFill>
                <a:latin typeface="Calibri"/>
              </a:rPr>
              <a:t>0.90 % of host reads survive without the verification pass — the characteristic false-negative bias of k-mer classification. Experiment 4 addresses this.</a:t>
            </a:r>
          </a:p>
        </p:txBody>
      </p:sp>
      <p:sp>
        <p:nvSpPr>
          <p:cNvPr id="29" name="TextBox 28"/>
          <p:cNvSpPr txBox="1"/>
          <p:nvPr/>
        </p:nvSpPr>
        <p:spPr>
          <a:xfrm>
            <a:off x="566928" y="4700016"/>
            <a:ext cx="11057839" cy="530352"/>
          </a:xfrm>
          <a:prstGeom prst="rect">
            <a:avLst/>
          </a:prstGeom>
          <a:noFill/>
        </p:spPr>
        <p:txBody>
          <a:bodyPr wrap="square" lIns="45720" rIns="45720" tIns="18288" bIns="18288" anchor="t">
            <a:spAutoFit/>
          </a:bodyPr>
          <a:lstStyle/>
          <a:p>
            <a:pPr algn="l">
              <a:lnSpc>
                <a:spcPct val="110000"/>
              </a:lnSpc>
            </a:pPr>
            <a:r>
              <a:rPr sz="1350" b="1" i="0">
                <a:solidFill>
                  <a:srgbClr val="8F3A2F"/>
                </a:solidFill>
                <a:latin typeface="Calibri"/>
              </a:rPr>
              <a:t>Hostile is the strongest accuracy baseline: lowest microbial loss and highest mean F1 of the three. On accuracy alone, without verification, RustyClean does not lead.</a:t>
            </a:r>
          </a:p>
        </p:txBody>
      </p:sp>
      <p:sp>
        <p:nvSpPr>
          <p:cNvPr id="30" name="TextBox 29"/>
          <p:cNvSpPr txBox="1"/>
          <p:nvPr/>
        </p:nvSpPr>
        <p:spPr>
          <a:xfrm>
            <a:off x="566928" y="5266944"/>
            <a:ext cx="11057839" cy="310896"/>
          </a:xfrm>
          <a:prstGeom prst="rect">
            <a:avLst/>
          </a:prstGeom>
          <a:noFill/>
        </p:spPr>
        <p:txBody>
          <a:bodyPr wrap="square" lIns="45720" rIns="45720" tIns="18288" bIns="18288" anchor="t">
            <a:spAutoFit/>
          </a:bodyPr>
          <a:lstStyle/>
          <a:p>
            <a:pPr algn="l">
              <a:lnSpc>
                <a:spcPct val="100000"/>
              </a:lnSpc>
            </a:pPr>
            <a:r>
              <a:rPr sz="1250" b="0" i="1">
                <a:solidFill>
                  <a:srgbClr val="7A736C"/>
                </a:solidFill>
                <a:latin typeface="Calibri"/>
              </a:rPr>
              <a:t>Confirms the pattern reported by Gao et al. (2025): alignment → false positives, k-mer → false negatives.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RESULTS · SPEED AGAINST BOTH BASELINES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Experiments 2 &amp; 3 — runtime</a:t>
            </a:r>
          </a:p>
        </p:txBody>
      </p:sp>
      <p:sp>
        <p:nvSpPr>
          <p:cNvPr id="4" name="Rounded Rectangle 3"/>
          <p:cNvSpPr/>
          <p:nvPr/>
        </p:nvSpPr>
        <p:spPr>
          <a:xfrm>
            <a:off x="566928" y="1389888"/>
            <a:ext cx="11057839" cy="384048"/>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150876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Dataset</a:t>
            </a:r>
          </a:p>
        </p:txBody>
      </p:sp>
      <p:sp>
        <p:nvSpPr>
          <p:cNvPr id="6" name="TextBox 5"/>
          <p:cNvSpPr txBox="1"/>
          <p:nvPr/>
        </p:nvSpPr>
        <p:spPr>
          <a:xfrm>
            <a:off x="2221992" y="1426464"/>
            <a:ext cx="109728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Backend</a:t>
            </a:r>
          </a:p>
        </p:txBody>
      </p:sp>
      <p:sp>
        <p:nvSpPr>
          <p:cNvPr id="7" name="TextBox 6"/>
          <p:cNvSpPr txBox="1"/>
          <p:nvPr/>
        </p:nvSpPr>
        <p:spPr>
          <a:xfrm>
            <a:off x="3410712" y="1426464"/>
            <a:ext cx="1417319"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RustyClean</a:t>
            </a:r>
          </a:p>
        </p:txBody>
      </p:sp>
      <p:sp>
        <p:nvSpPr>
          <p:cNvPr id="8" name="TextBox 7"/>
          <p:cNvSpPr txBox="1"/>
          <p:nvPr/>
        </p:nvSpPr>
        <p:spPr>
          <a:xfrm>
            <a:off x="4919472" y="1426464"/>
            <a:ext cx="132588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KneadData</a:t>
            </a:r>
          </a:p>
        </p:txBody>
      </p:sp>
      <p:sp>
        <p:nvSpPr>
          <p:cNvPr id="9" name="TextBox 8"/>
          <p:cNvSpPr txBox="1"/>
          <p:nvPr/>
        </p:nvSpPr>
        <p:spPr>
          <a:xfrm>
            <a:off x="6336792" y="1426464"/>
            <a:ext cx="86868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vs KD</a:t>
            </a:r>
          </a:p>
        </p:txBody>
      </p:sp>
      <p:sp>
        <p:nvSpPr>
          <p:cNvPr id="10" name="TextBox 9"/>
          <p:cNvSpPr txBox="1"/>
          <p:nvPr/>
        </p:nvSpPr>
        <p:spPr>
          <a:xfrm>
            <a:off x="7296912" y="1426464"/>
            <a:ext cx="160020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RC --skip-qc</a:t>
            </a:r>
          </a:p>
        </p:txBody>
      </p:sp>
      <p:sp>
        <p:nvSpPr>
          <p:cNvPr id="11" name="TextBox 10"/>
          <p:cNvSpPr txBox="1"/>
          <p:nvPr/>
        </p:nvSpPr>
        <p:spPr>
          <a:xfrm>
            <a:off x="8988552" y="1426464"/>
            <a:ext cx="1234439"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Hostile</a:t>
            </a:r>
          </a:p>
        </p:txBody>
      </p:sp>
      <p:sp>
        <p:nvSpPr>
          <p:cNvPr id="12" name="TextBox 11"/>
          <p:cNvSpPr txBox="1"/>
          <p:nvPr/>
        </p:nvSpPr>
        <p:spPr>
          <a:xfrm>
            <a:off x="10314432" y="1426464"/>
            <a:ext cx="128016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vs Hostile</a:t>
            </a:r>
          </a:p>
        </p:txBody>
      </p:sp>
      <p:sp>
        <p:nvSpPr>
          <p:cNvPr id="13" name="Rectangle 12"/>
          <p:cNvSpPr/>
          <p:nvPr/>
        </p:nvSpPr>
        <p:spPr>
          <a:xfrm>
            <a:off x="566928" y="177393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21792" y="1792224"/>
            <a:ext cx="150876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5M / 1%</a:t>
            </a:r>
          </a:p>
        </p:txBody>
      </p:sp>
      <p:sp>
        <p:nvSpPr>
          <p:cNvPr id="15" name="TextBox 14"/>
          <p:cNvSpPr txBox="1"/>
          <p:nvPr/>
        </p:nvSpPr>
        <p:spPr>
          <a:xfrm>
            <a:off x="2221992" y="1792224"/>
            <a:ext cx="10972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bowtie2</a:t>
            </a:r>
          </a:p>
        </p:txBody>
      </p:sp>
      <p:sp>
        <p:nvSpPr>
          <p:cNvPr id="16" name="TextBox 15"/>
          <p:cNvSpPr txBox="1"/>
          <p:nvPr/>
        </p:nvSpPr>
        <p:spPr>
          <a:xfrm>
            <a:off x="3410712" y="1792224"/>
            <a:ext cx="141731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2.8 min</a:t>
            </a:r>
          </a:p>
        </p:txBody>
      </p:sp>
      <p:sp>
        <p:nvSpPr>
          <p:cNvPr id="17" name="TextBox 16"/>
          <p:cNvSpPr txBox="1"/>
          <p:nvPr/>
        </p:nvSpPr>
        <p:spPr>
          <a:xfrm>
            <a:off x="4919472" y="1792224"/>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7.0 min</a:t>
            </a:r>
          </a:p>
        </p:txBody>
      </p:sp>
      <p:sp>
        <p:nvSpPr>
          <p:cNvPr id="18" name="TextBox 17"/>
          <p:cNvSpPr txBox="1"/>
          <p:nvPr/>
        </p:nvSpPr>
        <p:spPr>
          <a:xfrm>
            <a:off x="6336792" y="1792224"/>
            <a:ext cx="8686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2.5×</a:t>
            </a:r>
          </a:p>
        </p:txBody>
      </p:sp>
      <p:sp>
        <p:nvSpPr>
          <p:cNvPr id="19" name="TextBox 18"/>
          <p:cNvSpPr txBox="1"/>
          <p:nvPr/>
        </p:nvSpPr>
        <p:spPr>
          <a:xfrm>
            <a:off x="7296912" y="1792224"/>
            <a:ext cx="1600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1.8 min</a:t>
            </a:r>
          </a:p>
        </p:txBody>
      </p:sp>
      <p:sp>
        <p:nvSpPr>
          <p:cNvPr id="20" name="TextBox 19"/>
          <p:cNvSpPr txBox="1"/>
          <p:nvPr/>
        </p:nvSpPr>
        <p:spPr>
          <a:xfrm>
            <a:off x="8988552" y="1792224"/>
            <a:ext cx="12344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1.8 min</a:t>
            </a:r>
          </a:p>
        </p:txBody>
      </p:sp>
      <p:sp>
        <p:nvSpPr>
          <p:cNvPr id="21" name="TextBox 20"/>
          <p:cNvSpPr txBox="1"/>
          <p:nvPr/>
        </p:nvSpPr>
        <p:spPr>
          <a:xfrm>
            <a:off x="10314432" y="1792224"/>
            <a:ext cx="12801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1.0×</a:t>
            </a:r>
          </a:p>
        </p:txBody>
      </p:sp>
      <p:sp>
        <p:nvSpPr>
          <p:cNvPr id="22" name="TextBox 21"/>
          <p:cNvSpPr txBox="1"/>
          <p:nvPr/>
        </p:nvSpPr>
        <p:spPr>
          <a:xfrm>
            <a:off x="621792" y="2157984"/>
            <a:ext cx="150876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10M / 10%</a:t>
            </a:r>
          </a:p>
        </p:txBody>
      </p:sp>
      <p:sp>
        <p:nvSpPr>
          <p:cNvPr id="23" name="TextBox 22"/>
          <p:cNvSpPr txBox="1"/>
          <p:nvPr/>
        </p:nvSpPr>
        <p:spPr>
          <a:xfrm>
            <a:off x="2221992" y="2157984"/>
            <a:ext cx="10972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bowtie2</a:t>
            </a:r>
          </a:p>
        </p:txBody>
      </p:sp>
      <p:sp>
        <p:nvSpPr>
          <p:cNvPr id="24" name="TextBox 23"/>
          <p:cNvSpPr txBox="1"/>
          <p:nvPr/>
        </p:nvSpPr>
        <p:spPr>
          <a:xfrm>
            <a:off x="3410712" y="2157984"/>
            <a:ext cx="141731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3.1 min</a:t>
            </a:r>
          </a:p>
        </p:txBody>
      </p:sp>
      <p:sp>
        <p:nvSpPr>
          <p:cNvPr id="25" name="TextBox 24"/>
          <p:cNvSpPr txBox="1"/>
          <p:nvPr/>
        </p:nvSpPr>
        <p:spPr>
          <a:xfrm>
            <a:off x="4919472" y="2157984"/>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11.6 min</a:t>
            </a:r>
          </a:p>
        </p:txBody>
      </p:sp>
      <p:sp>
        <p:nvSpPr>
          <p:cNvPr id="26" name="TextBox 25"/>
          <p:cNvSpPr txBox="1"/>
          <p:nvPr/>
        </p:nvSpPr>
        <p:spPr>
          <a:xfrm>
            <a:off x="6336792" y="2157984"/>
            <a:ext cx="8686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3.7×</a:t>
            </a:r>
          </a:p>
        </p:txBody>
      </p:sp>
      <p:sp>
        <p:nvSpPr>
          <p:cNvPr id="27" name="TextBox 26"/>
          <p:cNvSpPr txBox="1"/>
          <p:nvPr/>
        </p:nvSpPr>
        <p:spPr>
          <a:xfrm>
            <a:off x="7296912" y="2157984"/>
            <a:ext cx="1600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1.9 min</a:t>
            </a:r>
          </a:p>
        </p:txBody>
      </p:sp>
      <p:sp>
        <p:nvSpPr>
          <p:cNvPr id="28" name="TextBox 27"/>
          <p:cNvSpPr txBox="1"/>
          <p:nvPr/>
        </p:nvSpPr>
        <p:spPr>
          <a:xfrm>
            <a:off x="8988552" y="2157984"/>
            <a:ext cx="12344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3.5 min</a:t>
            </a:r>
          </a:p>
        </p:txBody>
      </p:sp>
      <p:sp>
        <p:nvSpPr>
          <p:cNvPr id="29" name="TextBox 28"/>
          <p:cNvSpPr txBox="1"/>
          <p:nvPr/>
        </p:nvSpPr>
        <p:spPr>
          <a:xfrm>
            <a:off x="10314432" y="2157984"/>
            <a:ext cx="12801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1.8×</a:t>
            </a:r>
          </a:p>
        </p:txBody>
      </p:sp>
      <p:sp>
        <p:nvSpPr>
          <p:cNvPr id="30" name="Rectangle 29"/>
          <p:cNvSpPr/>
          <p:nvPr/>
        </p:nvSpPr>
        <p:spPr>
          <a:xfrm>
            <a:off x="566928" y="250545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21792" y="2523744"/>
            <a:ext cx="150876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30M / 50%</a:t>
            </a:r>
          </a:p>
        </p:txBody>
      </p:sp>
      <p:sp>
        <p:nvSpPr>
          <p:cNvPr id="32" name="TextBox 31"/>
          <p:cNvSpPr txBox="1"/>
          <p:nvPr/>
        </p:nvSpPr>
        <p:spPr>
          <a:xfrm>
            <a:off x="2221992" y="2523744"/>
            <a:ext cx="10972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kraken2</a:t>
            </a:r>
          </a:p>
        </p:txBody>
      </p:sp>
      <p:sp>
        <p:nvSpPr>
          <p:cNvPr id="33" name="TextBox 32"/>
          <p:cNvSpPr txBox="1"/>
          <p:nvPr/>
        </p:nvSpPr>
        <p:spPr>
          <a:xfrm>
            <a:off x="3410712" y="2523744"/>
            <a:ext cx="141731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13.6 min</a:t>
            </a:r>
          </a:p>
        </p:txBody>
      </p:sp>
      <p:sp>
        <p:nvSpPr>
          <p:cNvPr id="34" name="TextBox 33"/>
          <p:cNvSpPr txBox="1"/>
          <p:nvPr/>
        </p:nvSpPr>
        <p:spPr>
          <a:xfrm>
            <a:off x="4919472" y="2523744"/>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38.6 min</a:t>
            </a:r>
          </a:p>
        </p:txBody>
      </p:sp>
      <p:sp>
        <p:nvSpPr>
          <p:cNvPr id="35" name="TextBox 34"/>
          <p:cNvSpPr txBox="1"/>
          <p:nvPr/>
        </p:nvSpPr>
        <p:spPr>
          <a:xfrm>
            <a:off x="6336792" y="2523744"/>
            <a:ext cx="8686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2.8×</a:t>
            </a:r>
          </a:p>
        </p:txBody>
      </p:sp>
      <p:sp>
        <p:nvSpPr>
          <p:cNvPr id="36" name="TextBox 35"/>
          <p:cNvSpPr txBox="1"/>
          <p:nvPr/>
        </p:nvSpPr>
        <p:spPr>
          <a:xfrm>
            <a:off x="7296912" y="2523744"/>
            <a:ext cx="1600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9.2 min</a:t>
            </a:r>
          </a:p>
        </p:txBody>
      </p:sp>
      <p:sp>
        <p:nvSpPr>
          <p:cNvPr id="37" name="TextBox 36"/>
          <p:cNvSpPr txBox="1"/>
          <p:nvPr/>
        </p:nvSpPr>
        <p:spPr>
          <a:xfrm>
            <a:off x="8988552" y="2523744"/>
            <a:ext cx="12344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39.8 min</a:t>
            </a:r>
          </a:p>
        </p:txBody>
      </p:sp>
      <p:sp>
        <p:nvSpPr>
          <p:cNvPr id="38" name="TextBox 37"/>
          <p:cNvSpPr txBox="1"/>
          <p:nvPr/>
        </p:nvSpPr>
        <p:spPr>
          <a:xfrm>
            <a:off x="10314432" y="2523744"/>
            <a:ext cx="12801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4.3×</a:t>
            </a:r>
          </a:p>
        </p:txBody>
      </p:sp>
      <p:sp>
        <p:nvSpPr>
          <p:cNvPr id="39" name="TextBox 38"/>
          <p:cNvSpPr txBox="1"/>
          <p:nvPr/>
        </p:nvSpPr>
        <p:spPr>
          <a:xfrm>
            <a:off x="621792" y="2889503"/>
            <a:ext cx="150876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60M / 90%</a:t>
            </a:r>
          </a:p>
        </p:txBody>
      </p:sp>
      <p:sp>
        <p:nvSpPr>
          <p:cNvPr id="40" name="TextBox 39"/>
          <p:cNvSpPr txBox="1"/>
          <p:nvPr/>
        </p:nvSpPr>
        <p:spPr>
          <a:xfrm>
            <a:off x="2221992" y="2889503"/>
            <a:ext cx="10972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kraken2</a:t>
            </a:r>
          </a:p>
        </p:txBody>
      </p:sp>
      <p:sp>
        <p:nvSpPr>
          <p:cNvPr id="41" name="TextBox 40"/>
          <p:cNvSpPr txBox="1"/>
          <p:nvPr/>
        </p:nvSpPr>
        <p:spPr>
          <a:xfrm>
            <a:off x="3410712" y="2889503"/>
            <a:ext cx="141731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24.5 min</a:t>
            </a:r>
          </a:p>
        </p:txBody>
      </p:sp>
      <p:sp>
        <p:nvSpPr>
          <p:cNvPr id="42" name="TextBox 41"/>
          <p:cNvSpPr txBox="1"/>
          <p:nvPr/>
        </p:nvSpPr>
        <p:spPr>
          <a:xfrm>
            <a:off x="4919472" y="2889503"/>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113.7 min</a:t>
            </a:r>
          </a:p>
        </p:txBody>
      </p:sp>
      <p:sp>
        <p:nvSpPr>
          <p:cNvPr id="43" name="TextBox 42"/>
          <p:cNvSpPr txBox="1"/>
          <p:nvPr/>
        </p:nvSpPr>
        <p:spPr>
          <a:xfrm>
            <a:off x="6336792" y="2889503"/>
            <a:ext cx="8686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4.6×</a:t>
            </a:r>
          </a:p>
        </p:txBody>
      </p:sp>
      <p:sp>
        <p:nvSpPr>
          <p:cNvPr id="44" name="TextBox 43"/>
          <p:cNvSpPr txBox="1"/>
          <p:nvPr/>
        </p:nvSpPr>
        <p:spPr>
          <a:xfrm>
            <a:off x="7296912" y="2889503"/>
            <a:ext cx="1600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14.3 min</a:t>
            </a:r>
          </a:p>
        </p:txBody>
      </p:sp>
      <p:sp>
        <p:nvSpPr>
          <p:cNvPr id="45" name="TextBox 44"/>
          <p:cNvSpPr txBox="1"/>
          <p:nvPr/>
        </p:nvSpPr>
        <p:spPr>
          <a:xfrm>
            <a:off x="8988552" y="2889503"/>
            <a:ext cx="12344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70.7 min</a:t>
            </a:r>
          </a:p>
        </p:txBody>
      </p:sp>
      <p:sp>
        <p:nvSpPr>
          <p:cNvPr id="46" name="TextBox 45"/>
          <p:cNvSpPr txBox="1"/>
          <p:nvPr/>
        </p:nvSpPr>
        <p:spPr>
          <a:xfrm>
            <a:off x="10314432" y="2889503"/>
            <a:ext cx="12801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4.9×</a:t>
            </a:r>
          </a:p>
        </p:txBody>
      </p:sp>
      <p:sp>
        <p:nvSpPr>
          <p:cNvPr id="47" name="Rounded Rectangle 46"/>
          <p:cNvSpPr/>
          <p:nvPr/>
        </p:nvSpPr>
        <p:spPr>
          <a:xfrm>
            <a:off x="566928" y="3072384"/>
            <a:ext cx="5364327" cy="1316736"/>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822960" y="3182112"/>
            <a:ext cx="4852263" cy="274320"/>
          </a:xfrm>
          <a:prstGeom prst="rect">
            <a:avLst/>
          </a:prstGeom>
          <a:noFill/>
        </p:spPr>
        <p:txBody>
          <a:bodyPr wrap="square" lIns="45720" rIns="45720" tIns="18288" bIns="18288" anchor="t">
            <a:spAutoFit/>
          </a:bodyPr>
          <a:lstStyle/>
          <a:p>
            <a:pPr algn="l">
              <a:lnSpc>
                <a:spcPct val="100000"/>
              </a:lnSpc>
            </a:pPr>
            <a:r>
              <a:rPr sz="1350" b="1" i="0">
                <a:solidFill>
                  <a:srgbClr val="8F3A2F"/>
                </a:solidFill>
                <a:latin typeface="Calibri"/>
              </a:rPr>
              <a:t>vs KneadData — full pipeline</a:t>
            </a:r>
          </a:p>
        </p:txBody>
      </p:sp>
      <p:sp>
        <p:nvSpPr>
          <p:cNvPr id="49" name="TextBox 48"/>
          <p:cNvSpPr txBox="1"/>
          <p:nvPr/>
        </p:nvSpPr>
        <p:spPr>
          <a:xfrm>
            <a:off x="822960" y="3493008"/>
            <a:ext cx="4852263" cy="786384"/>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2.5–4.6× faster on every dataset, widest at the highest host fraction. RustyClean does no repeat masking, so part of this is work not done.</a:t>
            </a:r>
          </a:p>
        </p:txBody>
      </p:sp>
      <p:sp>
        <p:nvSpPr>
          <p:cNvPr id="50" name="Rounded Rectangle 49"/>
          <p:cNvSpPr/>
          <p:nvPr/>
        </p:nvSpPr>
        <p:spPr>
          <a:xfrm>
            <a:off x="6260439" y="3072384"/>
            <a:ext cx="5364327" cy="1316736"/>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6516471" y="3182112"/>
            <a:ext cx="4852263" cy="274320"/>
          </a:xfrm>
          <a:prstGeom prst="rect">
            <a:avLst/>
          </a:prstGeom>
          <a:noFill/>
        </p:spPr>
        <p:txBody>
          <a:bodyPr wrap="square" lIns="45720" rIns="45720" tIns="18288" bIns="18288" anchor="t">
            <a:spAutoFit/>
          </a:bodyPr>
          <a:lstStyle/>
          <a:p>
            <a:pPr algn="l">
              <a:lnSpc>
                <a:spcPct val="100000"/>
              </a:lnSpc>
            </a:pPr>
            <a:r>
              <a:rPr sz="1350" b="1" i="0">
                <a:solidFill>
                  <a:srgbClr val="8F3A2F"/>
                </a:solidFill>
                <a:latin typeface="Calibri"/>
              </a:rPr>
              <a:t>vs Hostile — depletion only</a:t>
            </a:r>
          </a:p>
        </p:txBody>
      </p:sp>
      <p:sp>
        <p:nvSpPr>
          <p:cNvPr id="52" name="TextBox 51"/>
          <p:cNvSpPr txBox="1"/>
          <p:nvPr/>
        </p:nvSpPr>
        <p:spPr>
          <a:xfrm>
            <a:off x="6516471" y="3493008"/>
            <a:ext cx="4852263" cy="786384"/>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Comparable at low host (1.04× and 1.8×), 4.3× and 4.9× faster at 50 % and 90 % host. QC skipped on both sides so only depletion is timed.</a:t>
            </a:r>
          </a:p>
        </p:txBody>
      </p:sp>
      <p:sp>
        <p:nvSpPr>
          <p:cNvPr id="53" name="Rounded Rectangle 52"/>
          <p:cNvSpPr/>
          <p:nvPr/>
        </p:nvSpPr>
        <p:spPr>
          <a:xfrm>
            <a:off x="566928" y="4572000"/>
            <a:ext cx="11057839" cy="1005840"/>
          </a:xfrm>
          <a:prstGeom prst="roundRect">
            <a:avLst>
              <a:gd name="adj" fmla="val 6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41247" y="4681728"/>
            <a:ext cx="6949440" cy="274320"/>
          </a:xfrm>
          <a:prstGeom prst="rect">
            <a:avLst/>
          </a:prstGeom>
          <a:noFill/>
        </p:spPr>
        <p:txBody>
          <a:bodyPr wrap="square" lIns="45720" rIns="45720" tIns="18288" bIns="18288" anchor="t">
            <a:spAutoFit/>
          </a:bodyPr>
          <a:lstStyle/>
          <a:p>
            <a:pPr algn="l">
              <a:lnSpc>
                <a:spcPct val="100000"/>
              </a:lnSpc>
            </a:pPr>
            <a:r>
              <a:rPr sz="1300" b="1" i="0">
                <a:solidFill>
                  <a:srgbClr val="E0A99E"/>
                </a:solidFill>
                <a:latin typeface="Calibri"/>
              </a:rPr>
              <a:t>Caveat — these two Hostile numbers do not reconcile with Experiment 6</a:t>
            </a:r>
          </a:p>
        </p:txBody>
      </p:sp>
      <p:sp>
        <p:nvSpPr>
          <p:cNvPr id="55" name="TextBox 54"/>
          <p:cNvSpPr txBox="1"/>
          <p:nvPr/>
        </p:nvSpPr>
        <p:spPr>
          <a:xfrm>
            <a:off x="841247" y="4974336"/>
            <a:ext cx="10509199" cy="530352"/>
          </a:xfrm>
          <a:prstGeom prst="rect">
            <a:avLst/>
          </a:prstGeom>
          <a:noFill/>
        </p:spPr>
        <p:txBody>
          <a:bodyPr wrap="square" lIns="45720" rIns="45720" tIns="18288" bIns="18288" anchor="t">
            <a:spAutoFit/>
          </a:bodyPr>
          <a:lstStyle/>
          <a:p>
            <a:pPr algn="l">
              <a:lnSpc>
                <a:spcPct val="110000"/>
              </a:lnSpc>
            </a:pPr>
            <a:r>
              <a:rPr sz="1230" b="0" i="0">
                <a:solidFill>
                  <a:srgbClr val="FFFFFF"/>
                </a:solidFill>
                <a:latin typeface="Calibri"/>
              </a:rPr>
              <a:t>Hostile takes 71 min on the 60M dataset here but only 22 min on the larger 100M dataset in Experiment 6. A bigger library cannot be faster — one of the two runs used different settings or a different node, and must be repeated before either speed-up is quoted.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RESULTS · THE ABLATION THAT MATTERS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Experiment 4 — Bowtie2 verification pass</a:t>
            </a:r>
          </a:p>
        </p:txBody>
      </p:sp>
      <p:sp>
        <p:nvSpPr>
          <p:cNvPr id="4" name="Rounded Rectangle 3"/>
          <p:cNvSpPr/>
          <p:nvPr/>
        </p:nvSpPr>
        <p:spPr>
          <a:xfrm>
            <a:off x="566928" y="1389888"/>
            <a:ext cx="11064240" cy="384048"/>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2286000"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Dataset</a:t>
            </a:r>
          </a:p>
        </p:txBody>
      </p:sp>
      <p:sp>
        <p:nvSpPr>
          <p:cNvPr id="6" name="TextBox 5"/>
          <p:cNvSpPr txBox="1"/>
          <p:nvPr/>
        </p:nvSpPr>
        <p:spPr>
          <a:xfrm>
            <a:off x="2999232" y="1426464"/>
            <a:ext cx="2743200"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Host carry-over</a:t>
            </a:r>
          </a:p>
        </p:txBody>
      </p:sp>
      <p:sp>
        <p:nvSpPr>
          <p:cNvPr id="7" name="TextBox 6"/>
          <p:cNvSpPr txBox="1"/>
          <p:nvPr/>
        </p:nvSpPr>
        <p:spPr>
          <a:xfrm>
            <a:off x="5833872" y="1426464"/>
            <a:ext cx="2377440"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Microbial loss</a:t>
            </a:r>
          </a:p>
        </p:txBody>
      </p:sp>
      <p:sp>
        <p:nvSpPr>
          <p:cNvPr id="8" name="TextBox 7"/>
          <p:cNvSpPr txBox="1"/>
          <p:nvPr/>
        </p:nvSpPr>
        <p:spPr>
          <a:xfrm>
            <a:off x="8302752" y="1426464"/>
            <a:ext cx="1737360"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F1</a:t>
            </a:r>
          </a:p>
        </p:txBody>
      </p:sp>
      <p:sp>
        <p:nvSpPr>
          <p:cNvPr id="9" name="TextBox 8"/>
          <p:cNvSpPr txBox="1"/>
          <p:nvPr/>
        </p:nvSpPr>
        <p:spPr>
          <a:xfrm>
            <a:off x="10131552" y="1426464"/>
            <a:ext cx="1463039" cy="310896"/>
          </a:xfrm>
          <a:prstGeom prst="rect">
            <a:avLst/>
          </a:prstGeom>
          <a:noFill/>
        </p:spPr>
        <p:txBody>
          <a:bodyPr wrap="square" lIns="45720" rIns="45720" tIns="18288" bIns="18288" anchor="ctr">
            <a:spAutoFit/>
          </a:bodyPr>
          <a:lstStyle/>
          <a:p>
            <a:pPr algn="l">
              <a:lnSpc>
                <a:spcPct val="100000"/>
              </a:lnSpc>
            </a:pPr>
            <a:r>
              <a:rPr sz="1150" b="1" i="0">
                <a:solidFill>
                  <a:srgbClr val="FFFFFF"/>
                </a:solidFill>
                <a:latin typeface="Calibri"/>
              </a:rPr>
              <a:t>Runtime</a:t>
            </a:r>
          </a:p>
        </p:txBody>
      </p:sp>
      <p:sp>
        <p:nvSpPr>
          <p:cNvPr id="10" name="Rectangle 9"/>
          <p:cNvSpPr/>
          <p:nvPr/>
        </p:nvSpPr>
        <p:spPr>
          <a:xfrm>
            <a:off x="566928" y="1773936"/>
            <a:ext cx="11064240"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 y="1792224"/>
            <a:ext cx="22860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30M / 50%</a:t>
            </a:r>
          </a:p>
        </p:txBody>
      </p:sp>
      <p:sp>
        <p:nvSpPr>
          <p:cNvPr id="12" name="TextBox 11"/>
          <p:cNvSpPr txBox="1"/>
          <p:nvPr/>
        </p:nvSpPr>
        <p:spPr>
          <a:xfrm>
            <a:off x="2999232" y="1792224"/>
            <a:ext cx="2743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1.411 → 0.0717 %</a:t>
            </a:r>
          </a:p>
        </p:txBody>
      </p:sp>
      <p:sp>
        <p:nvSpPr>
          <p:cNvPr id="13" name="TextBox 12"/>
          <p:cNvSpPr txBox="1"/>
          <p:nvPr/>
        </p:nvSpPr>
        <p:spPr>
          <a:xfrm>
            <a:off x="5833872" y="1792224"/>
            <a:ext cx="237744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0.130 → 0.408 %</a:t>
            </a:r>
          </a:p>
        </p:txBody>
      </p:sp>
      <p:sp>
        <p:nvSpPr>
          <p:cNvPr id="14" name="TextBox 13"/>
          <p:cNvSpPr txBox="1"/>
          <p:nvPr/>
        </p:nvSpPr>
        <p:spPr>
          <a:xfrm>
            <a:off x="8302752" y="1792224"/>
            <a:ext cx="17373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0.9890 → 0.9974</a:t>
            </a:r>
          </a:p>
        </p:txBody>
      </p:sp>
      <p:sp>
        <p:nvSpPr>
          <p:cNvPr id="15" name="TextBox 14"/>
          <p:cNvSpPr txBox="1"/>
          <p:nvPr/>
        </p:nvSpPr>
        <p:spPr>
          <a:xfrm>
            <a:off x="10131552" y="1792224"/>
            <a:ext cx="14630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+5.7 %</a:t>
            </a:r>
          </a:p>
        </p:txBody>
      </p:sp>
      <p:sp>
        <p:nvSpPr>
          <p:cNvPr id="16" name="TextBox 15"/>
          <p:cNvSpPr txBox="1"/>
          <p:nvPr/>
        </p:nvSpPr>
        <p:spPr>
          <a:xfrm>
            <a:off x="621792" y="2157984"/>
            <a:ext cx="22860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60M / 90%</a:t>
            </a:r>
          </a:p>
        </p:txBody>
      </p:sp>
      <p:sp>
        <p:nvSpPr>
          <p:cNvPr id="17" name="TextBox 16"/>
          <p:cNvSpPr txBox="1"/>
          <p:nvPr/>
        </p:nvSpPr>
        <p:spPr>
          <a:xfrm>
            <a:off x="2999232" y="2157984"/>
            <a:ext cx="2743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1.407 → 0.0715 %</a:t>
            </a:r>
          </a:p>
        </p:txBody>
      </p:sp>
      <p:sp>
        <p:nvSpPr>
          <p:cNvPr id="18" name="TextBox 17"/>
          <p:cNvSpPr txBox="1"/>
          <p:nvPr/>
        </p:nvSpPr>
        <p:spPr>
          <a:xfrm>
            <a:off x="5833872" y="2157984"/>
            <a:ext cx="237744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0.110 → 0.396 %</a:t>
            </a:r>
          </a:p>
        </p:txBody>
      </p:sp>
      <p:sp>
        <p:nvSpPr>
          <p:cNvPr id="19" name="TextBox 18"/>
          <p:cNvSpPr txBox="1"/>
          <p:nvPr/>
        </p:nvSpPr>
        <p:spPr>
          <a:xfrm>
            <a:off x="8302752" y="2157984"/>
            <a:ext cx="17373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0.9299 → 0.9942</a:t>
            </a:r>
          </a:p>
        </p:txBody>
      </p:sp>
      <p:sp>
        <p:nvSpPr>
          <p:cNvPr id="20" name="TextBox 19"/>
          <p:cNvSpPr txBox="1"/>
          <p:nvPr/>
        </p:nvSpPr>
        <p:spPr>
          <a:xfrm>
            <a:off x="10131552" y="2157984"/>
            <a:ext cx="14630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+20.3 %</a:t>
            </a:r>
          </a:p>
        </p:txBody>
      </p:sp>
      <p:sp>
        <p:nvSpPr>
          <p:cNvPr id="21" name="Rectangle 20"/>
          <p:cNvSpPr/>
          <p:nvPr/>
        </p:nvSpPr>
        <p:spPr>
          <a:xfrm>
            <a:off x="566928" y="2505456"/>
            <a:ext cx="11064240"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 y="2523744"/>
            <a:ext cx="22860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100M / 50%</a:t>
            </a:r>
          </a:p>
        </p:txBody>
      </p:sp>
      <p:sp>
        <p:nvSpPr>
          <p:cNvPr id="23" name="TextBox 22"/>
          <p:cNvSpPr txBox="1"/>
          <p:nvPr/>
        </p:nvSpPr>
        <p:spPr>
          <a:xfrm>
            <a:off x="2999232" y="2523744"/>
            <a:ext cx="2743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1.408 → 0.0716 %</a:t>
            </a:r>
          </a:p>
        </p:txBody>
      </p:sp>
      <p:sp>
        <p:nvSpPr>
          <p:cNvPr id="24" name="TextBox 23"/>
          <p:cNvSpPr txBox="1"/>
          <p:nvPr/>
        </p:nvSpPr>
        <p:spPr>
          <a:xfrm>
            <a:off x="5833872" y="2523744"/>
            <a:ext cx="237744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0.109 → 0.398 %</a:t>
            </a:r>
          </a:p>
        </p:txBody>
      </p:sp>
      <p:sp>
        <p:nvSpPr>
          <p:cNvPr id="25" name="TextBox 24"/>
          <p:cNvSpPr txBox="1"/>
          <p:nvPr/>
        </p:nvSpPr>
        <p:spPr>
          <a:xfrm>
            <a:off x="8302752" y="2523744"/>
            <a:ext cx="17373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0.9912 → 0.9976</a:t>
            </a:r>
          </a:p>
        </p:txBody>
      </p:sp>
      <p:sp>
        <p:nvSpPr>
          <p:cNvPr id="26" name="TextBox 25"/>
          <p:cNvSpPr txBox="1"/>
          <p:nvPr/>
        </p:nvSpPr>
        <p:spPr>
          <a:xfrm>
            <a:off x="10131552" y="2523744"/>
            <a:ext cx="14630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-0.4 %</a:t>
            </a:r>
          </a:p>
        </p:txBody>
      </p:sp>
      <p:sp>
        <p:nvSpPr>
          <p:cNvPr id="27" name="TextBox 26"/>
          <p:cNvSpPr txBox="1"/>
          <p:nvPr/>
        </p:nvSpPr>
        <p:spPr>
          <a:xfrm>
            <a:off x="621792" y="2889503"/>
            <a:ext cx="22860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100M / 90%</a:t>
            </a:r>
          </a:p>
        </p:txBody>
      </p:sp>
      <p:sp>
        <p:nvSpPr>
          <p:cNvPr id="28" name="TextBox 27"/>
          <p:cNvSpPr txBox="1"/>
          <p:nvPr/>
        </p:nvSpPr>
        <p:spPr>
          <a:xfrm>
            <a:off x="2999232" y="2889503"/>
            <a:ext cx="27432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1.408 → 0.0712 %</a:t>
            </a:r>
          </a:p>
        </p:txBody>
      </p:sp>
      <p:sp>
        <p:nvSpPr>
          <p:cNvPr id="29" name="TextBox 28"/>
          <p:cNvSpPr txBox="1"/>
          <p:nvPr/>
        </p:nvSpPr>
        <p:spPr>
          <a:xfrm>
            <a:off x="5833872" y="2889503"/>
            <a:ext cx="237744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0.110 → 0.395 %</a:t>
            </a:r>
          </a:p>
        </p:txBody>
      </p:sp>
      <p:sp>
        <p:nvSpPr>
          <p:cNvPr id="30" name="TextBox 29"/>
          <p:cNvSpPr txBox="1"/>
          <p:nvPr/>
        </p:nvSpPr>
        <p:spPr>
          <a:xfrm>
            <a:off x="8302752" y="2889503"/>
            <a:ext cx="17373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0.9299 → 0.9943</a:t>
            </a:r>
          </a:p>
        </p:txBody>
      </p:sp>
      <p:sp>
        <p:nvSpPr>
          <p:cNvPr id="31" name="TextBox 30"/>
          <p:cNvSpPr txBox="1"/>
          <p:nvPr/>
        </p:nvSpPr>
        <p:spPr>
          <a:xfrm>
            <a:off x="10131552" y="2889503"/>
            <a:ext cx="146303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+1.3 %</a:t>
            </a:r>
          </a:p>
        </p:txBody>
      </p:sp>
      <p:sp>
        <p:nvSpPr>
          <p:cNvPr id="32" name="Rounded Rectangle 31"/>
          <p:cNvSpPr/>
          <p:nvPr/>
        </p:nvSpPr>
        <p:spPr>
          <a:xfrm>
            <a:off x="566928" y="3054096"/>
            <a:ext cx="3478682" cy="1298448"/>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66928" y="3182112"/>
            <a:ext cx="3478682" cy="548640"/>
          </a:xfrm>
          <a:prstGeom prst="rect">
            <a:avLst/>
          </a:prstGeom>
          <a:noFill/>
        </p:spPr>
        <p:txBody>
          <a:bodyPr wrap="square" lIns="45720" rIns="45720" tIns="18288" bIns="18288" anchor="t">
            <a:spAutoFit/>
          </a:bodyPr>
          <a:lstStyle/>
          <a:p>
            <a:pPr algn="ctr">
              <a:lnSpc>
                <a:spcPct val="100000"/>
              </a:lnSpc>
            </a:pPr>
            <a:r>
              <a:rPr sz="3200" b="1" i="0">
                <a:solidFill>
                  <a:srgbClr val="B85042"/>
                </a:solidFill>
                <a:latin typeface="Cambria"/>
              </a:rPr>
              <a:t>19.7×</a:t>
            </a:r>
          </a:p>
        </p:txBody>
      </p:sp>
      <p:sp>
        <p:nvSpPr>
          <p:cNvPr id="34" name="TextBox 33"/>
          <p:cNvSpPr txBox="1"/>
          <p:nvPr/>
        </p:nvSpPr>
        <p:spPr>
          <a:xfrm>
            <a:off x="566928" y="3785615"/>
            <a:ext cx="3478682" cy="475488"/>
          </a:xfrm>
          <a:prstGeom prst="rect">
            <a:avLst/>
          </a:prstGeom>
          <a:noFill/>
        </p:spPr>
        <p:txBody>
          <a:bodyPr wrap="square" lIns="45720" rIns="45720" tIns="18288" bIns="18288" anchor="t">
            <a:spAutoFit/>
          </a:bodyPr>
          <a:lstStyle/>
          <a:p>
            <a:pPr algn="ctr">
              <a:lnSpc>
                <a:spcPct val="112000"/>
              </a:lnSpc>
            </a:pPr>
            <a:r>
              <a:rPr sz="1250" b="0" i="0">
                <a:solidFill>
                  <a:srgbClr val="7A736C"/>
                </a:solidFill>
                <a:latin typeface="Calibri"/>
              </a:rPr>
              <a:t>less residual host</a:t>
            </a:r>
          </a:p>
        </p:txBody>
      </p:sp>
      <p:sp>
        <p:nvSpPr>
          <p:cNvPr id="35" name="Rounded Rectangle 34"/>
          <p:cNvSpPr/>
          <p:nvPr/>
        </p:nvSpPr>
        <p:spPr>
          <a:xfrm>
            <a:off x="4356506" y="3054096"/>
            <a:ext cx="3478682" cy="1298448"/>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4356506" y="3182112"/>
            <a:ext cx="3478682" cy="548640"/>
          </a:xfrm>
          <a:prstGeom prst="rect">
            <a:avLst/>
          </a:prstGeom>
          <a:noFill/>
        </p:spPr>
        <p:txBody>
          <a:bodyPr wrap="square" lIns="45720" rIns="45720" tIns="18288" bIns="18288" anchor="t">
            <a:spAutoFit/>
          </a:bodyPr>
          <a:lstStyle/>
          <a:p>
            <a:pPr algn="ctr">
              <a:lnSpc>
                <a:spcPct val="100000"/>
              </a:lnSpc>
            </a:pPr>
            <a:r>
              <a:rPr sz="3200" b="1" i="0">
                <a:solidFill>
                  <a:srgbClr val="6E7B85"/>
                </a:solidFill>
                <a:latin typeface="Cambria"/>
              </a:rPr>
              <a:t>+6.7%</a:t>
            </a:r>
          </a:p>
        </p:txBody>
      </p:sp>
      <p:sp>
        <p:nvSpPr>
          <p:cNvPr id="37" name="TextBox 36"/>
          <p:cNvSpPr txBox="1"/>
          <p:nvPr/>
        </p:nvSpPr>
        <p:spPr>
          <a:xfrm>
            <a:off x="4356506" y="3785615"/>
            <a:ext cx="3478682" cy="475488"/>
          </a:xfrm>
          <a:prstGeom prst="rect">
            <a:avLst/>
          </a:prstGeom>
          <a:noFill/>
        </p:spPr>
        <p:txBody>
          <a:bodyPr wrap="square" lIns="45720" rIns="45720" tIns="18288" bIns="18288" anchor="t">
            <a:spAutoFit/>
          </a:bodyPr>
          <a:lstStyle/>
          <a:p>
            <a:pPr algn="ctr">
              <a:lnSpc>
                <a:spcPct val="112000"/>
              </a:lnSpc>
            </a:pPr>
            <a:r>
              <a:rPr sz="1250" b="0" i="0">
                <a:solidFill>
                  <a:srgbClr val="7A736C"/>
                </a:solidFill>
                <a:latin typeface="Calibri"/>
              </a:rPr>
              <a:t>mean runtime cost</a:t>
            </a:r>
          </a:p>
        </p:txBody>
      </p:sp>
      <p:sp>
        <p:nvSpPr>
          <p:cNvPr id="38" name="Rounded Rectangle 37"/>
          <p:cNvSpPr/>
          <p:nvPr/>
        </p:nvSpPr>
        <p:spPr>
          <a:xfrm>
            <a:off x="8146084" y="3054096"/>
            <a:ext cx="3478682" cy="1298448"/>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146084" y="3182112"/>
            <a:ext cx="3478682" cy="548640"/>
          </a:xfrm>
          <a:prstGeom prst="rect">
            <a:avLst/>
          </a:prstGeom>
          <a:noFill/>
        </p:spPr>
        <p:txBody>
          <a:bodyPr wrap="square" lIns="45720" rIns="45720" tIns="18288" bIns="18288" anchor="t">
            <a:spAutoFit/>
          </a:bodyPr>
          <a:lstStyle/>
          <a:p>
            <a:pPr algn="ctr">
              <a:lnSpc>
                <a:spcPct val="100000"/>
              </a:lnSpc>
            </a:pPr>
            <a:r>
              <a:rPr sz="3200" b="1" i="0">
                <a:solidFill>
                  <a:srgbClr val="8F3A2F"/>
                </a:solidFill>
                <a:latin typeface="Cambria"/>
              </a:rPr>
              <a:t>6.5×</a:t>
            </a:r>
          </a:p>
        </p:txBody>
      </p:sp>
      <p:sp>
        <p:nvSpPr>
          <p:cNvPr id="40" name="TextBox 39"/>
          <p:cNvSpPr txBox="1"/>
          <p:nvPr/>
        </p:nvSpPr>
        <p:spPr>
          <a:xfrm>
            <a:off x="8146084" y="3785615"/>
            <a:ext cx="3478682" cy="475488"/>
          </a:xfrm>
          <a:prstGeom prst="rect">
            <a:avLst/>
          </a:prstGeom>
          <a:noFill/>
        </p:spPr>
        <p:txBody>
          <a:bodyPr wrap="square" lIns="45720" rIns="45720" tIns="18288" bIns="18288" anchor="t">
            <a:spAutoFit/>
          </a:bodyPr>
          <a:lstStyle/>
          <a:p>
            <a:pPr algn="ctr">
              <a:lnSpc>
                <a:spcPct val="112000"/>
              </a:lnSpc>
            </a:pPr>
            <a:r>
              <a:rPr sz="1250" b="0" i="0">
                <a:solidFill>
                  <a:srgbClr val="7A736C"/>
                </a:solidFill>
                <a:latin typeface="Calibri"/>
              </a:rPr>
              <a:t>less microbial loss</a:t>
            </a:r>
          </a:p>
          <a:p>
            <a:pPr algn="ctr">
              <a:lnSpc>
                <a:spcPct val="112000"/>
              </a:lnSpc>
            </a:pPr>
            <a:r>
              <a:rPr sz="1250" b="0" i="0">
                <a:solidFill>
                  <a:srgbClr val="7A736C"/>
                </a:solidFill>
                <a:latin typeface="Calibri"/>
              </a:rPr>
              <a:t>than KneadData</a:t>
            </a:r>
          </a:p>
        </p:txBody>
      </p:sp>
      <p:sp>
        <p:nvSpPr>
          <p:cNvPr id="41" name="TextBox 40"/>
          <p:cNvSpPr txBox="1"/>
          <p:nvPr/>
        </p:nvSpPr>
        <p:spPr>
          <a:xfrm>
            <a:off x="566928" y="4517136"/>
            <a:ext cx="11057839" cy="493776"/>
          </a:xfrm>
          <a:prstGeom prst="rect">
            <a:avLst/>
          </a:prstGeom>
          <a:noFill/>
        </p:spPr>
        <p:txBody>
          <a:bodyPr wrap="square" lIns="45720" rIns="45720" tIns="18288" bIns="18288" anchor="t">
            <a:spAutoFit/>
          </a:bodyPr>
          <a:lstStyle/>
          <a:p>
            <a:pPr algn="l">
              <a:lnSpc>
                <a:spcPct val="110000"/>
              </a:lnSpc>
            </a:pPr>
            <a:r>
              <a:rPr sz="1350" b="1" i="0">
                <a:solidFill>
                  <a:srgbClr val="2E2A27"/>
                </a:solidFill>
                <a:latin typeface="Calibri"/>
              </a:rPr>
              <a:t>Remarkably consistent: host carry-over falls from 1.41 % to 0.07 % on all four datasets, and F1 at 90 % host rises from 0.930 to 0.994.</a:t>
            </a:r>
          </a:p>
        </p:txBody>
      </p:sp>
      <p:sp>
        <p:nvSpPr>
          <p:cNvPr id="42" name="Rounded Rectangle 41"/>
          <p:cNvSpPr/>
          <p:nvPr/>
        </p:nvSpPr>
        <p:spPr>
          <a:xfrm>
            <a:off x="566928" y="4974336"/>
            <a:ext cx="11057839" cy="1024128"/>
          </a:xfrm>
          <a:prstGeom prst="roundRect">
            <a:avLst>
              <a:gd name="adj" fmla="val 6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41247" y="5084064"/>
            <a:ext cx="1554480" cy="256032"/>
          </a:xfrm>
          <a:prstGeom prst="rect">
            <a:avLst/>
          </a:prstGeom>
          <a:noFill/>
        </p:spPr>
        <p:txBody>
          <a:bodyPr wrap="square" lIns="45720" rIns="45720" tIns="18288" bIns="18288" anchor="t">
            <a:spAutoFit/>
          </a:bodyPr>
          <a:lstStyle/>
          <a:p>
            <a:pPr algn="l">
              <a:lnSpc>
                <a:spcPct val="100000"/>
              </a:lnSpc>
            </a:pPr>
            <a:r>
              <a:rPr sz="1300" b="1" i="0">
                <a:solidFill>
                  <a:srgbClr val="E0A99E"/>
                </a:solidFill>
                <a:latin typeface="Calibri"/>
              </a:rPr>
              <a:t>Now on main</a:t>
            </a:r>
          </a:p>
        </p:txBody>
      </p:sp>
      <p:sp>
        <p:nvSpPr>
          <p:cNvPr id="44" name="TextBox 43"/>
          <p:cNvSpPr txBox="1"/>
          <p:nvPr/>
        </p:nvSpPr>
        <p:spPr>
          <a:xfrm>
            <a:off x="2395728" y="5065776"/>
            <a:ext cx="8954719" cy="731520"/>
          </a:xfrm>
          <a:prstGeom prst="rect">
            <a:avLst/>
          </a:prstGeom>
          <a:noFill/>
        </p:spPr>
        <p:txBody>
          <a:bodyPr wrap="square" lIns="45720" rIns="45720" tIns="18288" bIns="18288" anchor="t">
            <a:spAutoFit/>
          </a:bodyPr>
          <a:lstStyle/>
          <a:p>
            <a:pPr algn="l">
              <a:lnSpc>
                <a:spcPct val="108000"/>
              </a:lnSpc>
            </a:pPr>
            <a:r>
              <a:rPr sz="1180" b="0" i="0">
                <a:solidFill>
                  <a:srgbClr val="FFFFFF"/>
                </a:solidFill>
                <a:latin typeface="Calibri"/>
              </a:rPr>
              <a:t>--bowtie2-recheck has been merged and now takes the Bowtie2 index it verifies against, so supplying the index is what enables the pass. These results were produced before the merge, by the branch, with the same verification logic.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RESULTS · INTERCHANGEABLE COMPONENTS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Experiment 5 — depletion backends</a:t>
            </a:r>
          </a:p>
        </p:txBody>
      </p:sp>
      <p:sp>
        <p:nvSpPr>
          <p:cNvPr id="4" name="Rounded Rectangle 3"/>
          <p:cNvSpPr/>
          <p:nvPr/>
        </p:nvSpPr>
        <p:spPr>
          <a:xfrm>
            <a:off x="566928" y="1389888"/>
            <a:ext cx="11155680" cy="384048"/>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2194560" cy="310896"/>
          </a:xfrm>
          <a:prstGeom prst="rect">
            <a:avLst/>
          </a:prstGeom>
          <a:noFill/>
        </p:spPr>
        <p:txBody>
          <a:bodyPr wrap="square" lIns="45720" rIns="45720" tIns="18288" bIns="18288" anchor="ctr">
            <a:spAutoFit/>
          </a:bodyPr>
          <a:lstStyle/>
          <a:p>
            <a:pPr algn="l">
              <a:lnSpc>
                <a:spcPct val="100000"/>
              </a:lnSpc>
            </a:pPr>
            <a:r>
              <a:rPr sz="1200" b="1" i="0">
                <a:solidFill>
                  <a:srgbClr val="FFFFFF"/>
                </a:solidFill>
                <a:latin typeface="Calibri"/>
              </a:rPr>
              <a:t>Backend</a:t>
            </a:r>
          </a:p>
        </p:txBody>
      </p:sp>
      <p:sp>
        <p:nvSpPr>
          <p:cNvPr id="6" name="TextBox 5"/>
          <p:cNvSpPr txBox="1"/>
          <p:nvPr/>
        </p:nvSpPr>
        <p:spPr>
          <a:xfrm>
            <a:off x="2907792" y="1426464"/>
            <a:ext cx="1828800" cy="310896"/>
          </a:xfrm>
          <a:prstGeom prst="rect">
            <a:avLst/>
          </a:prstGeom>
          <a:noFill/>
        </p:spPr>
        <p:txBody>
          <a:bodyPr wrap="square" lIns="45720" rIns="45720" tIns="18288" bIns="18288" anchor="ctr">
            <a:spAutoFit/>
          </a:bodyPr>
          <a:lstStyle/>
          <a:p>
            <a:pPr algn="l">
              <a:lnSpc>
                <a:spcPct val="100000"/>
              </a:lnSpc>
            </a:pPr>
            <a:r>
              <a:rPr sz="1200" b="1" i="0">
                <a:solidFill>
                  <a:srgbClr val="FFFFFF"/>
                </a:solidFill>
                <a:latin typeface="Calibri"/>
              </a:rPr>
              <a:t>Mean F1</a:t>
            </a:r>
          </a:p>
        </p:txBody>
      </p:sp>
      <p:sp>
        <p:nvSpPr>
          <p:cNvPr id="7" name="TextBox 6"/>
          <p:cNvSpPr txBox="1"/>
          <p:nvPr/>
        </p:nvSpPr>
        <p:spPr>
          <a:xfrm>
            <a:off x="4828032" y="1426464"/>
            <a:ext cx="2560320" cy="310896"/>
          </a:xfrm>
          <a:prstGeom prst="rect">
            <a:avLst/>
          </a:prstGeom>
          <a:noFill/>
        </p:spPr>
        <p:txBody>
          <a:bodyPr wrap="square" lIns="45720" rIns="45720" tIns="18288" bIns="18288" anchor="ctr">
            <a:spAutoFit/>
          </a:bodyPr>
          <a:lstStyle/>
          <a:p>
            <a:pPr algn="l">
              <a:lnSpc>
                <a:spcPct val="100000"/>
              </a:lnSpc>
            </a:pPr>
            <a:r>
              <a:rPr sz="1200" b="1" i="0">
                <a:solidFill>
                  <a:srgbClr val="FFFFFF"/>
                </a:solidFill>
                <a:latin typeface="Calibri"/>
              </a:rPr>
              <a:t>Host carry-over</a:t>
            </a:r>
          </a:p>
        </p:txBody>
      </p:sp>
      <p:sp>
        <p:nvSpPr>
          <p:cNvPr id="8" name="TextBox 7"/>
          <p:cNvSpPr txBox="1"/>
          <p:nvPr/>
        </p:nvSpPr>
        <p:spPr>
          <a:xfrm>
            <a:off x="7479792" y="1426464"/>
            <a:ext cx="2377440" cy="310896"/>
          </a:xfrm>
          <a:prstGeom prst="rect">
            <a:avLst/>
          </a:prstGeom>
          <a:noFill/>
        </p:spPr>
        <p:txBody>
          <a:bodyPr wrap="square" lIns="45720" rIns="45720" tIns="18288" bIns="18288" anchor="ctr">
            <a:spAutoFit/>
          </a:bodyPr>
          <a:lstStyle/>
          <a:p>
            <a:pPr algn="l">
              <a:lnSpc>
                <a:spcPct val="100000"/>
              </a:lnSpc>
            </a:pPr>
            <a:r>
              <a:rPr sz="1200" b="1" i="0">
                <a:solidFill>
                  <a:srgbClr val="FFFFFF"/>
                </a:solidFill>
                <a:latin typeface="Calibri"/>
              </a:rPr>
              <a:t>Microbial loss</a:t>
            </a:r>
          </a:p>
        </p:txBody>
      </p:sp>
      <p:sp>
        <p:nvSpPr>
          <p:cNvPr id="9" name="TextBox 8"/>
          <p:cNvSpPr txBox="1"/>
          <p:nvPr/>
        </p:nvSpPr>
        <p:spPr>
          <a:xfrm>
            <a:off x="9948672" y="1426464"/>
            <a:ext cx="1737360" cy="310896"/>
          </a:xfrm>
          <a:prstGeom prst="rect">
            <a:avLst/>
          </a:prstGeom>
          <a:noFill/>
        </p:spPr>
        <p:txBody>
          <a:bodyPr wrap="square" lIns="45720" rIns="45720" tIns="18288" bIns="18288" anchor="ctr">
            <a:spAutoFit/>
          </a:bodyPr>
          <a:lstStyle/>
          <a:p>
            <a:pPr algn="l">
              <a:lnSpc>
                <a:spcPct val="100000"/>
              </a:lnSpc>
            </a:pPr>
            <a:r>
              <a:rPr sz="1200" b="1" i="0">
                <a:solidFill>
                  <a:srgbClr val="FFFFFF"/>
                </a:solidFill>
                <a:latin typeface="Calibri"/>
              </a:rPr>
              <a:t>Peak memory</a:t>
            </a:r>
          </a:p>
        </p:txBody>
      </p:sp>
      <p:sp>
        <p:nvSpPr>
          <p:cNvPr id="10" name="Rectangle 9"/>
          <p:cNvSpPr/>
          <p:nvPr/>
        </p:nvSpPr>
        <p:spPr>
          <a:xfrm>
            <a:off x="566928" y="1773936"/>
            <a:ext cx="11155680"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21792" y="1792224"/>
            <a:ext cx="2194560" cy="329184"/>
          </a:xfrm>
          <a:prstGeom prst="rect">
            <a:avLst/>
          </a:prstGeom>
          <a:noFill/>
        </p:spPr>
        <p:txBody>
          <a:bodyPr wrap="square" lIns="45720" rIns="45720" tIns="18288" bIns="18288" anchor="ctr">
            <a:spAutoFit/>
          </a:bodyPr>
          <a:lstStyle/>
          <a:p>
            <a:pPr algn="l">
              <a:lnSpc>
                <a:spcPct val="100000"/>
              </a:lnSpc>
            </a:pPr>
            <a:r>
              <a:rPr sz="1200" b="1" i="0">
                <a:solidFill>
                  <a:srgbClr val="2E2A27"/>
                </a:solidFill>
                <a:latin typeface="Calibri"/>
              </a:rPr>
              <a:t>Bowtie2</a:t>
            </a:r>
          </a:p>
        </p:txBody>
      </p:sp>
      <p:sp>
        <p:nvSpPr>
          <p:cNvPr id="12" name="TextBox 11"/>
          <p:cNvSpPr txBox="1"/>
          <p:nvPr/>
        </p:nvSpPr>
        <p:spPr>
          <a:xfrm>
            <a:off x="2907792" y="1792224"/>
            <a:ext cx="182880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0.9931</a:t>
            </a:r>
          </a:p>
        </p:txBody>
      </p:sp>
      <p:sp>
        <p:nvSpPr>
          <p:cNvPr id="13" name="TextBox 12"/>
          <p:cNvSpPr txBox="1"/>
          <p:nvPr/>
        </p:nvSpPr>
        <p:spPr>
          <a:xfrm>
            <a:off x="4828032" y="1792224"/>
            <a:ext cx="256032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0.051 %</a:t>
            </a:r>
          </a:p>
        </p:txBody>
      </p:sp>
      <p:sp>
        <p:nvSpPr>
          <p:cNvPr id="14" name="TextBox 13"/>
          <p:cNvSpPr txBox="1"/>
          <p:nvPr/>
        </p:nvSpPr>
        <p:spPr>
          <a:xfrm>
            <a:off x="7479792" y="1792224"/>
            <a:ext cx="237744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0.339 %</a:t>
            </a:r>
          </a:p>
        </p:txBody>
      </p:sp>
      <p:sp>
        <p:nvSpPr>
          <p:cNvPr id="15" name="TextBox 14"/>
          <p:cNvSpPr txBox="1"/>
          <p:nvPr/>
        </p:nvSpPr>
        <p:spPr>
          <a:xfrm>
            <a:off x="9948672" y="1792224"/>
            <a:ext cx="173736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4.3 GB</a:t>
            </a:r>
          </a:p>
        </p:txBody>
      </p:sp>
      <p:sp>
        <p:nvSpPr>
          <p:cNvPr id="16" name="TextBox 15"/>
          <p:cNvSpPr txBox="1"/>
          <p:nvPr/>
        </p:nvSpPr>
        <p:spPr>
          <a:xfrm>
            <a:off x="621792" y="2157984"/>
            <a:ext cx="2194560" cy="329184"/>
          </a:xfrm>
          <a:prstGeom prst="rect">
            <a:avLst/>
          </a:prstGeom>
          <a:noFill/>
        </p:spPr>
        <p:txBody>
          <a:bodyPr wrap="square" lIns="45720" rIns="45720" tIns="18288" bIns="18288" anchor="ctr">
            <a:spAutoFit/>
          </a:bodyPr>
          <a:lstStyle/>
          <a:p>
            <a:pPr algn="l">
              <a:lnSpc>
                <a:spcPct val="100000"/>
              </a:lnSpc>
            </a:pPr>
            <a:r>
              <a:rPr sz="1200" b="1" i="0">
                <a:solidFill>
                  <a:srgbClr val="2E2A27"/>
                </a:solidFill>
                <a:latin typeface="Calibri"/>
              </a:rPr>
              <a:t>minimap2</a:t>
            </a:r>
          </a:p>
        </p:txBody>
      </p:sp>
      <p:sp>
        <p:nvSpPr>
          <p:cNvPr id="17" name="TextBox 16"/>
          <p:cNvSpPr txBox="1"/>
          <p:nvPr/>
        </p:nvSpPr>
        <p:spPr>
          <a:xfrm>
            <a:off x="2907792" y="2157984"/>
            <a:ext cx="182880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0.9927</a:t>
            </a:r>
          </a:p>
        </p:txBody>
      </p:sp>
      <p:sp>
        <p:nvSpPr>
          <p:cNvPr id="18" name="TextBox 17"/>
          <p:cNvSpPr txBox="1"/>
          <p:nvPr/>
        </p:nvSpPr>
        <p:spPr>
          <a:xfrm>
            <a:off x="4828032" y="2157984"/>
            <a:ext cx="256032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0.026 %</a:t>
            </a:r>
          </a:p>
        </p:txBody>
      </p:sp>
      <p:sp>
        <p:nvSpPr>
          <p:cNvPr id="19" name="TextBox 18"/>
          <p:cNvSpPr txBox="1"/>
          <p:nvPr/>
        </p:nvSpPr>
        <p:spPr>
          <a:xfrm>
            <a:off x="7479792" y="2157984"/>
            <a:ext cx="237744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0.359 %</a:t>
            </a:r>
          </a:p>
        </p:txBody>
      </p:sp>
      <p:sp>
        <p:nvSpPr>
          <p:cNvPr id="20" name="TextBox 19"/>
          <p:cNvSpPr txBox="1"/>
          <p:nvPr/>
        </p:nvSpPr>
        <p:spPr>
          <a:xfrm>
            <a:off x="9948672" y="2157984"/>
            <a:ext cx="173736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11.7 GB</a:t>
            </a:r>
          </a:p>
        </p:txBody>
      </p:sp>
      <p:sp>
        <p:nvSpPr>
          <p:cNvPr id="21" name="Rectangle 20"/>
          <p:cNvSpPr/>
          <p:nvPr/>
        </p:nvSpPr>
        <p:spPr>
          <a:xfrm>
            <a:off x="566928" y="2505456"/>
            <a:ext cx="11155680"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21792" y="2523744"/>
            <a:ext cx="2194560" cy="329184"/>
          </a:xfrm>
          <a:prstGeom prst="rect">
            <a:avLst/>
          </a:prstGeom>
          <a:noFill/>
        </p:spPr>
        <p:txBody>
          <a:bodyPr wrap="square" lIns="45720" rIns="45720" tIns="18288" bIns="18288" anchor="ctr">
            <a:spAutoFit/>
          </a:bodyPr>
          <a:lstStyle/>
          <a:p>
            <a:pPr algn="l">
              <a:lnSpc>
                <a:spcPct val="100000"/>
              </a:lnSpc>
            </a:pPr>
            <a:r>
              <a:rPr sz="1200" b="1" i="0">
                <a:solidFill>
                  <a:srgbClr val="2E2A27"/>
                </a:solidFill>
                <a:latin typeface="Calibri"/>
              </a:rPr>
              <a:t>Centrifuge</a:t>
            </a:r>
          </a:p>
        </p:txBody>
      </p:sp>
      <p:sp>
        <p:nvSpPr>
          <p:cNvPr id="23" name="TextBox 22"/>
          <p:cNvSpPr txBox="1"/>
          <p:nvPr/>
        </p:nvSpPr>
        <p:spPr>
          <a:xfrm>
            <a:off x="2907792" y="2523744"/>
            <a:ext cx="182880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0.9824</a:t>
            </a:r>
          </a:p>
        </p:txBody>
      </p:sp>
      <p:sp>
        <p:nvSpPr>
          <p:cNvPr id="24" name="TextBox 23"/>
          <p:cNvSpPr txBox="1"/>
          <p:nvPr/>
        </p:nvSpPr>
        <p:spPr>
          <a:xfrm>
            <a:off x="4828032" y="2523744"/>
            <a:ext cx="256032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1.153 %</a:t>
            </a:r>
          </a:p>
        </p:txBody>
      </p:sp>
      <p:sp>
        <p:nvSpPr>
          <p:cNvPr id="25" name="TextBox 24"/>
          <p:cNvSpPr txBox="1"/>
          <p:nvPr/>
        </p:nvSpPr>
        <p:spPr>
          <a:xfrm>
            <a:off x="7479792" y="2523744"/>
            <a:ext cx="237744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0.605 %</a:t>
            </a:r>
          </a:p>
        </p:txBody>
      </p:sp>
      <p:sp>
        <p:nvSpPr>
          <p:cNvPr id="26" name="TextBox 25"/>
          <p:cNvSpPr txBox="1"/>
          <p:nvPr/>
        </p:nvSpPr>
        <p:spPr>
          <a:xfrm>
            <a:off x="9948672" y="2523744"/>
            <a:ext cx="173736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7.6 GB</a:t>
            </a:r>
          </a:p>
        </p:txBody>
      </p:sp>
      <p:sp>
        <p:nvSpPr>
          <p:cNvPr id="27" name="TextBox 26"/>
          <p:cNvSpPr txBox="1"/>
          <p:nvPr/>
        </p:nvSpPr>
        <p:spPr>
          <a:xfrm>
            <a:off x="621792" y="2889503"/>
            <a:ext cx="2194560" cy="329184"/>
          </a:xfrm>
          <a:prstGeom prst="rect">
            <a:avLst/>
          </a:prstGeom>
          <a:noFill/>
        </p:spPr>
        <p:txBody>
          <a:bodyPr wrap="square" lIns="45720" rIns="45720" tIns="18288" bIns="18288" anchor="ctr">
            <a:spAutoFit/>
          </a:bodyPr>
          <a:lstStyle/>
          <a:p>
            <a:pPr algn="l">
              <a:lnSpc>
                <a:spcPct val="100000"/>
              </a:lnSpc>
            </a:pPr>
            <a:r>
              <a:rPr sz="1200" b="1" i="0">
                <a:solidFill>
                  <a:srgbClr val="2E2A27"/>
                </a:solidFill>
                <a:latin typeface="Calibri"/>
              </a:rPr>
              <a:t>Kraken2 (default)</a:t>
            </a:r>
          </a:p>
        </p:txBody>
      </p:sp>
      <p:sp>
        <p:nvSpPr>
          <p:cNvPr id="28" name="TextBox 27"/>
          <p:cNvSpPr txBox="1"/>
          <p:nvPr/>
        </p:nvSpPr>
        <p:spPr>
          <a:xfrm>
            <a:off x="2907792" y="2889503"/>
            <a:ext cx="182880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a:t>
            </a:r>
          </a:p>
        </p:txBody>
      </p:sp>
      <p:sp>
        <p:nvSpPr>
          <p:cNvPr id="29" name="TextBox 28"/>
          <p:cNvSpPr txBox="1"/>
          <p:nvPr/>
        </p:nvSpPr>
        <p:spPr>
          <a:xfrm>
            <a:off x="4828032" y="2889503"/>
            <a:ext cx="256032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a:t>
            </a:r>
          </a:p>
        </p:txBody>
      </p:sp>
      <p:sp>
        <p:nvSpPr>
          <p:cNvPr id="30" name="TextBox 29"/>
          <p:cNvSpPr txBox="1"/>
          <p:nvPr/>
        </p:nvSpPr>
        <p:spPr>
          <a:xfrm>
            <a:off x="7479792" y="2889503"/>
            <a:ext cx="237744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a:t>
            </a:r>
          </a:p>
        </p:txBody>
      </p:sp>
      <p:sp>
        <p:nvSpPr>
          <p:cNvPr id="31" name="TextBox 30"/>
          <p:cNvSpPr txBox="1"/>
          <p:nvPr/>
        </p:nvSpPr>
        <p:spPr>
          <a:xfrm>
            <a:off x="9948672" y="2889503"/>
            <a:ext cx="173736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15.5 GB</a:t>
            </a:r>
          </a:p>
        </p:txBody>
      </p:sp>
      <p:sp>
        <p:nvSpPr>
          <p:cNvPr id="32" name="Rectangle 31"/>
          <p:cNvSpPr/>
          <p:nvPr/>
        </p:nvSpPr>
        <p:spPr>
          <a:xfrm>
            <a:off x="566928" y="3236975"/>
            <a:ext cx="11155680"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21792" y="3255263"/>
            <a:ext cx="2194560" cy="329184"/>
          </a:xfrm>
          <a:prstGeom prst="rect">
            <a:avLst/>
          </a:prstGeom>
          <a:noFill/>
        </p:spPr>
        <p:txBody>
          <a:bodyPr wrap="square" lIns="45720" rIns="45720" tIns="18288" bIns="18288" anchor="ctr">
            <a:spAutoFit/>
          </a:bodyPr>
          <a:lstStyle/>
          <a:p>
            <a:pPr algn="l">
              <a:lnSpc>
                <a:spcPct val="100000"/>
              </a:lnSpc>
            </a:pPr>
            <a:r>
              <a:rPr sz="1200" b="1" i="0">
                <a:solidFill>
                  <a:srgbClr val="2E2A27"/>
                </a:solidFill>
                <a:latin typeface="Calibri"/>
              </a:rPr>
              <a:t>sylph (Exp. 6)</a:t>
            </a:r>
          </a:p>
        </p:txBody>
      </p:sp>
      <p:sp>
        <p:nvSpPr>
          <p:cNvPr id="34" name="TextBox 33"/>
          <p:cNvSpPr txBox="1"/>
          <p:nvPr/>
        </p:nvSpPr>
        <p:spPr>
          <a:xfrm>
            <a:off x="2907792" y="3255263"/>
            <a:ext cx="182880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a:t>
            </a:r>
          </a:p>
        </p:txBody>
      </p:sp>
      <p:sp>
        <p:nvSpPr>
          <p:cNvPr id="35" name="TextBox 34"/>
          <p:cNvSpPr txBox="1"/>
          <p:nvPr/>
        </p:nvSpPr>
        <p:spPr>
          <a:xfrm>
            <a:off x="4828032" y="3255263"/>
            <a:ext cx="256032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a:t>
            </a:r>
          </a:p>
        </p:txBody>
      </p:sp>
      <p:sp>
        <p:nvSpPr>
          <p:cNvPr id="36" name="TextBox 35"/>
          <p:cNvSpPr txBox="1"/>
          <p:nvPr/>
        </p:nvSpPr>
        <p:spPr>
          <a:xfrm>
            <a:off x="7479792" y="3255263"/>
            <a:ext cx="237744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a:t>
            </a:r>
          </a:p>
        </p:txBody>
      </p:sp>
      <p:sp>
        <p:nvSpPr>
          <p:cNvPr id="37" name="TextBox 36"/>
          <p:cNvSpPr txBox="1"/>
          <p:nvPr/>
        </p:nvSpPr>
        <p:spPr>
          <a:xfrm>
            <a:off x="9948672" y="3255263"/>
            <a:ext cx="1737360" cy="329184"/>
          </a:xfrm>
          <a:prstGeom prst="rect">
            <a:avLst/>
          </a:prstGeom>
          <a:noFill/>
        </p:spPr>
        <p:txBody>
          <a:bodyPr wrap="square" lIns="45720" rIns="45720" tIns="18288" bIns="18288" anchor="ctr">
            <a:spAutoFit/>
          </a:bodyPr>
          <a:lstStyle/>
          <a:p>
            <a:pPr algn="l">
              <a:lnSpc>
                <a:spcPct val="100000"/>
              </a:lnSpc>
            </a:pPr>
            <a:r>
              <a:rPr sz="1200" b="0" i="0">
                <a:solidFill>
                  <a:srgbClr val="2E2A27"/>
                </a:solidFill>
                <a:latin typeface="Calibri"/>
              </a:rPr>
              <a:t>3.5 GB</a:t>
            </a:r>
          </a:p>
        </p:txBody>
      </p:sp>
      <p:sp>
        <p:nvSpPr>
          <p:cNvPr id="38" name="Rounded Rectangle 37"/>
          <p:cNvSpPr/>
          <p:nvPr/>
        </p:nvSpPr>
        <p:spPr>
          <a:xfrm>
            <a:off x="566928" y="3858768"/>
            <a:ext cx="11057839" cy="1152144"/>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41247" y="3968496"/>
            <a:ext cx="2011680" cy="274320"/>
          </a:xfrm>
          <a:prstGeom prst="rect">
            <a:avLst/>
          </a:prstGeom>
          <a:noFill/>
        </p:spPr>
        <p:txBody>
          <a:bodyPr wrap="square" lIns="45720" rIns="45720" tIns="18288" bIns="18288" anchor="t">
            <a:spAutoFit/>
          </a:bodyPr>
          <a:lstStyle/>
          <a:p>
            <a:pPr algn="l">
              <a:lnSpc>
                <a:spcPct val="100000"/>
              </a:lnSpc>
            </a:pPr>
            <a:r>
              <a:rPr sz="1350" b="1" i="0">
                <a:solidFill>
                  <a:srgbClr val="8F3A2F"/>
                </a:solidFill>
                <a:latin typeface="Calibri"/>
              </a:rPr>
              <a:t>What this buys</a:t>
            </a:r>
          </a:p>
        </p:txBody>
      </p:sp>
      <p:sp>
        <p:nvSpPr>
          <p:cNvPr id="40" name="TextBox 39"/>
          <p:cNvSpPr txBox="1"/>
          <p:nvPr/>
        </p:nvSpPr>
        <p:spPr>
          <a:xfrm>
            <a:off x="841247" y="4279392"/>
            <a:ext cx="10509199" cy="658368"/>
          </a:xfrm>
          <a:prstGeom prst="rect">
            <a:avLst/>
          </a:prstGeom>
          <a:noFill/>
        </p:spPr>
        <p:txBody>
          <a:bodyPr wrap="square" lIns="45720" rIns="45720" tIns="18288" bIns="18288" anchor="t">
            <a:spAutoFit/>
          </a:bodyPr>
          <a:lstStyle/>
          <a:p>
            <a:pPr algn="l">
              <a:lnSpc>
                <a:spcPct val="110000"/>
              </a:lnSpc>
            </a:pPr>
            <a:r>
              <a:rPr sz="1250" b="0" i="0">
                <a:solidFill>
                  <a:srgbClr val="7A736C"/>
                </a:solidFill>
                <a:latin typeface="Calibri"/>
              </a:rPr>
              <a:t>Because routing treats depletion as a replaceable component, backends can be swapped without touching the surrounding pipeline. Bowtie2 and minimap2 are closely matched on accuracy; Centrifuge is worse on both error directions. Memory differs by 4× between backends, which is the practical basis for choosing one.</a:t>
            </a:r>
          </a:p>
        </p:txBody>
      </p:sp>
      <p:sp>
        <p:nvSpPr>
          <p:cNvPr id="41" name="TextBox 40"/>
          <p:cNvSpPr txBox="1"/>
          <p:nvPr/>
        </p:nvSpPr>
        <p:spPr>
          <a:xfrm>
            <a:off x="566928" y="5138928"/>
            <a:ext cx="11057839" cy="493776"/>
          </a:xfrm>
          <a:prstGeom prst="rect">
            <a:avLst/>
          </a:prstGeom>
          <a:noFill/>
        </p:spPr>
        <p:txBody>
          <a:bodyPr wrap="square" lIns="45720" rIns="45720" tIns="18288" bIns="18288" anchor="t">
            <a:spAutoFit/>
          </a:bodyPr>
          <a:lstStyle/>
          <a:p>
            <a:pPr algn="l">
              <a:lnSpc>
                <a:spcPct val="110000"/>
              </a:lnSpc>
            </a:pPr>
            <a:r>
              <a:rPr sz="1230" b="0" i="1">
                <a:solidFill>
                  <a:srgbClr val="8F3A2F"/>
                </a:solidFill>
                <a:latin typeface="Calibri"/>
              </a:rPr>
              <a:t>One runtime measurement (minimap2, 5M dataset: 1,802 s against 235 s for the larger 10M dataset) is a cold-start outlier and is excluded from any runtime comparison.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RESULTS · ALL THREE TOOLS, SAME DATASETS</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Experiment 6 — 100M matched panel</a:t>
            </a:r>
          </a:p>
        </p:txBody>
      </p:sp>
      <p:sp>
        <p:nvSpPr>
          <p:cNvPr id="4" name="Rounded Rectangle 3"/>
          <p:cNvSpPr/>
          <p:nvPr/>
        </p:nvSpPr>
        <p:spPr>
          <a:xfrm>
            <a:off x="566928" y="1389888"/>
            <a:ext cx="11057839" cy="365760"/>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1600200"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Dataset</a:t>
            </a:r>
          </a:p>
        </p:txBody>
      </p:sp>
      <p:sp>
        <p:nvSpPr>
          <p:cNvPr id="6" name="TextBox 5"/>
          <p:cNvSpPr txBox="1"/>
          <p:nvPr/>
        </p:nvSpPr>
        <p:spPr>
          <a:xfrm>
            <a:off x="2313432" y="1426464"/>
            <a:ext cx="2240279"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Tool</a:t>
            </a:r>
          </a:p>
        </p:txBody>
      </p:sp>
      <p:sp>
        <p:nvSpPr>
          <p:cNvPr id="7" name="TextBox 6"/>
          <p:cNvSpPr txBox="1"/>
          <p:nvPr/>
        </p:nvSpPr>
        <p:spPr>
          <a:xfrm>
            <a:off x="4645151" y="1426464"/>
            <a:ext cx="1143000"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F1</a:t>
            </a:r>
          </a:p>
        </p:txBody>
      </p:sp>
      <p:sp>
        <p:nvSpPr>
          <p:cNvPr id="8" name="TextBox 7"/>
          <p:cNvSpPr txBox="1"/>
          <p:nvPr/>
        </p:nvSpPr>
        <p:spPr>
          <a:xfrm>
            <a:off x="5879591" y="1426464"/>
            <a:ext cx="1691639"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Microbial loss</a:t>
            </a:r>
          </a:p>
        </p:txBody>
      </p:sp>
      <p:sp>
        <p:nvSpPr>
          <p:cNvPr id="9" name="TextBox 8"/>
          <p:cNvSpPr txBox="1"/>
          <p:nvPr/>
        </p:nvSpPr>
        <p:spPr>
          <a:xfrm>
            <a:off x="7662671" y="1426464"/>
            <a:ext cx="1417319"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Host carry</a:t>
            </a:r>
          </a:p>
        </p:txBody>
      </p:sp>
      <p:sp>
        <p:nvSpPr>
          <p:cNvPr id="10" name="TextBox 9"/>
          <p:cNvSpPr txBox="1"/>
          <p:nvPr/>
        </p:nvSpPr>
        <p:spPr>
          <a:xfrm>
            <a:off x="9171432" y="1426464"/>
            <a:ext cx="1325880"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Runtime</a:t>
            </a:r>
          </a:p>
        </p:txBody>
      </p:sp>
      <p:sp>
        <p:nvSpPr>
          <p:cNvPr id="11" name="TextBox 10"/>
          <p:cNvSpPr txBox="1"/>
          <p:nvPr/>
        </p:nvSpPr>
        <p:spPr>
          <a:xfrm>
            <a:off x="10588752" y="1426464"/>
            <a:ext cx="1005839" cy="292608"/>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Peak mem</a:t>
            </a:r>
          </a:p>
        </p:txBody>
      </p:sp>
      <p:sp>
        <p:nvSpPr>
          <p:cNvPr id="12" name="TextBox 11"/>
          <p:cNvSpPr txBox="1"/>
          <p:nvPr/>
        </p:nvSpPr>
        <p:spPr>
          <a:xfrm>
            <a:off x="621792" y="1773936"/>
            <a:ext cx="1600200" cy="288036"/>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100M / 50%</a:t>
            </a:r>
          </a:p>
        </p:txBody>
      </p:sp>
      <p:sp>
        <p:nvSpPr>
          <p:cNvPr id="13" name="TextBox 12"/>
          <p:cNvSpPr txBox="1"/>
          <p:nvPr/>
        </p:nvSpPr>
        <p:spPr>
          <a:xfrm>
            <a:off x="2313432" y="1773936"/>
            <a:ext cx="224027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RustyClean (sylph)</a:t>
            </a:r>
          </a:p>
        </p:txBody>
      </p:sp>
      <p:sp>
        <p:nvSpPr>
          <p:cNvPr id="14" name="TextBox 13"/>
          <p:cNvSpPr txBox="1"/>
          <p:nvPr/>
        </p:nvSpPr>
        <p:spPr>
          <a:xfrm>
            <a:off x="4645151" y="1773936"/>
            <a:ext cx="114300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0.9964</a:t>
            </a:r>
          </a:p>
        </p:txBody>
      </p:sp>
      <p:sp>
        <p:nvSpPr>
          <p:cNvPr id="15" name="TextBox 14"/>
          <p:cNvSpPr txBox="1"/>
          <p:nvPr/>
        </p:nvSpPr>
        <p:spPr>
          <a:xfrm>
            <a:off x="5879591" y="1773936"/>
            <a:ext cx="16916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0.328 %</a:t>
            </a:r>
          </a:p>
        </p:txBody>
      </p:sp>
      <p:sp>
        <p:nvSpPr>
          <p:cNvPr id="16" name="TextBox 15"/>
          <p:cNvSpPr txBox="1"/>
          <p:nvPr/>
        </p:nvSpPr>
        <p:spPr>
          <a:xfrm>
            <a:off x="7662671" y="1773936"/>
            <a:ext cx="141731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0.399 %</a:t>
            </a:r>
          </a:p>
        </p:txBody>
      </p:sp>
      <p:sp>
        <p:nvSpPr>
          <p:cNvPr id="17" name="TextBox 16"/>
          <p:cNvSpPr txBox="1"/>
          <p:nvPr/>
        </p:nvSpPr>
        <p:spPr>
          <a:xfrm>
            <a:off x="9171432" y="1773936"/>
            <a:ext cx="132588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40 min</a:t>
            </a:r>
          </a:p>
        </p:txBody>
      </p:sp>
      <p:sp>
        <p:nvSpPr>
          <p:cNvPr id="18" name="TextBox 17"/>
          <p:cNvSpPr txBox="1"/>
          <p:nvPr/>
        </p:nvSpPr>
        <p:spPr>
          <a:xfrm>
            <a:off x="10588752" y="1773936"/>
            <a:ext cx="10058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3.4 GB</a:t>
            </a:r>
          </a:p>
        </p:txBody>
      </p:sp>
      <p:sp>
        <p:nvSpPr>
          <p:cNvPr id="19" name="TextBox 18"/>
          <p:cNvSpPr txBox="1"/>
          <p:nvPr/>
        </p:nvSpPr>
        <p:spPr>
          <a:xfrm>
            <a:off x="621792" y="2098548"/>
            <a:ext cx="1600200" cy="288036"/>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
            </a:r>
          </a:p>
        </p:txBody>
      </p:sp>
      <p:sp>
        <p:nvSpPr>
          <p:cNvPr id="20" name="TextBox 19"/>
          <p:cNvSpPr txBox="1"/>
          <p:nvPr/>
        </p:nvSpPr>
        <p:spPr>
          <a:xfrm>
            <a:off x="2313432" y="2098548"/>
            <a:ext cx="224027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a:t>
            </a:r>
          </a:p>
        </p:txBody>
      </p:sp>
      <p:sp>
        <p:nvSpPr>
          <p:cNvPr id="21" name="TextBox 20"/>
          <p:cNvSpPr txBox="1"/>
          <p:nvPr/>
        </p:nvSpPr>
        <p:spPr>
          <a:xfrm>
            <a:off x="4645151" y="2098548"/>
            <a:ext cx="114300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0.9989</a:t>
            </a:r>
          </a:p>
        </p:txBody>
      </p:sp>
      <p:sp>
        <p:nvSpPr>
          <p:cNvPr id="22" name="TextBox 21"/>
          <p:cNvSpPr txBox="1"/>
          <p:nvPr/>
        </p:nvSpPr>
        <p:spPr>
          <a:xfrm>
            <a:off x="5879591" y="2098548"/>
            <a:ext cx="16916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0.043 %</a:t>
            </a:r>
          </a:p>
        </p:txBody>
      </p:sp>
      <p:sp>
        <p:nvSpPr>
          <p:cNvPr id="23" name="TextBox 22"/>
          <p:cNvSpPr txBox="1"/>
          <p:nvPr/>
        </p:nvSpPr>
        <p:spPr>
          <a:xfrm>
            <a:off x="7662671" y="2098548"/>
            <a:ext cx="141731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0.173 %</a:t>
            </a:r>
          </a:p>
        </p:txBody>
      </p:sp>
      <p:sp>
        <p:nvSpPr>
          <p:cNvPr id="24" name="TextBox 23"/>
          <p:cNvSpPr txBox="1"/>
          <p:nvPr/>
        </p:nvSpPr>
        <p:spPr>
          <a:xfrm>
            <a:off x="9171432" y="2098548"/>
            <a:ext cx="132588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28 min</a:t>
            </a:r>
          </a:p>
        </p:txBody>
      </p:sp>
      <p:sp>
        <p:nvSpPr>
          <p:cNvPr id="25" name="TextBox 24"/>
          <p:cNvSpPr txBox="1"/>
          <p:nvPr/>
        </p:nvSpPr>
        <p:spPr>
          <a:xfrm>
            <a:off x="10588752" y="2098548"/>
            <a:ext cx="10058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3.6 GB</a:t>
            </a:r>
          </a:p>
        </p:txBody>
      </p:sp>
      <p:sp>
        <p:nvSpPr>
          <p:cNvPr id="26" name="TextBox 25"/>
          <p:cNvSpPr txBox="1"/>
          <p:nvPr/>
        </p:nvSpPr>
        <p:spPr>
          <a:xfrm>
            <a:off x="621792" y="2423160"/>
            <a:ext cx="1600200" cy="288036"/>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
            </a:r>
          </a:p>
        </p:txBody>
      </p:sp>
      <p:sp>
        <p:nvSpPr>
          <p:cNvPr id="27" name="TextBox 26"/>
          <p:cNvSpPr txBox="1"/>
          <p:nvPr/>
        </p:nvSpPr>
        <p:spPr>
          <a:xfrm>
            <a:off x="2313432" y="2423160"/>
            <a:ext cx="224027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KneadData</a:t>
            </a:r>
          </a:p>
        </p:txBody>
      </p:sp>
      <p:sp>
        <p:nvSpPr>
          <p:cNvPr id="28" name="TextBox 27"/>
          <p:cNvSpPr txBox="1"/>
          <p:nvPr/>
        </p:nvSpPr>
        <p:spPr>
          <a:xfrm>
            <a:off x="4645151" y="2423160"/>
            <a:ext cx="114300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0.9872</a:t>
            </a:r>
          </a:p>
        </p:txBody>
      </p:sp>
      <p:sp>
        <p:nvSpPr>
          <p:cNvPr id="29" name="TextBox 28"/>
          <p:cNvSpPr txBox="1"/>
          <p:nvPr/>
        </p:nvSpPr>
        <p:spPr>
          <a:xfrm>
            <a:off x="5879591" y="2423160"/>
            <a:ext cx="16916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2.286 %</a:t>
            </a:r>
          </a:p>
        </p:txBody>
      </p:sp>
      <p:sp>
        <p:nvSpPr>
          <p:cNvPr id="30" name="TextBox 29"/>
          <p:cNvSpPr txBox="1"/>
          <p:nvPr/>
        </p:nvSpPr>
        <p:spPr>
          <a:xfrm>
            <a:off x="7662671" y="2423160"/>
            <a:ext cx="141731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0.249 %</a:t>
            </a:r>
          </a:p>
        </p:txBody>
      </p:sp>
      <p:sp>
        <p:nvSpPr>
          <p:cNvPr id="31" name="TextBox 30"/>
          <p:cNvSpPr txBox="1"/>
          <p:nvPr/>
        </p:nvSpPr>
        <p:spPr>
          <a:xfrm>
            <a:off x="9171432" y="2423160"/>
            <a:ext cx="132588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225 min</a:t>
            </a:r>
          </a:p>
        </p:txBody>
      </p:sp>
      <p:sp>
        <p:nvSpPr>
          <p:cNvPr id="32" name="TextBox 31"/>
          <p:cNvSpPr txBox="1"/>
          <p:nvPr/>
        </p:nvSpPr>
        <p:spPr>
          <a:xfrm>
            <a:off x="10588752" y="2423160"/>
            <a:ext cx="10058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1.1 GB</a:t>
            </a:r>
          </a:p>
        </p:txBody>
      </p:sp>
      <p:sp>
        <p:nvSpPr>
          <p:cNvPr id="33" name="TextBox 32"/>
          <p:cNvSpPr txBox="1"/>
          <p:nvPr/>
        </p:nvSpPr>
        <p:spPr>
          <a:xfrm>
            <a:off x="621792" y="2747772"/>
            <a:ext cx="1600200" cy="288036"/>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100M / 90%</a:t>
            </a:r>
          </a:p>
        </p:txBody>
      </p:sp>
      <p:sp>
        <p:nvSpPr>
          <p:cNvPr id="34" name="TextBox 33"/>
          <p:cNvSpPr txBox="1"/>
          <p:nvPr/>
        </p:nvSpPr>
        <p:spPr>
          <a:xfrm>
            <a:off x="2313432" y="2747772"/>
            <a:ext cx="224027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RustyClean (sylph)</a:t>
            </a:r>
          </a:p>
        </p:txBody>
      </p:sp>
      <p:sp>
        <p:nvSpPr>
          <p:cNvPr id="35" name="TextBox 34"/>
          <p:cNvSpPr txBox="1"/>
          <p:nvPr/>
        </p:nvSpPr>
        <p:spPr>
          <a:xfrm>
            <a:off x="4645151" y="2747772"/>
            <a:ext cx="114300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0.9813</a:t>
            </a:r>
          </a:p>
        </p:txBody>
      </p:sp>
      <p:sp>
        <p:nvSpPr>
          <p:cNvPr id="36" name="TextBox 35"/>
          <p:cNvSpPr txBox="1"/>
          <p:nvPr/>
        </p:nvSpPr>
        <p:spPr>
          <a:xfrm>
            <a:off x="5879591" y="2747772"/>
            <a:ext cx="16916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0.325 %</a:t>
            </a:r>
          </a:p>
        </p:txBody>
      </p:sp>
      <p:sp>
        <p:nvSpPr>
          <p:cNvPr id="37" name="TextBox 36"/>
          <p:cNvSpPr txBox="1"/>
          <p:nvPr/>
        </p:nvSpPr>
        <p:spPr>
          <a:xfrm>
            <a:off x="7662671" y="2747772"/>
            <a:ext cx="141731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0.400 %</a:t>
            </a:r>
          </a:p>
        </p:txBody>
      </p:sp>
      <p:sp>
        <p:nvSpPr>
          <p:cNvPr id="38" name="TextBox 37"/>
          <p:cNvSpPr txBox="1"/>
          <p:nvPr/>
        </p:nvSpPr>
        <p:spPr>
          <a:xfrm>
            <a:off x="9171432" y="2747772"/>
            <a:ext cx="132588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41 min</a:t>
            </a:r>
          </a:p>
        </p:txBody>
      </p:sp>
      <p:sp>
        <p:nvSpPr>
          <p:cNvPr id="39" name="TextBox 38"/>
          <p:cNvSpPr txBox="1"/>
          <p:nvPr/>
        </p:nvSpPr>
        <p:spPr>
          <a:xfrm>
            <a:off x="10588752" y="2747772"/>
            <a:ext cx="10058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3.6 GB</a:t>
            </a:r>
          </a:p>
        </p:txBody>
      </p:sp>
      <p:sp>
        <p:nvSpPr>
          <p:cNvPr id="40" name="TextBox 39"/>
          <p:cNvSpPr txBox="1"/>
          <p:nvPr/>
        </p:nvSpPr>
        <p:spPr>
          <a:xfrm>
            <a:off x="621792" y="3072384"/>
            <a:ext cx="1600200" cy="288036"/>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
            </a:r>
          </a:p>
        </p:txBody>
      </p:sp>
      <p:sp>
        <p:nvSpPr>
          <p:cNvPr id="41" name="TextBox 40"/>
          <p:cNvSpPr txBox="1"/>
          <p:nvPr/>
        </p:nvSpPr>
        <p:spPr>
          <a:xfrm>
            <a:off x="2313432" y="3072384"/>
            <a:ext cx="224027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a:t>
            </a:r>
          </a:p>
        </p:txBody>
      </p:sp>
      <p:sp>
        <p:nvSpPr>
          <p:cNvPr id="42" name="TextBox 41"/>
          <p:cNvSpPr txBox="1"/>
          <p:nvPr/>
        </p:nvSpPr>
        <p:spPr>
          <a:xfrm>
            <a:off x="4645151" y="3072384"/>
            <a:ext cx="114300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0.9923</a:t>
            </a:r>
          </a:p>
        </p:txBody>
      </p:sp>
      <p:sp>
        <p:nvSpPr>
          <p:cNvPr id="43" name="TextBox 42"/>
          <p:cNvSpPr txBox="1"/>
          <p:nvPr/>
        </p:nvSpPr>
        <p:spPr>
          <a:xfrm>
            <a:off x="5879591" y="3072384"/>
            <a:ext cx="16916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0.042 %</a:t>
            </a:r>
          </a:p>
        </p:txBody>
      </p:sp>
      <p:sp>
        <p:nvSpPr>
          <p:cNvPr id="44" name="TextBox 43"/>
          <p:cNvSpPr txBox="1"/>
          <p:nvPr/>
        </p:nvSpPr>
        <p:spPr>
          <a:xfrm>
            <a:off x="7662671" y="3072384"/>
            <a:ext cx="141731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0.174 %</a:t>
            </a:r>
          </a:p>
        </p:txBody>
      </p:sp>
      <p:sp>
        <p:nvSpPr>
          <p:cNvPr id="45" name="TextBox 44"/>
          <p:cNvSpPr txBox="1"/>
          <p:nvPr/>
        </p:nvSpPr>
        <p:spPr>
          <a:xfrm>
            <a:off x="9171432" y="3072384"/>
            <a:ext cx="132588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22 min</a:t>
            </a:r>
          </a:p>
        </p:txBody>
      </p:sp>
      <p:sp>
        <p:nvSpPr>
          <p:cNvPr id="46" name="TextBox 45"/>
          <p:cNvSpPr txBox="1"/>
          <p:nvPr/>
        </p:nvSpPr>
        <p:spPr>
          <a:xfrm>
            <a:off x="10588752" y="3072384"/>
            <a:ext cx="10058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3.6 GB</a:t>
            </a:r>
          </a:p>
        </p:txBody>
      </p:sp>
      <p:sp>
        <p:nvSpPr>
          <p:cNvPr id="47" name="TextBox 46"/>
          <p:cNvSpPr txBox="1"/>
          <p:nvPr/>
        </p:nvSpPr>
        <p:spPr>
          <a:xfrm>
            <a:off x="621792" y="3396996"/>
            <a:ext cx="1600200" cy="288036"/>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
            </a:r>
          </a:p>
        </p:txBody>
      </p:sp>
      <p:sp>
        <p:nvSpPr>
          <p:cNvPr id="48" name="TextBox 47"/>
          <p:cNvSpPr txBox="1"/>
          <p:nvPr/>
        </p:nvSpPr>
        <p:spPr>
          <a:xfrm>
            <a:off x="2313432" y="3396996"/>
            <a:ext cx="224027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KneadData</a:t>
            </a:r>
          </a:p>
        </p:txBody>
      </p:sp>
      <p:sp>
        <p:nvSpPr>
          <p:cNvPr id="49" name="TextBox 48"/>
          <p:cNvSpPr txBox="1"/>
          <p:nvPr/>
        </p:nvSpPr>
        <p:spPr>
          <a:xfrm>
            <a:off x="4645151" y="3396996"/>
            <a:ext cx="114300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0.9778</a:t>
            </a:r>
          </a:p>
        </p:txBody>
      </p:sp>
      <p:sp>
        <p:nvSpPr>
          <p:cNvPr id="50" name="TextBox 49"/>
          <p:cNvSpPr txBox="1"/>
          <p:nvPr/>
        </p:nvSpPr>
        <p:spPr>
          <a:xfrm>
            <a:off x="5879591" y="3396996"/>
            <a:ext cx="16916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2.283 %</a:t>
            </a:r>
          </a:p>
        </p:txBody>
      </p:sp>
      <p:sp>
        <p:nvSpPr>
          <p:cNvPr id="51" name="TextBox 50"/>
          <p:cNvSpPr txBox="1"/>
          <p:nvPr/>
        </p:nvSpPr>
        <p:spPr>
          <a:xfrm>
            <a:off x="7662671" y="3396996"/>
            <a:ext cx="141731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0.250 %</a:t>
            </a:r>
          </a:p>
        </p:txBody>
      </p:sp>
      <p:sp>
        <p:nvSpPr>
          <p:cNvPr id="52" name="TextBox 51"/>
          <p:cNvSpPr txBox="1"/>
          <p:nvPr/>
        </p:nvSpPr>
        <p:spPr>
          <a:xfrm>
            <a:off x="9171432" y="3396996"/>
            <a:ext cx="1325880"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242 min</a:t>
            </a:r>
          </a:p>
        </p:txBody>
      </p:sp>
      <p:sp>
        <p:nvSpPr>
          <p:cNvPr id="53" name="TextBox 52"/>
          <p:cNvSpPr txBox="1"/>
          <p:nvPr/>
        </p:nvSpPr>
        <p:spPr>
          <a:xfrm>
            <a:off x="10588752" y="3396996"/>
            <a:ext cx="1005839" cy="288036"/>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1.1 GB</a:t>
            </a:r>
          </a:p>
        </p:txBody>
      </p:sp>
      <p:sp>
        <p:nvSpPr>
          <p:cNvPr id="54" name="Rounded Rectangle 53"/>
          <p:cNvSpPr/>
          <p:nvPr/>
        </p:nvSpPr>
        <p:spPr>
          <a:xfrm>
            <a:off x="566928" y="4041648"/>
            <a:ext cx="5364327" cy="1188720"/>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22960" y="4151376"/>
            <a:ext cx="4852263" cy="274320"/>
          </a:xfrm>
          <a:prstGeom prst="rect">
            <a:avLst/>
          </a:prstGeom>
          <a:noFill/>
        </p:spPr>
        <p:txBody>
          <a:bodyPr wrap="square" lIns="45720" rIns="45720" tIns="18288" bIns="18288" anchor="t">
            <a:spAutoFit/>
          </a:bodyPr>
          <a:lstStyle/>
          <a:p>
            <a:pPr algn="l">
              <a:lnSpc>
                <a:spcPct val="100000"/>
              </a:lnSpc>
            </a:pPr>
            <a:r>
              <a:rPr sz="1350" b="1" i="0">
                <a:solidFill>
                  <a:srgbClr val="8F3A2F"/>
                </a:solidFill>
                <a:latin typeface="Calibri"/>
              </a:rPr>
              <a:t>sylph solves the memory problem</a:t>
            </a:r>
          </a:p>
        </p:txBody>
      </p:sp>
      <p:sp>
        <p:nvSpPr>
          <p:cNvPr id="56" name="TextBox 55"/>
          <p:cNvSpPr txBox="1"/>
          <p:nvPr/>
        </p:nvSpPr>
        <p:spPr>
          <a:xfrm>
            <a:off x="822960" y="4462272"/>
            <a:ext cx="4852263" cy="658368"/>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3.4 GB against 15.5 GB for the Kraken2 index — a 4× reduction that makes dense concurrency practical.</a:t>
            </a:r>
          </a:p>
        </p:txBody>
      </p:sp>
      <p:sp>
        <p:nvSpPr>
          <p:cNvPr id="57" name="Rounded Rectangle 56"/>
          <p:cNvSpPr/>
          <p:nvPr/>
        </p:nvSpPr>
        <p:spPr>
          <a:xfrm>
            <a:off x="6260439" y="4041648"/>
            <a:ext cx="5364327" cy="1188720"/>
          </a:xfrm>
          <a:prstGeom prst="roundRect">
            <a:avLst>
              <a:gd name="adj" fmla="val 7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Box 57"/>
          <p:cNvSpPr txBox="1"/>
          <p:nvPr/>
        </p:nvSpPr>
        <p:spPr>
          <a:xfrm>
            <a:off x="6516471" y="4151376"/>
            <a:ext cx="4852263" cy="274320"/>
          </a:xfrm>
          <a:prstGeom prst="rect">
            <a:avLst/>
          </a:prstGeom>
          <a:noFill/>
        </p:spPr>
        <p:txBody>
          <a:bodyPr wrap="square" lIns="45720" rIns="45720" tIns="18288" bIns="18288" anchor="t">
            <a:spAutoFit/>
          </a:bodyPr>
          <a:lstStyle/>
          <a:p>
            <a:pPr algn="l">
              <a:lnSpc>
                <a:spcPct val="100000"/>
              </a:lnSpc>
            </a:pPr>
            <a:r>
              <a:rPr sz="1350" b="1" i="0">
                <a:solidFill>
                  <a:srgbClr val="E0A99E"/>
                </a:solidFill>
                <a:latin typeface="Calibri"/>
              </a:rPr>
              <a:t>But Hostile is faster here</a:t>
            </a:r>
          </a:p>
        </p:txBody>
      </p:sp>
      <p:sp>
        <p:nvSpPr>
          <p:cNvPr id="59" name="TextBox 58"/>
          <p:cNvSpPr txBox="1"/>
          <p:nvPr/>
        </p:nvSpPr>
        <p:spPr>
          <a:xfrm>
            <a:off x="6516471" y="4462272"/>
            <a:ext cx="4852263" cy="658368"/>
          </a:xfrm>
          <a:prstGeom prst="rect">
            <a:avLst/>
          </a:prstGeom>
          <a:noFill/>
        </p:spPr>
        <p:txBody>
          <a:bodyPr wrap="square" lIns="45720" rIns="45720" tIns="18288" bIns="18288" anchor="t">
            <a:spAutoFit/>
          </a:bodyPr>
          <a:lstStyle/>
          <a:p>
            <a:pPr algn="l">
              <a:lnSpc>
                <a:spcPct val="110000"/>
              </a:lnSpc>
            </a:pPr>
            <a:r>
              <a:rPr sz="1230" b="0" i="0">
                <a:solidFill>
                  <a:srgbClr val="FFFFFF"/>
                </a:solidFill>
                <a:latin typeface="Calibri"/>
              </a:rPr>
              <a:t>On this panel Hostile beats RustyClean on runtime and on F1. This is the opposite of Experiment 3 and has to be reconciled before any speed claim is made.</a:t>
            </a:r>
          </a:p>
        </p:txBody>
      </p:sp>
      <p:sp>
        <p:nvSpPr>
          <p:cNvPr id="60" name="TextBox 59"/>
          <p:cNvSpPr txBox="1"/>
          <p:nvPr/>
        </p:nvSpPr>
        <p:spPr>
          <a:xfrm>
            <a:off x="566928" y="5376672"/>
            <a:ext cx="11057839" cy="329184"/>
          </a:xfrm>
          <a:prstGeom prst="rect">
            <a:avLst/>
          </a:prstGeom>
          <a:noFill/>
        </p:spPr>
        <p:txBody>
          <a:bodyPr wrap="square" lIns="45720" rIns="45720" tIns="18288" bIns="18288" anchor="t">
            <a:spAutoFit/>
          </a:bodyPr>
          <a:lstStyle/>
          <a:p>
            <a:pPr algn="l">
              <a:lnSpc>
                <a:spcPct val="100000"/>
              </a:lnSpc>
            </a:pPr>
            <a:r>
              <a:rPr sz="1300" b="1" i="0">
                <a:solidFill>
                  <a:srgbClr val="8F3A2F"/>
                </a:solidFill>
                <a:latin typeface="Calibri"/>
              </a:rPr>
              <a:t>Against KneadData the margin holds: 5.7× and 5.8× faster, with 7× less microbial loss.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RESULTS · WITH VERIFICATION, AGAINST HOSTILE</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Experiment 7 — 100M depletion only</a:t>
            </a:r>
          </a:p>
        </p:txBody>
      </p:sp>
      <p:sp>
        <p:nvSpPr>
          <p:cNvPr id="4" name="Rounded Rectangle 3"/>
          <p:cNvSpPr/>
          <p:nvPr/>
        </p:nvSpPr>
        <p:spPr>
          <a:xfrm>
            <a:off x="566928" y="1389888"/>
            <a:ext cx="11057839" cy="384048"/>
          </a:xfrm>
          <a:prstGeom prst="roundRect">
            <a:avLst>
              <a:gd name="adj" fmla="val 4000"/>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21792" y="1426464"/>
            <a:ext cx="160020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Dataset</a:t>
            </a:r>
          </a:p>
        </p:txBody>
      </p:sp>
      <p:sp>
        <p:nvSpPr>
          <p:cNvPr id="6" name="TextBox 5"/>
          <p:cNvSpPr txBox="1"/>
          <p:nvPr/>
        </p:nvSpPr>
        <p:spPr>
          <a:xfrm>
            <a:off x="2313432" y="1426464"/>
            <a:ext cx="2697479"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Tool</a:t>
            </a:r>
          </a:p>
        </p:txBody>
      </p:sp>
      <p:sp>
        <p:nvSpPr>
          <p:cNvPr id="7" name="TextBox 6"/>
          <p:cNvSpPr txBox="1"/>
          <p:nvPr/>
        </p:nvSpPr>
        <p:spPr>
          <a:xfrm>
            <a:off x="5102351" y="1426464"/>
            <a:ext cx="105156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F1</a:t>
            </a:r>
          </a:p>
        </p:txBody>
      </p:sp>
      <p:sp>
        <p:nvSpPr>
          <p:cNvPr id="8" name="TextBox 7"/>
          <p:cNvSpPr txBox="1"/>
          <p:nvPr/>
        </p:nvSpPr>
        <p:spPr>
          <a:xfrm>
            <a:off x="6245351" y="1426464"/>
            <a:ext cx="150876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Microbial loss</a:t>
            </a:r>
          </a:p>
        </p:txBody>
      </p:sp>
      <p:sp>
        <p:nvSpPr>
          <p:cNvPr id="9" name="TextBox 8"/>
          <p:cNvSpPr txBox="1"/>
          <p:nvPr/>
        </p:nvSpPr>
        <p:spPr>
          <a:xfrm>
            <a:off x="7845552" y="1426464"/>
            <a:ext cx="132588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Host carry</a:t>
            </a:r>
          </a:p>
        </p:txBody>
      </p:sp>
      <p:sp>
        <p:nvSpPr>
          <p:cNvPr id="10" name="TextBox 9"/>
          <p:cNvSpPr txBox="1"/>
          <p:nvPr/>
        </p:nvSpPr>
        <p:spPr>
          <a:xfrm>
            <a:off x="9262872" y="1426464"/>
            <a:ext cx="1143000"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Runtime</a:t>
            </a:r>
          </a:p>
        </p:txBody>
      </p:sp>
      <p:sp>
        <p:nvSpPr>
          <p:cNvPr id="11" name="TextBox 10"/>
          <p:cNvSpPr txBox="1"/>
          <p:nvPr/>
        </p:nvSpPr>
        <p:spPr>
          <a:xfrm>
            <a:off x="10497312" y="1426464"/>
            <a:ext cx="1078992" cy="310896"/>
          </a:xfrm>
          <a:prstGeom prst="rect">
            <a:avLst/>
          </a:prstGeom>
          <a:noFill/>
        </p:spPr>
        <p:txBody>
          <a:bodyPr wrap="square" lIns="45720" rIns="45720" tIns="18288" bIns="18288" anchor="ctr">
            <a:spAutoFit/>
          </a:bodyPr>
          <a:lstStyle/>
          <a:p>
            <a:pPr algn="l">
              <a:lnSpc>
                <a:spcPct val="100000"/>
              </a:lnSpc>
            </a:pPr>
            <a:r>
              <a:rPr sz="1050" b="1" i="0">
                <a:solidFill>
                  <a:srgbClr val="FFFFFF"/>
                </a:solidFill>
                <a:latin typeface="Calibri"/>
              </a:rPr>
              <a:t>Peak mem</a:t>
            </a:r>
          </a:p>
        </p:txBody>
      </p:sp>
      <p:sp>
        <p:nvSpPr>
          <p:cNvPr id="12" name="Rectangle 11"/>
          <p:cNvSpPr/>
          <p:nvPr/>
        </p:nvSpPr>
        <p:spPr>
          <a:xfrm>
            <a:off x="566928" y="177393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1792" y="1792224"/>
            <a:ext cx="16002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100M / 50%</a:t>
            </a:r>
          </a:p>
        </p:txBody>
      </p:sp>
      <p:sp>
        <p:nvSpPr>
          <p:cNvPr id="14" name="TextBox 13"/>
          <p:cNvSpPr txBox="1"/>
          <p:nvPr/>
        </p:nvSpPr>
        <p:spPr>
          <a:xfrm>
            <a:off x="2313432" y="1792224"/>
            <a:ext cx="26974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RustyClean (kraken2 + recheck)</a:t>
            </a:r>
          </a:p>
        </p:txBody>
      </p:sp>
      <p:sp>
        <p:nvSpPr>
          <p:cNvPr id="15" name="TextBox 14"/>
          <p:cNvSpPr txBox="1"/>
          <p:nvPr/>
        </p:nvSpPr>
        <p:spPr>
          <a:xfrm>
            <a:off x="5102351" y="1792224"/>
            <a:ext cx="10515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0.9976</a:t>
            </a:r>
          </a:p>
        </p:txBody>
      </p:sp>
      <p:sp>
        <p:nvSpPr>
          <p:cNvPr id="16" name="TextBox 15"/>
          <p:cNvSpPr txBox="1"/>
          <p:nvPr/>
        </p:nvSpPr>
        <p:spPr>
          <a:xfrm>
            <a:off x="6245351" y="1792224"/>
            <a:ext cx="15087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0.398 %</a:t>
            </a:r>
          </a:p>
        </p:txBody>
      </p:sp>
      <p:sp>
        <p:nvSpPr>
          <p:cNvPr id="17" name="TextBox 16"/>
          <p:cNvSpPr txBox="1"/>
          <p:nvPr/>
        </p:nvSpPr>
        <p:spPr>
          <a:xfrm>
            <a:off x="7845552" y="1792224"/>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0.072 %</a:t>
            </a:r>
          </a:p>
        </p:txBody>
      </p:sp>
      <p:sp>
        <p:nvSpPr>
          <p:cNvPr id="18" name="TextBox 17"/>
          <p:cNvSpPr txBox="1"/>
          <p:nvPr/>
        </p:nvSpPr>
        <p:spPr>
          <a:xfrm>
            <a:off x="9262872" y="1792224"/>
            <a:ext cx="11430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22 min</a:t>
            </a:r>
          </a:p>
        </p:txBody>
      </p:sp>
      <p:sp>
        <p:nvSpPr>
          <p:cNvPr id="19" name="TextBox 18"/>
          <p:cNvSpPr txBox="1"/>
          <p:nvPr/>
        </p:nvSpPr>
        <p:spPr>
          <a:xfrm>
            <a:off x="10497312" y="1792224"/>
            <a:ext cx="1078992"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15.6 GB</a:t>
            </a:r>
          </a:p>
        </p:txBody>
      </p:sp>
      <p:sp>
        <p:nvSpPr>
          <p:cNvPr id="20" name="TextBox 19"/>
          <p:cNvSpPr txBox="1"/>
          <p:nvPr/>
        </p:nvSpPr>
        <p:spPr>
          <a:xfrm>
            <a:off x="621792" y="2157984"/>
            <a:ext cx="16002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
            </a:r>
          </a:p>
        </p:txBody>
      </p:sp>
      <p:sp>
        <p:nvSpPr>
          <p:cNvPr id="21" name="TextBox 20"/>
          <p:cNvSpPr txBox="1"/>
          <p:nvPr/>
        </p:nvSpPr>
        <p:spPr>
          <a:xfrm>
            <a:off x="2313432" y="2157984"/>
            <a:ext cx="26974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a:t>
            </a:r>
          </a:p>
        </p:txBody>
      </p:sp>
      <p:sp>
        <p:nvSpPr>
          <p:cNvPr id="22" name="TextBox 21"/>
          <p:cNvSpPr txBox="1"/>
          <p:nvPr/>
        </p:nvSpPr>
        <p:spPr>
          <a:xfrm>
            <a:off x="5102351" y="2157984"/>
            <a:ext cx="10515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0.9988</a:t>
            </a:r>
          </a:p>
        </p:txBody>
      </p:sp>
      <p:sp>
        <p:nvSpPr>
          <p:cNvPr id="23" name="TextBox 22"/>
          <p:cNvSpPr txBox="1"/>
          <p:nvPr/>
        </p:nvSpPr>
        <p:spPr>
          <a:xfrm>
            <a:off x="6245351" y="2157984"/>
            <a:ext cx="15087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0.039 %</a:t>
            </a:r>
          </a:p>
        </p:txBody>
      </p:sp>
      <p:sp>
        <p:nvSpPr>
          <p:cNvPr id="24" name="TextBox 23"/>
          <p:cNvSpPr txBox="1"/>
          <p:nvPr/>
        </p:nvSpPr>
        <p:spPr>
          <a:xfrm>
            <a:off x="7845552" y="2157984"/>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0.173 %</a:t>
            </a:r>
          </a:p>
        </p:txBody>
      </p:sp>
      <p:sp>
        <p:nvSpPr>
          <p:cNvPr id="25" name="TextBox 24"/>
          <p:cNvSpPr txBox="1"/>
          <p:nvPr/>
        </p:nvSpPr>
        <p:spPr>
          <a:xfrm>
            <a:off x="9262872" y="2157984"/>
            <a:ext cx="11430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28 min</a:t>
            </a:r>
          </a:p>
        </p:txBody>
      </p:sp>
      <p:sp>
        <p:nvSpPr>
          <p:cNvPr id="26" name="TextBox 25"/>
          <p:cNvSpPr txBox="1"/>
          <p:nvPr/>
        </p:nvSpPr>
        <p:spPr>
          <a:xfrm>
            <a:off x="10497312" y="2157984"/>
            <a:ext cx="1078992"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3.6 GB</a:t>
            </a:r>
          </a:p>
        </p:txBody>
      </p:sp>
      <p:sp>
        <p:nvSpPr>
          <p:cNvPr id="27" name="Rectangle 26"/>
          <p:cNvSpPr/>
          <p:nvPr/>
        </p:nvSpPr>
        <p:spPr>
          <a:xfrm>
            <a:off x="566928" y="2505456"/>
            <a:ext cx="11057839" cy="365760"/>
          </a:xfrm>
          <a:prstGeom prst="rect">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21792" y="2523744"/>
            <a:ext cx="16002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100M / 90%</a:t>
            </a:r>
          </a:p>
        </p:txBody>
      </p:sp>
      <p:sp>
        <p:nvSpPr>
          <p:cNvPr id="29" name="TextBox 28"/>
          <p:cNvSpPr txBox="1"/>
          <p:nvPr/>
        </p:nvSpPr>
        <p:spPr>
          <a:xfrm>
            <a:off x="2313432" y="2523744"/>
            <a:ext cx="26974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RustyClean (kraken2 + recheck)</a:t>
            </a:r>
          </a:p>
        </p:txBody>
      </p:sp>
      <p:sp>
        <p:nvSpPr>
          <p:cNvPr id="30" name="TextBox 29"/>
          <p:cNvSpPr txBox="1"/>
          <p:nvPr/>
        </p:nvSpPr>
        <p:spPr>
          <a:xfrm>
            <a:off x="5102351" y="2523744"/>
            <a:ext cx="10515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0.9943</a:t>
            </a:r>
          </a:p>
        </p:txBody>
      </p:sp>
      <p:sp>
        <p:nvSpPr>
          <p:cNvPr id="31" name="TextBox 30"/>
          <p:cNvSpPr txBox="1"/>
          <p:nvPr/>
        </p:nvSpPr>
        <p:spPr>
          <a:xfrm>
            <a:off x="6245351" y="2523744"/>
            <a:ext cx="15087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0.395 %</a:t>
            </a:r>
          </a:p>
        </p:txBody>
      </p:sp>
      <p:sp>
        <p:nvSpPr>
          <p:cNvPr id="32" name="TextBox 31"/>
          <p:cNvSpPr txBox="1"/>
          <p:nvPr/>
        </p:nvSpPr>
        <p:spPr>
          <a:xfrm>
            <a:off x="7845552" y="2523744"/>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0.071 %</a:t>
            </a:r>
          </a:p>
        </p:txBody>
      </p:sp>
      <p:sp>
        <p:nvSpPr>
          <p:cNvPr id="33" name="TextBox 32"/>
          <p:cNvSpPr txBox="1"/>
          <p:nvPr/>
        </p:nvSpPr>
        <p:spPr>
          <a:xfrm>
            <a:off x="9262872" y="2523744"/>
            <a:ext cx="11430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19 min</a:t>
            </a:r>
          </a:p>
        </p:txBody>
      </p:sp>
      <p:sp>
        <p:nvSpPr>
          <p:cNvPr id="34" name="TextBox 33"/>
          <p:cNvSpPr txBox="1"/>
          <p:nvPr/>
        </p:nvSpPr>
        <p:spPr>
          <a:xfrm>
            <a:off x="10497312" y="2523744"/>
            <a:ext cx="1078992"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15.5 GB</a:t>
            </a:r>
          </a:p>
        </p:txBody>
      </p:sp>
      <p:sp>
        <p:nvSpPr>
          <p:cNvPr id="35" name="TextBox 34"/>
          <p:cNvSpPr txBox="1"/>
          <p:nvPr/>
        </p:nvSpPr>
        <p:spPr>
          <a:xfrm>
            <a:off x="621792" y="2889503"/>
            <a:ext cx="1600200" cy="329184"/>
          </a:xfrm>
          <a:prstGeom prst="rect">
            <a:avLst/>
          </a:prstGeom>
          <a:noFill/>
        </p:spPr>
        <p:txBody>
          <a:bodyPr wrap="square" lIns="45720" rIns="45720" tIns="18288" bIns="18288" anchor="ctr">
            <a:spAutoFit/>
          </a:bodyPr>
          <a:lstStyle/>
          <a:p>
            <a:pPr algn="l">
              <a:lnSpc>
                <a:spcPct val="100000"/>
              </a:lnSpc>
            </a:pPr>
            <a:r>
              <a:rPr sz="1150" b="1" i="0">
                <a:solidFill>
                  <a:srgbClr val="2E2A27"/>
                </a:solidFill>
                <a:latin typeface="Calibri"/>
              </a:rPr>
              <a:t/>
            </a:r>
          </a:p>
        </p:txBody>
      </p:sp>
      <p:sp>
        <p:nvSpPr>
          <p:cNvPr id="36" name="TextBox 35"/>
          <p:cNvSpPr txBox="1"/>
          <p:nvPr/>
        </p:nvSpPr>
        <p:spPr>
          <a:xfrm>
            <a:off x="2313432" y="2889503"/>
            <a:ext cx="2697479"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Hostile</a:t>
            </a:r>
          </a:p>
        </p:txBody>
      </p:sp>
      <p:sp>
        <p:nvSpPr>
          <p:cNvPr id="37" name="TextBox 36"/>
          <p:cNvSpPr txBox="1"/>
          <p:nvPr/>
        </p:nvSpPr>
        <p:spPr>
          <a:xfrm>
            <a:off x="5102351" y="2889503"/>
            <a:ext cx="10515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0.9906</a:t>
            </a:r>
          </a:p>
        </p:txBody>
      </p:sp>
      <p:sp>
        <p:nvSpPr>
          <p:cNvPr id="38" name="TextBox 37"/>
          <p:cNvSpPr txBox="1"/>
          <p:nvPr/>
        </p:nvSpPr>
        <p:spPr>
          <a:xfrm>
            <a:off x="6245351" y="2889503"/>
            <a:ext cx="150876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0.039 %</a:t>
            </a:r>
          </a:p>
        </p:txBody>
      </p:sp>
      <p:sp>
        <p:nvSpPr>
          <p:cNvPr id="39" name="TextBox 38"/>
          <p:cNvSpPr txBox="1"/>
          <p:nvPr/>
        </p:nvSpPr>
        <p:spPr>
          <a:xfrm>
            <a:off x="7845552" y="2889503"/>
            <a:ext cx="132588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0.174 %</a:t>
            </a:r>
          </a:p>
        </p:txBody>
      </p:sp>
      <p:sp>
        <p:nvSpPr>
          <p:cNvPr id="40" name="TextBox 39"/>
          <p:cNvSpPr txBox="1"/>
          <p:nvPr/>
        </p:nvSpPr>
        <p:spPr>
          <a:xfrm>
            <a:off x="9262872" y="2889503"/>
            <a:ext cx="1143000"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22 min</a:t>
            </a:r>
          </a:p>
        </p:txBody>
      </p:sp>
      <p:sp>
        <p:nvSpPr>
          <p:cNvPr id="41" name="TextBox 40"/>
          <p:cNvSpPr txBox="1"/>
          <p:nvPr/>
        </p:nvSpPr>
        <p:spPr>
          <a:xfrm>
            <a:off x="10497312" y="2889503"/>
            <a:ext cx="1078992" cy="329184"/>
          </a:xfrm>
          <a:prstGeom prst="rect">
            <a:avLst/>
          </a:prstGeom>
          <a:noFill/>
        </p:spPr>
        <p:txBody>
          <a:bodyPr wrap="square" lIns="45720" rIns="45720" tIns="18288" bIns="18288" anchor="ctr">
            <a:spAutoFit/>
          </a:bodyPr>
          <a:lstStyle/>
          <a:p>
            <a:pPr algn="l">
              <a:lnSpc>
                <a:spcPct val="100000"/>
              </a:lnSpc>
            </a:pPr>
            <a:r>
              <a:rPr sz="1150" b="0" i="0">
                <a:solidFill>
                  <a:srgbClr val="2E2A27"/>
                </a:solidFill>
                <a:latin typeface="Calibri"/>
              </a:rPr>
              <a:t>3.6 GB</a:t>
            </a:r>
          </a:p>
        </p:txBody>
      </p:sp>
      <p:sp>
        <p:nvSpPr>
          <p:cNvPr id="42" name="TextBox 41"/>
          <p:cNvSpPr txBox="1"/>
          <p:nvPr/>
        </p:nvSpPr>
        <p:spPr>
          <a:xfrm>
            <a:off x="566928" y="3291840"/>
            <a:ext cx="11057839" cy="512064"/>
          </a:xfrm>
          <a:prstGeom prst="rect">
            <a:avLst/>
          </a:prstGeom>
          <a:noFill/>
        </p:spPr>
        <p:txBody>
          <a:bodyPr wrap="square" lIns="45720" rIns="45720" tIns="18288" bIns="18288" anchor="t">
            <a:spAutoFit/>
          </a:bodyPr>
          <a:lstStyle/>
          <a:p>
            <a:pPr algn="l">
              <a:lnSpc>
                <a:spcPct val="110000"/>
              </a:lnSpc>
            </a:pPr>
            <a:r>
              <a:rPr sz="1300" b="1" i="0">
                <a:solidFill>
                  <a:srgbClr val="2E2A27"/>
                </a:solidFill>
                <a:latin typeface="Calibri"/>
              </a:rPr>
              <a:t>This is the default method — auto routing with the verification pass — against Hostile on a matched panel. It fills the gap Experiments 3 and 4 left open.</a:t>
            </a:r>
          </a:p>
        </p:txBody>
      </p:sp>
      <p:sp>
        <p:nvSpPr>
          <p:cNvPr id="43" name="Rounded Rectangle 42"/>
          <p:cNvSpPr/>
          <p:nvPr/>
        </p:nvSpPr>
        <p:spPr>
          <a:xfrm>
            <a:off x="566928" y="3895344"/>
            <a:ext cx="3503066" cy="1481328"/>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804672" y="4023360"/>
            <a:ext cx="3027578" cy="274320"/>
          </a:xfrm>
          <a:prstGeom prst="rect">
            <a:avLst/>
          </a:prstGeom>
          <a:noFill/>
        </p:spPr>
        <p:txBody>
          <a:bodyPr wrap="square" lIns="45720" rIns="45720" tIns="18288" bIns="18288" anchor="t">
            <a:spAutoFit/>
          </a:bodyPr>
          <a:lstStyle/>
          <a:p>
            <a:pPr algn="l">
              <a:lnSpc>
                <a:spcPct val="100000"/>
              </a:lnSpc>
            </a:pPr>
            <a:r>
              <a:rPr sz="1350" b="1" i="0">
                <a:solidFill>
                  <a:srgbClr val="B85042"/>
                </a:solidFill>
                <a:latin typeface="Calibri"/>
              </a:rPr>
              <a:t>RustyClean wins</a:t>
            </a:r>
          </a:p>
        </p:txBody>
      </p:sp>
      <p:sp>
        <p:nvSpPr>
          <p:cNvPr id="45" name="TextBox 44"/>
          <p:cNvSpPr txBox="1"/>
          <p:nvPr/>
        </p:nvSpPr>
        <p:spPr>
          <a:xfrm>
            <a:off x="804672" y="4352544"/>
            <a:ext cx="3027578" cy="950976"/>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Host carry-over 0.07 % against 0.17 %, and F1 at 90 % host (0.9943 vs 0.9906). Runtime 1.2–1.3× faster.</a:t>
            </a:r>
          </a:p>
        </p:txBody>
      </p:sp>
      <p:sp>
        <p:nvSpPr>
          <p:cNvPr id="46" name="Rounded Rectangle 45"/>
          <p:cNvSpPr/>
          <p:nvPr/>
        </p:nvSpPr>
        <p:spPr>
          <a:xfrm>
            <a:off x="4344314" y="3895344"/>
            <a:ext cx="3503066" cy="1481328"/>
          </a:xfrm>
          <a:prstGeom prst="roundRect">
            <a:avLst>
              <a:gd name="adj" fmla="val 7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4582058" y="4023360"/>
            <a:ext cx="3027578" cy="274320"/>
          </a:xfrm>
          <a:prstGeom prst="rect">
            <a:avLst/>
          </a:prstGeom>
          <a:noFill/>
        </p:spPr>
        <p:txBody>
          <a:bodyPr wrap="square" lIns="45720" rIns="45720" tIns="18288" bIns="18288" anchor="t">
            <a:spAutoFit/>
          </a:bodyPr>
          <a:lstStyle/>
          <a:p>
            <a:pPr algn="l">
              <a:lnSpc>
                <a:spcPct val="100000"/>
              </a:lnSpc>
            </a:pPr>
            <a:r>
              <a:rPr sz="1350" b="1" i="0">
                <a:solidFill>
                  <a:srgbClr val="6E7B85"/>
                </a:solidFill>
                <a:latin typeface="Calibri"/>
              </a:rPr>
              <a:t>Hostile wins</a:t>
            </a:r>
          </a:p>
        </p:txBody>
      </p:sp>
      <p:sp>
        <p:nvSpPr>
          <p:cNvPr id="48" name="TextBox 47"/>
          <p:cNvSpPr txBox="1"/>
          <p:nvPr/>
        </p:nvSpPr>
        <p:spPr>
          <a:xfrm>
            <a:off x="4582058" y="4352544"/>
            <a:ext cx="3027578" cy="950976"/>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Microbial loss 0.04 % against 0.40 %, F1 at 50 % host, and peak memory by more than 4× (3.6 GB vs 15.5 GB).</a:t>
            </a:r>
          </a:p>
        </p:txBody>
      </p:sp>
      <p:sp>
        <p:nvSpPr>
          <p:cNvPr id="49" name="Rounded Rectangle 48"/>
          <p:cNvSpPr/>
          <p:nvPr/>
        </p:nvSpPr>
        <p:spPr>
          <a:xfrm>
            <a:off x="8121700" y="3895344"/>
            <a:ext cx="3503066" cy="1481328"/>
          </a:xfrm>
          <a:prstGeom prst="roundRect">
            <a:avLst>
              <a:gd name="adj" fmla="val 7000"/>
            </a:avLst>
          </a:prstGeom>
          <a:noFill/>
          <a:ln w="12700">
            <a:solidFill>
              <a:srgbClr val="8F3A2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359444" y="4023360"/>
            <a:ext cx="3027578" cy="274320"/>
          </a:xfrm>
          <a:prstGeom prst="rect">
            <a:avLst/>
          </a:prstGeom>
          <a:noFill/>
        </p:spPr>
        <p:txBody>
          <a:bodyPr wrap="square" lIns="45720" rIns="45720" tIns="18288" bIns="18288" anchor="t">
            <a:spAutoFit/>
          </a:bodyPr>
          <a:lstStyle/>
          <a:p>
            <a:pPr algn="l">
              <a:lnSpc>
                <a:spcPct val="100000"/>
              </a:lnSpc>
            </a:pPr>
            <a:r>
              <a:rPr sz="1350" b="1" i="0">
                <a:solidFill>
                  <a:srgbClr val="8F3A2F"/>
                </a:solidFill>
                <a:latin typeface="Calibri"/>
              </a:rPr>
              <a:t>Data caveat</a:t>
            </a:r>
          </a:p>
        </p:txBody>
      </p:sp>
      <p:sp>
        <p:nvSpPr>
          <p:cNvPr id="51" name="TextBox 50"/>
          <p:cNvSpPr txBox="1"/>
          <p:nvPr/>
        </p:nvSpPr>
        <p:spPr>
          <a:xfrm>
            <a:off x="8359444" y="4352544"/>
            <a:ext cx="3027578" cy="950976"/>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The Hostile rows in this file are stored with the opposite positive class; they were transposed before computing these metrics. Fix the file.</a:t>
            </a:r>
          </a:p>
        </p:txBody>
      </p:sp>
      <p:sp>
        <p:nvSpPr>
          <p:cNvPr id="52" name="TextBox 51"/>
          <p:cNvSpPr txBox="1"/>
          <p:nvPr/>
        </p:nvSpPr>
        <p:spPr>
          <a:xfrm>
            <a:off x="566928" y="5504688"/>
            <a:ext cx="11057839" cy="329184"/>
          </a:xfrm>
          <a:prstGeom prst="rect">
            <a:avLst/>
          </a:prstGeom>
          <a:noFill/>
        </p:spPr>
        <p:txBody>
          <a:bodyPr wrap="square" lIns="45720" rIns="45720" tIns="18288" bIns="18288" anchor="t">
            <a:spAutoFit/>
          </a:bodyPr>
          <a:lstStyle/>
          <a:p>
            <a:pPr algn="l">
              <a:lnSpc>
                <a:spcPct val="100000"/>
              </a:lnSpc>
            </a:pPr>
            <a:r>
              <a:rPr sz="1250" b="0" i="1">
                <a:solidFill>
                  <a:srgbClr val="7A736C"/>
                </a:solidFill>
                <a:latin typeface="Calibri"/>
              </a:rPr>
              <a:t>Two datasets only — the panel needs the remaining host fractions before this is quotable.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E2A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21792"/>
            <a:ext cx="11057839" cy="640080"/>
          </a:xfrm>
          <a:prstGeom prst="rect">
            <a:avLst/>
          </a:prstGeom>
          <a:noFill/>
        </p:spPr>
        <p:txBody>
          <a:bodyPr wrap="square" lIns="45720" rIns="45720" tIns="18288" bIns="18288" anchor="t">
            <a:spAutoFit/>
          </a:bodyPr>
          <a:lstStyle/>
          <a:p>
            <a:pPr algn="l">
              <a:lnSpc>
                <a:spcPct val="100000"/>
              </a:lnSpc>
            </a:pPr>
            <a:r>
              <a:rPr sz="3400" b="1" i="0">
                <a:solidFill>
                  <a:srgbClr val="FFFFFF"/>
                </a:solidFill>
                <a:latin typeface="Cambria"/>
              </a:rPr>
              <a:t>Where the evidence stands</a:t>
            </a:r>
          </a:p>
        </p:txBody>
      </p:sp>
      <p:sp>
        <p:nvSpPr>
          <p:cNvPr id="4" name="TextBox 3"/>
          <p:cNvSpPr txBox="1"/>
          <p:nvPr/>
        </p:nvSpPr>
        <p:spPr>
          <a:xfrm>
            <a:off x="566928" y="1389888"/>
            <a:ext cx="5254599" cy="292608"/>
          </a:xfrm>
          <a:prstGeom prst="rect">
            <a:avLst/>
          </a:prstGeom>
          <a:noFill/>
        </p:spPr>
        <p:txBody>
          <a:bodyPr wrap="square" lIns="45720" rIns="45720" tIns="18288" bIns="18288" anchor="t">
            <a:spAutoFit/>
          </a:bodyPr>
          <a:lstStyle/>
          <a:p>
            <a:pPr algn="l">
              <a:lnSpc>
                <a:spcPct val="100000"/>
              </a:lnSpc>
            </a:pPr>
            <a:r>
              <a:rPr sz="1600" b="1" i="0">
                <a:solidFill>
                  <a:srgbClr val="A7BEAE"/>
                </a:solidFill>
                <a:latin typeface="Cambria"/>
              </a:rPr>
              <a:t>Established</a:t>
            </a:r>
          </a:p>
        </p:txBody>
      </p:sp>
      <p:sp>
        <p:nvSpPr>
          <p:cNvPr id="5" name="Oval 4"/>
          <p:cNvSpPr/>
          <p:nvPr/>
        </p:nvSpPr>
        <p:spPr>
          <a:xfrm>
            <a:off x="585216" y="1828800"/>
            <a:ext cx="164592" cy="164592"/>
          </a:xfrm>
          <a:prstGeom prst="ellipse">
            <a:avLst/>
          </a:prstGeom>
          <a:solidFill>
            <a:srgbClr val="A7BEA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TextBox 5"/>
          <p:cNvSpPr txBox="1"/>
          <p:nvPr/>
        </p:nvSpPr>
        <p:spPr>
          <a:xfrm>
            <a:off x="859536" y="1773936"/>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Adaptive routing works</a:t>
            </a:r>
          </a:p>
        </p:txBody>
      </p:sp>
      <p:sp>
        <p:nvSpPr>
          <p:cNvPr id="7" name="TextBox 6"/>
          <p:cNvSpPr txBox="1"/>
          <p:nvPr/>
        </p:nvSpPr>
        <p:spPr>
          <a:xfrm>
            <a:off x="859536" y="2048255"/>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Correct backend on 4/4 datasets; the rule reproduces every choice.</a:t>
            </a:r>
          </a:p>
        </p:txBody>
      </p:sp>
      <p:sp>
        <p:nvSpPr>
          <p:cNvPr id="8" name="Oval 7"/>
          <p:cNvSpPr/>
          <p:nvPr/>
        </p:nvSpPr>
        <p:spPr>
          <a:xfrm>
            <a:off x="585216" y="2798064"/>
            <a:ext cx="164592" cy="164592"/>
          </a:xfrm>
          <a:prstGeom prst="ellipse">
            <a:avLst/>
          </a:prstGeom>
          <a:solidFill>
            <a:srgbClr val="A7BEA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xtBox 8"/>
          <p:cNvSpPr txBox="1"/>
          <p:nvPr/>
        </p:nvSpPr>
        <p:spPr>
          <a:xfrm>
            <a:off x="859536" y="2743200"/>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Verification pass works</a:t>
            </a:r>
          </a:p>
        </p:txBody>
      </p:sp>
      <p:sp>
        <p:nvSpPr>
          <p:cNvPr id="10" name="TextBox 9"/>
          <p:cNvSpPr txBox="1"/>
          <p:nvPr/>
        </p:nvSpPr>
        <p:spPr>
          <a:xfrm>
            <a:off x="859536" y="3017520"/>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19.7× less residual host for +6.7 % runtime, consistent across 4 datasets.</a:t>
            </a:r>
          </a:p>
        </p:txBody>
      </p:sp>
      <p:sp>
        <p:nvSpPr>
          <p:cNvPr id="11" name="Oval 10"/>
          <p:cNvSpPr/>
          <p:nvPr/>
        </p:nvSpPr>
        <p:spPr>
          <a:xfrm>
            <a:off x="585216" y="3767328"/>
            <a:ext cx="164592" cy="164592"/>
          </a:xfrm>
          <a:prstGeom prst="ellipse">
            <a:avLst/>
          </a:prstGeom>
          <a:solidFill>
            <a:srgbClr val="A7BEA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xtBox 11"/>
          <p:cNvSpPr txBox="1"/>
          <p:nvPr/>
        </p:nvSpPr>
        <p:spPr>
          <a:xfrm>
            <a:off x="859536" y="3712464"/>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Clearly beats KneadData</a:t>
            </a:r>
          </a:p>
        </p:txBody>
      </p:sp>
      <p:sp>
        <p:nvSpPr>
          <p:cNvPr id="13" name="TextBox 12"/>
          <p:cNvSpPr txBox="1"/>
          <p:nvPr/>
        </p:nvSpPr>
        <p:spPr>
          <a:xfrm>
            <a:off x="859536" y="3986784"/>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5–6× faster with 7–13× less microbial loss, on every panel.</a:t>
            </a:r>
          </a:p>
        </p:txBody>
      </p:sp>
      <p:sp>
        <p:nvSpPr>
          <p:cNvPr id="14" name="Oval 13"/>
          <p:cNvSpPr/>
          <p:nvPr/>
        </p:nvSpPr>
        <p:spPr>
          <a:xfrm>
            <a:off x="585216" y="4736592"/>
            <a:ext cx="164592" cy="164592"/>
          </a:xfrm>
          <a:prstGeom prst="ellipse">
            <a:avLst/>
          </a:prstGeom>
          <a:solidFill>
            <a:srgbClr val="A7BEA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xtBox 14"/>
          <p:cNvSpPr txBox="1"/>
          <p:nvPr/>
        </p:nvSpPr>
        <p:spPr>
          <a:xfrm>
            <a:off x="859536" y="4681728"/>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Backends are swappable</a:t>
            </a:r>
          </a:p>
        </p:txBody>
      </p:sp>
      <p:sp>
        <p:nvSpPr>
          <p:cNvPr id="16" name="TextBox 15"/>
          <p:cNvSpPr txBox="1"/>
          <p:nvPr/>
        </p:nvSpPr>
        <p:spPr>
          <a:xfrm>
            <a:off x="859536" y="4956048"/>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5 backends; sylph cuts peak memory from 15.5 GB to 3.5 GB.</a:t>
            </a:r>
          </a:p>
        </p:txBody>
      </p:sp>
      <p:sp>
        <p:nvSpPr>
          <p:cNvPr id="17" name="TextBox 16"/>
          <p:cNvSpPr txBox="1"/>
          <p:nvPr/>
        </p:nvSpPr>
        <p:spPr>
          <a:xfrm>
            <a:off x="6187287" y="1389888"/>
            <a:ext cx="5254599" cy="292608"/>
          </a:xfrm>
          <a:prstGeom prst="rect">
            <a:avLst/>
          </a:prstGeom>
          <a:noFill/>
        </p:spPr>
        <p:txBody>
          <a:bodyPr wrap="square" lIns="45720" rIns="45720" tIns="18288" bIns="18288" anchor="t">
            <a:spAutoFit/>
          </a:bodyPr>
          <a:lstStyle/>
          <a:p>
            <a:pPr algn="l">
              <a:lnSpc>
                <a:spcPct val="100000"/>
              </a:lnSpc>
            </a:pPr>
            <a:r>
              <a:rPr sz="1600" b="1" i="0">
                <a:solidFill>
                  <a:srgbClr val="E0A99E"/>
                </a:solidFill>
                <a:latin typeface="Cambria"/>
              </a:rPr>
              <a:t>Open</a:t>
            </a:r>
          </a:p>
        </p:txBody>
      </p:sp>
      <p:sp>
        <p:nvSpPr>
          <p:cNvPr id="18" name="Oval 17"/>
          <p:cNvSpPr/>
          <p:nvPr/>
        </p:nvSpPr>
        <p:spPr>
          <a:xfrm>
            <a:off x="6205575" y="1828800"/>
            <a:ext cx="164592" cy="16459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TextBox 18"/>
          <p:cNvSpPr txBox="1"/>
          <p:nvPr/>
        </p:nvSpPr>
        <p:spPr>
          <a:xfrm>
            <a:off x="6479895" y="1773936"/>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Hostile results conflict</a:t>
            </a:r>
          </a:p>
        </p:txBody>
      </p:sp>
      <p:sp>
        <p:nvSpPr>
          <p:cNvPr id="20" name="TextBox 19"/>
          <p:cNvSpPr txBox="1"/>
          <p:nvPr/>
        </p:nvSpPr>
        <p:spPr>
          <a:xfrm>
            <a:off x="6479895" y="2048255"/>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Exp. 3 says we are 4.9× faster at 60M; Exp. 6 says Hostile is faster at 100M.</a:t>
            </a:r>
          </a:p>
        </p:txBody>
      </p:sp>
      <p:sp>
        <p:nvSpPr>
          <p:cNvPr id="21" name="Oval 20"/>
          <p:cNvSpPr/>
          <p:nvPr/>
        </p:nvSpPr>
        <p:spPr>
          <a:xfrm>
            <a:off x="6205575" y="2798064"/>
            <a:ext cx="164592" cy="16459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TextBox 21"/>
          <p:cNvSpPr txBox="1"/>
          <p:nvPr/>
        </p:nvSpPr>
        <p:spPr>
          <a:xfrm>
            <a:off x="6479895" y="2743200"/>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Recheck is not on main</a:t>
            </a:r>
          </a:p>
        </p:txBody>
      </p:sp>
      <p:sp>
        <p:nvSpPr>
          <p:cNvPr id="23" name="TextBox 22"/>
          <p:cNvSpPr txBox="1"/>
          <p:nvPr/>
        </p:nvSpPr>
        <p:spPr>
          <a:xfrm>
            <a:off x="6479895" y="3017520"/>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The default method described here ships only on a branch.</a:t>
            </a:r>
          </a:p>
        </p:txBody>
      </p:sp>
      <p:sp>
        <p:nvSpPr>
          <p:cNvPr id="24" name="Oval 23"/>
          <p:cNvSpPr/>
          <p:nvPr/>
        </p:nvSpPr>
        <p:spPr>
          <a:xfrm>
            <a:off x="6205575" y="3767328"/>
            <a:ext cx="164592" cy="16459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TextBox 24"/>
          <p:cNvSpPr txBox="1"/>
          <p:nvPr/>
        </p:nvSpPr>
        <p:spPr>
          <a:xfrm>
            <a:off x="6479895" y="3712464"/>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Memory is our weak point</a:t>
            </a:r>
          </a:p>
        </p:txBody>
      </p:sp>
      <p:sp>
        <p:nvSpPr>
          <p:cNvPr id="26" name="TextBox 25"/>
          <p:cNvSpPr txBox="1"/>
          <p:nvPr/>
        </p:nvSpPr>
        <p:spPr>
          <a:xfrm>
            <a:off x="6479895" y="3986784"/>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15.5 GB on the Kraken2 path against 1.1 GB for KneadData, 3.6 GB for Hostile.</a:t>
            </a:r>
          </a:p>
        </p:txBody>
      </p:sp>
      <p:sp>
        <p:nvSpPr>
          <p:cNvPr id="27" name="Oval 26"/>
          <p:cNvSpPr/>
          <p:nvPr/>
        </p:nvSpPr>
        <p:spPr>
          <a:xfrm>
            <a:off x="6205575" y="4736592"/>
            <a:ext cx="164592" cy="164592"/>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TextBox 27"/>
          <p:cNvSpPr txBox="1"/>
          <p:nvPr/>
        </p:nvSpPr>
        <p:spPr>
          <a:xfrm>
            <a:off x="6479895" y="4681728"/>
            <a:ext cx="4943703" cy="256032"/>
          </a:xfrm>
          <a:prstGeom prst="rect">
            <a:avLst/>
          </a:prstGeom>
          <a:noFill/>
        </p:spPr>
        <p:txBody>
          <a:bodyPr wrap="square" lIns="45720" rIns="45720" tIns="18288" bIns="18288" anchor="t">
            <a:spAutoFit/>
          </a:bodyPr>
          <a:lstStyle/>
          <a:p>
            <a:pPr algn="l">
              <a:lnSpc>
                <a:spcPct val="100000"/>
              </a:lnSpc>
            </a:pPr>
            <a:r>
              <a:rPr sz="1350" b="1" i="0">
                <a:solidFill>
                  <a:srgbClr val="FFFFFF"/>
                </a:solidFill>
                <a:latin typeface="Calibri"/>
              </a:rPr>
              <a:t>Panel is narrow</a:t>
            </a:r>
          </a:p>
        </p:txBody>
      </p:sp>
      <p:sp>
        <p:nvSpPr>
          <p:cNvPr id="29" name="TextBox 28"/>
          <p:cNvSpPr txBox="1"/>
          <p:nvPr/>
        </p:nvSpPr>
        <p:spPr>
          <a:xfrm>
            <a:off x="6479895" y="4956048"/>
            <a:ext cx="4943703" cy="621792"/>
          </a:xfrm>
          <a:prstGeom prst="rect">
            <a:avLst/>
          </a:prstGeom>
          <a:noFill/>
        </p:spPr>
        <p:txBody>
          <a:bodyPr wrap="square" lIns="45720" rIns="45720" tIns="18288" bIns="18288" anchor="t">
            <a:spAutoFit/>
          </a:bodyPr>
          <a:lstStyle/>
          <a:p>
            <a:pPr algn="l">
              <a:lnSpc>
                <a:spcPct val="110000"/>
              </a:lnSpc>
            </a:pPr>
            <a:r>
              <a:rPr sz="1200" b="0" i="0">
                <a:solidFill>
                  <a:srgbClr val="7A736C"/>
                </a:solidFill>
                <a:latin typeface="Calibri"/>
              </a:rPr>
              <a:t>4–6 datasets, all single-end, nothing in the 10–30 % routing band, no real data.</a:t>
            </a:r>
          </a:p>
        </p:txBody>
      </p:sp>
      <p:sp>
        <p:nvSpPr>
          <p:cNvPr id="30" name="Rectangle 29"/>
          <p:cNvSpPr/>
          <p:nvPr/>
        </p:nvSpPr>
        <p:spPr>
          <a:xfrm>
            <a:off x="566928" y="5742432"/>
            <a:ext cx="41148" cy="566928"/>
          </a:xfrm>
          <a:prstGeom prst="rect">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41247" y="5833872"/>
            <a:ext cx="10692079" cy="384048"/>
          </a:xfrm>
          <a:prstGeom prst="rect">
            <a:avLst/>
          </a:prstGeom>
          <a:noFill/>
        </p:spPr>
        <p:txBody>
          <a:bodyPr wrap="square" lIns="45720" rIns="45720" tIns="18288" bIns="18288" anchor="t">
            <a:spAutoFit/>
          </a:bodyPr>
          <a:lstStyle/>
          <a:p>
            <a:pPr algn="l">
              <a:lnSpc>
                <a:spcPct val="100000"/>
              </a:lnSpc>
            </a:pPr>
            <a:r>
              <a:rPr sz="1500" b="0" i="1">
                <a:solidFill>
                  <a:srgbClr val="E0A99E"/>
                </a:solidFill>
                <a:latin typeface="Calibri"/>
              </a:rPr>
              <a:t>The engineering is done. The comparison against Hostile is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65760"/>
            <a:ext cx="11057839" cy="237744"/>
          </a:xfrm>
          <a:prstGeom prst="rect">
            <a:avLst/>
          </a:prstGeom>
          <a:noFill/>
        </p:spPr>
        <p:txBody>
          <a:bodyPr wrap="square" lIns="45720" rIns="45720" tIns="18288" bIns="18288" anchor="t">
            <a:spAutoFit/>
          </a:bodyPr>
          <a:lstStyle/>
          <a:p>
            <a:pPr algn="l">
              <a:lnSpc>
                <a:spcPct val="100000"/>
              </a:lnSpc>
            </a:pPr>
            <a:r>
              <a:rPr sz="1100" b="1" i="0">
                <a:solidFill>
                  <a:srgbClr val="B85042"/>
                </a:solidFill>
                <a:latin typeface="Calibri"/>
              </a:rPr>
              <a:t>PRIORITY ORDER</a:t>
            </a:r>
          </a:p>
        </p:txBody>
      </p:sp>
      <p:sp>
        <p:nvSpPr>
          <p:cNvPr id="3" name="TextBox 2"/>
          <p:cNvSpPr txBox="1"/>
          <p:nvPr/>
        </p:nvSpPr>
        <p:spPr>
          <a:xfrm>
            <a:off x="566928" y="640080"/>
            <a:ext cx="11057839" cy="603504"/>
          </a:xfrm>
          <a:prstGeom prst="rect">
            <a:avLst/>
          </a:prstGeom>
          <a:noFill/>
        </p:spPr>
        <p:txBody>
          <a:bodyPr wrap="square" lIns="45720" rIns="45720" tIns="18288" bIns="18288" anchor="t">
            <a:spAutoFit/>
          </a:bodyPr>
          <a:lstStyle/>
          <a:p>
            <a:pPr algn="l">
              <a:lnSpc>
                <a:spcPct val="100000"/>
              </a:lnSpc>
            </a:pPr>
            <a:r>
              <a:rPr sz="3200" b="1" i="0">
                <a:solidFill>
                  <a:srgbClr val="2E2A27"/>
                </a:solidFill>
                <a:latin typeface="Cambria"/>
              </a:rPr>
              <a:t>What to run next</a:t>
            </a:r>
          </a:p>
        </p:txBody>
      </p:sp>
      <p:sp>
        <p:nvSpPr>
          <p:cNvPr id="4" name="Oval 3"/>
          <p:cNvSpPr/>
          <p:nvPr/>
        </p:nvSpPr>
        <p:spPr>
          <a:xfrm>
            <a:off x="603504" y="1517904"/>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5" name="TextBox 4"/>
          <p:cNvSpPr txBox="1"/>
          <p:nvPr/>
        </p:nvSpPr>
        <p:spPr>
          <a:xfrm>
            <a:off x="1133856" y="1408176"/>
            <a:ext cx="4206240" cy="530352"/>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alibri"/>
              </a:rPr>
              <a:t>Reconcile the Hostile runtime contradiction</a:t>
            </a:r>
          </a:p>
        </p:txBody>
      </p:sp>
      <p:sp>
        <p:nvSpPr>
          <p:cNvPr id="6" name="TextBox 5"/>
          <p:cNvSpPr txBox="1"/>
          <p:nvPr/>
        </p:nvSpPr>
        <p:spPr>
          <a:xfrm>
            <a:off x="5458968" y="1408176"/>
            <a:ext cx="6074359" cy="658368"/>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Re-run Hostile on 60M and 100M on the same node with the same settings. Until this resolves, no speed claim against Hostile can be quoted.</a:t>
            </a:r>
          </a:p>
        </p:txBody>
      </p:sp>
      <p:sp>
        <p:nvSpPr>
          <p:cNvPr id="7" name="Oval 6"/>
          <p:cNvSpPr/>
          <p:nvPr/>
        </p:nvSpPr>
        <p:spPr>
          <a:xfrm>
            <a:off x="603504" y="2377440"/>
            <a:ext cx="384048" cy="384048"/>
          </a:xfrm>
          <a:prstGeom prst="ellipse">
            <a:avLst/>
          </a:prstGeom>
          <a:solidFill>
            <a:srgbClr val="B8504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8" name="TextBox 7"/>
          <p:cNvSpPr txBox="1"/>
          <p:nvPr/>
        </p:nvSpPr>
        <p:spPr>
          <a:xfrm>
            <a:off x="1133856" y="2267712"/>
            <a:ext cx="4206240" cy="530352"/>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alibri"/>
              </a:rPr>
              <a:t>Run the Kraken2 index ablation</a:t>
            </a:r>
          </a:p>
        </p:txBody>
      </p:sp>
      <p:sp>
        <p:nvSpPr>
          <p:cNvPr id="9" name="TextBox 8"/>
          <p:cNvSpPr txBox="1"/>
          <p:nvPr/>
        </p:nvSpPr>
        <p:spPr>
          <a:xfrm>
            <a:off x="5458968" y="2267712"/>
            <a:ext cx="6074359" cy="658368"/>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Every committed result used kraken16, a mixed database, not the human-only index the manuscript describes. benchmark_k2_index_ablation.sh measures how much of the 1.41% host carry-over is the index rather than the method.</a:t>
            </a:r>
          </a:p>
        </p:txBody>
      </p:sp>
      <p:sp>
        <p:nvSpPr>
          <p:cNvPr id="10" name="Oval 9"/>
          <p:cNvSpPr/>
          <p:nvPr/>
        </p:nvSpPr>
        <p:spPr>
          <a:xfrm>
            <a:off x="603504" y="3236976"/>
            <a:ext cx="384048" cy="384048"/>
          </a:xfrm>
          <a:prstGeom prst="ellipse">
            <a:avLst/>
          </a:prstGeom>
          <a:solidFill>
            <a:srgbClr val="8F3A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1" name="TextBox 10"/>
          <p:cNvSpPr txBox="1"/>
          <p:nvPr/>
        </p:nvSpPr>
        <p:spPr>
          <a:xfrm>
            <a:off x="1133856" y="3127248"/>
            <a:ext cx="4206240" cy="530352"/>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alibri"/>
              </a:rPr>
              <a:t>Fix the transposed class labels</a:t>
            </a:r>
          </a:p>
        </p:txBody>
      </p:sp>
      <p:sp>
        <p:nvSpPr>
          <p:cNvPr id="12" name="TextBox 11"/>
          <p:cNvSpPr txBox="1"/>
          <p:nvPr/>
        </p:nvSpPr>
        <p:spPr>
          <a:xfrm>
            <a:off x="5458968" y="3127248"/>
            <a:ext cx="6074359" cy="658368"/>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results_100M_skipqc_matched/accuracy.csv stores Hostile with the opposite positive class. Anyone reading that file without checking will draw the wrong conclusion.</a:t>
            </a:r>
          </a:p>
        </p:txBody>
      </p:sp>
      <p:sp>
        <p:nvSpPr>
          <p:cNvPr id="13" name="Oval 12"/>
          <p:cNvSpPr/>
          <p:nvPr/>
        </p:nvSpPr>
        <p:spPr>
          <a:xfrm>
            <a:off x="603504" y="4096511"/>
            <a:ext cx="384048" cy="384048"/>
          </a:xfrm>
          <a:prstGeom prst="ellipse">
            <a:avLst/>
          </a:prstGeom>
          <a:solidFill>
            <a:srgbClr val="6E7B8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4" name="TextBox 13"/>
          <p:cNvSpPr txBox="1"/>
          <p:nvPr/>
        </p:nvSpPr>
        <p:spPr>
          <a:xfrm>
            <a:off x="1133856" y="3986783"/>
            <a:ext cx="4206240" cy="530352"/>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alibri"/>
              </a:rPr>
              <a:t>Extend the panel</a:t>
            </a:r>
          </a:p>
        </p:txBody>
      </p:sp>
      <p:sp>
        <p:nvSpPr>
          <p:cNvPr id="15" name="TextBox 14"/>
          <p:cNvSpPr txBox="1"/>
          <p:nvPr/>
        </p:nvSpPr>
        <p:spPr>
          <a:xfrm>
            <a:off x="5458968" y="3986783"/>
            <a:ext cx="6074359" cy="658368"/>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Paired-end libraries, and host fractions between 10 % and 30 % where the routing rule actually decides. Currently nothing is measured in that band.</a:t>
            </a:r>
          </a:p>
        </p:txBody>
      </p:sp>
      <p:sp>
        <p:nvSpPr>
          <p:cNvPr id="16" name="Oval 15"/>
          <p:cNvSpPr/>
          <p:nvPr/>
        </p:nvSpPr>
        <p:spPr>
          <a:xfrm>
            <a:off x="603504" y="4956047"/>
            <a:ext cx="384048" cy="384048"/>
          </a:xfrm>
          <a:prstGeom prst="ellipse">
            <a:avLst/>
          </a:prstGeom>
          <a:solidFill>
            <a:srgbClr val="6E7B8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5</a:t>
            </a:r>
          </a:p>
        </p:txBody>
      </p:sp>
      <p:sp>
        <p:nvSpPr>
          <p:cNvPr id="17" name="TextBox 16"/>
          <p:cNvSpPr txBox="1"/>
          <p:nvPr/>
        </p:nvSpPr>
        <p:spPr>
          <a:xfrm>
            <a:off x="1133856" y="4846319"/>
            <a:ext cx="4206240" cy="530352"/>
          </a:xfrm>
          <a:prstGeom prst="rect">
            <a:avLst/>
          </a:prstGeom>
          <a:noFill/>
        </p:spPr>
        <p:txBody>
          <a:bodyPr wrap="square" lIns="45720" rIns="45720" tIns="18288" bIns="18288" anchor="t">
            <a:spAutoFit/>
          </a:bodyPr>
          <a:lstStyle/>
          <a:p>
            <a:pPr algn="l">
              <a:lnSpc>
                <a:spcPct val="100000"/>
              </a:lnSpc>
            </a:pPr>
            <a:r>
              <a:rPr sz="1400" b="1" i="0">
                <a:solidFill>
                  <a:srgbClr val="2E2A27"/>
                </a:solidFill>
                <a:latin typeface="Calibri"/>
              </a:rPr>
              <a:t>Memory-aware worker cap</a:t>
            </a:r>
          </a:p>
        </p:txBody>
      </p:sp>
      <p:sp>
        <p:nvSpPr>
          <p:cNvPr id="18" name="TextBox 17"/>
          <p:cNvSpPr txBox="1"/>
          <p:nvPr/>
        </p:nvSpPr>
        <p:spPr>
          <a:xfrm>
            <a:off x="5458968" y="4846319"/>
            <a:ext cx="6074359" cy="658368"/>
          </a:xfrm>
          <a:prstGeom prst="rect">
            <a:avLst/>
          </a:prstGeom>
          <a:noFill/>
        </p:spPr>
        <p:txBody>
          <a:bodyPr wrap="square" lIns="45720" rIns="45720" tIns="18288" bIns="18288" anchor="t">
            <a:spAutoFit/>
          </a:bodyPr>
          <a:lstStyle/>
          <a:p>
            <a:pPr algn="l">
              <a:lnSpc>
                <a:spcPct val="110000"/>
              </a:lnSpc>
            </a:pPr>
            <a:r>
              <a:rPr sz="1230" b="0" i="0">
                <a:solidFill>
                  <a:srgbClr val="7A736C"/>
                </a:solidFill>
                <a:latin typeface="Calibri"/>
              </a:rPr>
              <a:t>Worker count comes from CPU count; with a 15.5 GB index, concurrent demand is W × 15.5 GB. Derive it from available memory instead.</a:t>
            </a:r>
          </a:p>
        </p:txBody>
      </p:sp>
      <p:sp>
        <p:nvSpPr>
          <p:cNvPr id="19" name="Rounded Rectangle 18"/>
          <p:cNvSpPr/>
          <p:nvPr/>
        </p:nvSpPr>
        <p:spPr>
          <a:xfrm>
            <a:off x="566928" y="5797296"/>
            <a:ext cx="11057839" cy="658368"/>
          </a:xfrm>
          <a:prstGeom prst="roundRect">
            <a:avLst>
              <a:gd name="adj" fmla="val 6000"/>
            </a:avLst>
          </a:prstGeom>
          <a:solidFill>
            <a:srgbClr val="F2EF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41247" y="5943600"/>
            <a:ext cx="10509199" cy="310896"/>
          </a:xfrm>
          <a:prstGeom prst="rect">
            <a:avLst/>
          </a:prstGeom>
          <a:noFill/>
        </p:spPr>
        <p:txBody>
          <a:bodyPr wrap="square" lIns="45720" rIns="45720" tIns="18288" bIns="18288" anchor="t">
            <a:spAutoFit/>
          </a:bodyPr>
          <a:lstStyle/>
          <a:p>
            <a:pPr algn="l">
              <a:lnSpc>
                <a:spcPct val="100000"/>
              </a:lnSpc>
            </a:pPr>
            <a:r>
              <a:rPr sz="1300" b="1" i="0">
                <a:solidFill>
                  <a:srgbClr val="8F3A2F"/>
                </a:solidFill>
                <a:latin typeface="Calibri"/>
              </a:rPr>
              <a:t>Items 1–3 are blockers for the manuscript. Items 4–5 strengthen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